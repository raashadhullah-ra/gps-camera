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645920"/>
            <a:ext cx="54864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66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GPS Camera — Ads Architecture &amp; AdMob Integration</a:t>
            </a:r>
          </a:p>
          <a:p>
            <a:pPr>
              <a:spcBef>
                <a:spcPts val="1400"/>
              </a:spcBef>
              <a:defRPr sz="1500">
                <a:solidFill>
                  <a:srgbClr val="CBD5E1"/>
                </a:solidFill>
              </a:defRPr>
            </a:pPr>
            <a:r>
              <a:t>Complete Technical Specification: Google AdMob, Custom In-House Campaigns, Database Schema, Mobile APIs &amp; Administrative Controls</a:t>
            </a:r>
          </a:p>
          <a:p>
            <a:pPr>
              <a:spcBef>
                <a:spcPts val="2800"/>
              </a:spcBef>
              <a:defRPr sz="1200">
                <a:solidFill>
                  <a:srgbClr val="2563EB"/>
                </a:solidFill>
              </a:defRPr>
            </a:pPr>
            <a:r>
              <a:t>Technology Stack: Laravel 11 Backend (API &amp; Admin) • Flutter Mobile Client • Google AdMob SDK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5120640"/>
            <a:ext cx="237744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Publisher Setup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Global IDs &amp; UMP Consent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11880" y="5120640"/>
            <a:ext cx="237744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Dual Ad Engine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AdMob + In-House Campaigns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5120640"/>
            <a:ext cx="237744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REST API Contract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Dynamic Screen Placements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41080" y="5120640"/>
            <a:ext cx="237744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Policy &amp; Safety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Anti-Ban &amp; Test Device Mode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0116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Dual Engine Architecture: Google AdMob vs. Custom Campaigns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</a:defRPr>
            </a:pPr>
            <a:r>
              <a:t>How the hybrid ad delivery pipeline operates between Laravel Admin and the Mobile App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228600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1. Google AdMob Network Engine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</a:defRPr>
            </a:pPr>
            <a:r>
              <a:t>Ad Source: Google Mobile Ads Network (Global programmatic advertisers)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</a:defRPr>
            </a:pPr>
            <a:r>
              <a:t>Creatives: Dynamically supplied by Google via Google Mobile Ads SDK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</a:defRPr>
            </a:pPr>
            <a:r>
              <a:t>Laravel's Role: Stores Ad Unit IDs (Banner, Native, Interstitial), remote on/off switches, frequency caps, and targeting rules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</a:defRPr>
            </a:pPr>
            <a:r>
              <a:t>Flutter's Role: Instantiates Google SDK AdWidget/BannerAd with remote IDs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</a:defRPr>
            </a:pPr>
            <a:r>
              <a:t>Monetization: Generates real cash revenue (eCPM / impressions / clicks)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</a:defRPr>
            </a:pPr>
            <a:r>
              <a:t>Best Used For: Free-tier users, gallery feeds, app exit/save interstitials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228600"/>
          <a:lstStyle/>
          <a:p>
            <a:pPr algn="ctr">
              <a:defRPr sz="1500" b="1">
                <a:solidFill>
                  <a:srgbClr val="4F46E5"/>
                </a:solidFill>
              </a:defRPr>
            </a:pPr>
            <a:r>
              <a:t>2. Custom In-House Campaigns Engine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</a:defRPr>
            </a:pPr>
            <a:r>
              <a:t>Ad Source: Your Own Database &amp; Laravel Asset Storage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</a:defRPr>
            </a:pPr>
            <a:r>
              <a:t>Creatives: Uploaded custom graphics (1200x628), custom headlines &amp; CTA buttons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</a:defRPr>
            </a:pPr>
            <a:r>
              <a:t>Laravel's Role: Hosts media files, tracks click conversions, handles deep link routing (`app://subscription/upgrade`)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</a:defRPr>
            </a:pPr>
            <a:r>
              <a:t>Flutter's Role: Renders a native custom Flutter Card widget styled to match the app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</a:defRPr>
            </a:pPr>
            <a:r>
              <a:t>Monetization: Drives in-app subscriptions, GPS feature upsells, and partner deals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</a:defRPr>
            </a:pPr>
            <a:r>
              <a:t>Testing Policy: 100% Safe to click — zero risk of Google Invalid Traffic bans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0116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SETUP &amp;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AdMob Account &amp; App-Level Configuration (Ad Settings)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</a:defRPr>
            </a:pPr>
            <a:r>
              <a:t>Establishing publisher credentials, mobile app IDs, and automated reporting synchronization</a:t>
            </a:r>
          </a:p>
        </p:txBody>
      </p:sp>
      <p:pic>
        <p:nvPicPr>
          <p:cNvPr id="4" name="Picture 3" descr="media_17883317892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76656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680960" y="1463040"/>
            <a:ext cx="3749039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8288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Configuration Components</a:t>
            </a:r>
          </a:p>
          <a:p>
            <a:pPr>
              <a:spcBef>
                <a:spcPts val="800"/>
              </a:spcBef>
              <a:defRPr sz="1050" b="1">
                <a:solidFill>
                  <a:srgbClr val="2563EB"/>
                </a:solidFill>
              </a:defRPr>
            </a:pPr>
            <a:r>
              <a:t>1. Account &amp; Publisher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Publisher ID (ca-pub-XXXXXXXX), currency (INR/USD), and time zone for accurate revenue reporting.</a:t>
            </a:r>
          </a:p>
          <a:p>
            <a:pPr>
              <a:spcBef>
                <a:spcPts val="800"/>
              </a:spcBef>
              <a:defRPr sz="1050" b="1">
                <a:solidFill>
                  <a:srgbClr val="2563EB"/>
                </a:solidFill>
              </a:defRPr>
            </a:pPr>
            <a:r>
              <a:t>2. App Registration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Android Package Name (com.raiyaan.gpscamera) and iOS Bundle ID paired with Google AdMob App IDs.</a:t>
            </a:r>
          </a:p>
          <a:p>
            <a:pPr>
              <a:spcBef>
                <a:spcPts val="800"/>
              </a:spcBef>
              <a:defRPr sz="1050" b="1">
                <a:solidFill>
                  <a:srgbClr val="2563EB"/>
                </a:solidFill>
              </a:defRPr>
            </a:pPr>
            <a:r>
              <a:t>3. Firebase Linkage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Binds Firebase Analytics &amp; Crashlytics to monitor ad-induced crashes and engagement drop-offs.</a:t>
            </a:r>
          </a:p>
          <a:p>
            <a:pPr>
              <a:spcBef>
                <a:spcPts val="800"/>
              </a:spcBef>
              <a:defRPr sz="1050" b="1">
                <a:solidFill>
                  <a:srgbClr val="2563EB"/>
                </a:solidFill>
              </a:defRPr>
            </a:pPr>
            <a:r>
              <a:t>4. Automated Reporting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Syncs revenue, eCPM, fill rates and impressions every 6 hours via Google AdMob Reporting API.</a:t>
            </a:r>
          </a:p>
          <a:p>
            <a:pPr>
              <a:spcBef>
                <a:spcPts val="800"/>
              </a:spcBef>
              <a:defRPr sz="1050" b="1">
                <a:solidFill>
                  <a:srgbClr val="2563EB"/>
                </a:solidFill>
              </a:defRPr>
            </a:pPr>
            <a:r>
              <a:t>5. Consent &amp; Safety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Enforces Google UMP (GDPR) consent, pauses ads during camera capture, and auto-excludes paid users.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0116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OPERATIONS &amp;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Ads Management Dashboard &amp; Performance Analytics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</a:defRPr>
            </a:pPr>
            <a:r>
              <a:t>Unified control room for monitoring live ad units, performance metrics, and deployment status</a:t>
            </a:r>
          </a:p>
        </p:txBody>
      </p:sp>
      <p:pic>
        <p:nvPicPr>
          <p:cNvPr id="4" name="Picture 3" descr="media_17883312409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76656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680960" y="1463040"/>
            <a:ext cx="3749039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8288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Dashboard Capabilities</a:t>
            </a:r>
          </a:p>
          <a:p>
            <a:pPr>
              <a:spcBef>
                <a:spcPts val="800"/>
              </a:spcBef>
              <a:defRPr sz="1050" b="1">
                <a:solidFill>
                  <a:srgbClr val="2563EB"/>
                </a:solidFill>
              </a:defRPr>
            </a:pPr>
            <a:r>
              <a:t>Key KPI Metrics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Estimated Revenue, Impressions (2.48M), Fill Rate (91.8%), CTR (2.7%), and Active Ad counts at a glance.</a:t>
            </a:r>
          </a:p>
          <a:p>
            <a:pPr>
              <a:spcBef>
                <a:spcPts val="800"/>
              </a:spcBef>
              <a:defRPr sz="1050" b="1">
                <a:solidFill>
                  <a:srgbClr val="2563EB"/>
                </a:solidFill>
              </a:defRPr>
            </a:pPr>
            <a:r>
              <a:t>Unified Hybrid List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Displays Google AdMob units and Custom In-House campaigns side-by-side with individual status tags.</a:t>
            </a:r>
          </a:p>
          <a:p>
            <a:pPr>
              <a:spcBef>
                <a:spcPts val="800"/>
              </a:spcBef>
              <a:defRPr sz="1050" b="1">
                <a:solidFill>
                  <a:srgbClr val="2563EB"/>
                </a:solidFill>
              </a:defRPr>
            </a:pPr>
            <a:r>
              <a:t>One-Click Actions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Instantly pause underperforming ads, duplicate campaigns, or copy Ad Unit IDs for testing.</a:t>
            </a:r>
          </a:p>
          <a:p>
            <a:pPr>
              <a:spcBef>
                <a:spcPts val="800"/>
              </a:spcBef>
              <a:defRPr sz="1050" b="1">
                <a:solidFill>
                  <a:srgbClr val="2563EB"/>
                </a:solidFill>
              </a:defRPr>
            </a:pPr>
            <a:r>
              <a:t>Remote Emergency Kill Switch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Disable any ad format or placement across all installed mobile apps in seconds without app store review.</a:t>
            </a:r>
          </a:p>
          <a:p>
            <a:pPr>
              <a:spcBef>
                <a:spcPts val="800"/>
              </a:spcBef>
              <a:defRPr sz="1050" b="1">
                <a:solidFill>
                  <a:srgbClr val="2563EB"/>
                </a:solidFill>
              </a:defRPr>
            </a:pPr>
            <a:r>
              <a:t>Policy Warning Guardrail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Built-in alerts reminding admins to follow Google policies regarding camera capture disruptions.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0116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AD CREATION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Creating an Ad: Google AdMob Source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</a:defRPr>
            </a:pPr>
            <a:r>
              <a:t>Why AdMob ad units require only a fast 2-step setup instead of creative uploads</a:t>
            </a:r>
          </a:p>
        </p:txBody>
      </p:sp>
      <p:pic>
        <p:nvPicPr>
          <p:cNvPr id="4" name="Picture 3" descr="admob_selected_create_ad_178833183137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76656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680960" y="1463040"/>
            <a:ext cx="3749039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8288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AdMob Creation Fields</a:t>
            </a:r>
          </a:p>
          <a:p>
            <a:pPr>
              <a:spcBef>
                <a:spcPts val="800"/>
              </a:spcBef>
              <a:defRPr sz="1050" b="1">
                <a:solidFill>
                  <a:srgbClr val="2563EB"/>
                </a:solidFill>
              </a:defRPr>
            </a:pPr>
            <a:r>
              <a:t>1. Streamlined 2 Steps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No creative upload needed! Step 1 handles Unit IDs &amp; Placement; Step 2 configures Targeting &amp; Frequency.</a:t>
            </a:r>
          </a:p>
          <a:p>
            <a:pPr>
              <a:spcBef>
                <a:spcPts val="800"/>
              </a:spcBef>
              <a:defRPr sz="1050" b="1">
                <a:solidFill>
                  <a:srgbClr val="2563EB"/>
                </a:solidFill>
              </a:defRPr>
            </a:pPr>
            <a:r>
              <a:t>2. Dual Platform IDs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Separate input fields for Android (ca-app-pub-.../...2247) and iOS (ca-app-pub-.../...3986) AdMob units.</a:t>
            </a:r>
          </a:p>
          <a:p>
            <a:pPr>
              <a:spcBef>
                <a:spcPts val="800"/>
              </a:spcBef>
              <a:defRPr sz="1050" b="1">
                <a:solidFill>
                  <a:srgbClr val="2563EB"/>
                </a:solidFill>
              </a:defRPr>
            </a:pPr>
            <a:r>
              <a:t>3. Standard Formats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Select Banner (docked), Native (inline styled), Interstitial (full screen), or Rewarded (incentivized).</a:t>
            </a:r>
          </a:p>
          <a:p>
            <a:pPr>
              <a:spcBef>
                <a:spcPts val="800"/>
              </a:spcBef>
              <a:defRPr sz="1050" b="1">
                <a:solidFill>
                  <a:srgbClr val="2563EB"/>
                </a:solidFill>
              </a:defRPr>
            </a:pPr>
            <a:r>
              <a:t>4. Screen &amp; Placement Binding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Assigns the ad unit to an agreed app screen ('Gallery Screen') and slot position ('Inline Feed').</a:t>
            </a:r>
          </a:p>
          <a:p>
            <a:pPr>
              <a:spcBef>
                <a:spcPts val="800"/>
              </a:spcBef>
              <a:defRPr sz="1050" b="1">
                <a:solidFill>
                  <a:srgbClr val="2563EB"/>
                </a:solidFill>
              </a:defRPr>
            </a:pPr>
            <a:r>
              <a:t>5. Instant Test Mode Switch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Individual test mode toggle safely overrides unit ID with Google's official test ad unit during staging.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0116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IN-HOUSE ADS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Custom Campaigns: Source, Creative &amp; In-App Placement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</a:defRPr>
            </a:pPr>
            <a:r>
              <a:t>Steps 1 &amp; 2 of the 4-step wizard for promoting in-app upgrades and features</a:t>
            </a:r>
          </a:p>
        </p:txBody>
      </p:sp>
      <p:pic>
        <p:nvPicPr>
          <p:cNvPr id="4" name="Picture 3" descr="media_17883311757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212080" cy="2926080"/>
          </a:xfrm>
          <a:prstGeom prst="rect">
            <a:avLst/>
          </a:prstGeom>
        </p:spPr>
      </p:pic>
      <p:pic>
        <p:nvPicPr>
          <p:cNvPr id="5" name="Picture 4" descr="media_17883312002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212080" cy="29260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572000"/>
            <a:ext cx="521208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82880"/>
          <a:lstStyle/>
          <a:p>
            <a:pPr algn="ctr">
              <a:defRPr sz="1150" b="1">
                <a:solidFill>
                  <a:srgbClr val="4F46E5"/>
                </a:solidFill>
              </a:defRPr>
            </a:pPr>
            <a:r>
              <a:t>Step 1: Source &amp; Campaign Objective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</a:defRPr>
            </a:pPr>
            <a:r>
              <a:t>• Set internal Campaign ID (e.g., CUSTOM-PRM-021) and Objective (App Subscription).</a:t>
            </a:r>
            <a:br/>
            <a:r>
              <a:t>• Choose format (Native Card vs Banner vs Interstitial).</a:t>
            </a:r>
            <a:br/>
            <a:r>
              <a:t>• Specify Destination In-App Screen, Deep Link (`app://subscription/upgrade`), and Analytics Tracking Event.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572000"/>
            <a:ext cx="521208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82880"/>
          <a:lstStyle/>
          <a:p>
            <a:pPr algn="ctr">
              <a:defRPr sz="1150" b="1">
                <a:solidFill>
                  <a:srgbClr val="4F46E5"/>
                </a:solidFill>
              </a:defRPr>
            </a:pPr>
            <a:r>
              <a:t>Step 2: Creative Assets &amp; Placement Rules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</a:defRPr>
            </a:pPr>
            <a:r>
              <a:t>• Upload 1200x628 creative image, define Headline ('Enjoy GPS Camera Without Ads').</a:t>
            </a:r>
            <a:br/>
            <a:r>
              <a:t>• Write description and Call to Action ('Upgrade Now').</a:t>
            </a:r>
            <a:br/>
            <a:r>
              <a:t>• Multi-select app placement screens (Gallery Screen, Camera Settings, Photo Preview) with real-time phone preview.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0116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IN-HOUSE ADS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Custom Campaigns: Audience Targeting, Schedule &amp; Review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</a:defRPr>
            </a:pPr>
            <a:r>
              <a:t>Steps 3 &amp; 4 of the 4-step wizard for precision targeting and pre-publish validation</a:t>
            </a:r>
          </a:p>
        </p:txBody>
      </p:sp>
      <p:pic>
        <p:nvPicPr>
          <p:cNvPr id="4" name="Picture 3" descr="media_17883312157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212080" cy="2926080"/>
          </a:xfrm>
          <a:prstGeom prst="rect">
            <a:avLst/>
          </a:prstGeom>
        </p:spPr>
      </p:pic>
      <p:pic>
        <p:nvPicPr>
          <p:cNvPr id="5" name="Picture 4" descr="media_17883311915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212080" cy="29260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572000"/>
            <a:ext cx="521208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82880"/>
          <a:lstStyle/>
          <a:p>
            <a:pPr algn="ctr">
              <a:defRPr sz="1150" b="1">
                <a:solidFill>
                  <a:srgbClr val="4F46E5"/>
                </a:solidFill>
              </a:defRPr>
            </a:pPr>
            <a:r>
              <a:t>Step 3: Audience &amp; Delivery Scheduling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</a:defRPr>
            </a:pPr>
            <a:r>
              <a:t>• Audience Targeting: Target Free Users, filter by Country (India, US, Global).</a:t>
            </a:r>
            <a:br/>
            <a:r>
              <a:t>• Pacing &amp; Caps: Max impressions (500k), frequency cap (3 per user per day).</a:t>
            </a:r>
            <a:br/>
            <a:r>
              <a:t>• Scheduling: Date range (Aug 20 - Aug 31), daily operating hours (9:00 AM - 11:59 PM), and reach estimation calculation.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572000"/>
            <a:ext cx="521208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82880"/>
          <a:lstStyle/>
          <a:p>
            <a:pPr algn="ctr">
              <a:defRPr sz="1150" b="1">
                <a:solidFill>
                  <a:srgbClr val="4F46E5"/>
                </a:solidFill>
              </a:defRPr>
            </a:pPr>
            <a:r>
              <a:t>Step 4: Comprehensive Review &amp; Publishing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</a:defRPr>
            </a:pPr>
            <a:r>
              <a:t>• Automated Validation: Creative pass, placement safe check, audience eligible check, schedule valid.</a:t>
            </a:r>
            <a:br/>
            <a:r>
              <a:t>• Instant Test Ad: Send test push payload to registered developer device before publishing.</a:t>
            </a:r>
            <a:br/>
            <a:r>
              <a:t>• Publish Options: Immediate activation or scheduled activation with admin email notification.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0116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SYSTEM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Placement Architecture: Backend vs. Flutter Responsibilities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</a:defRPr>
            </a:pPr>
            <a:r>
              <a:t>Clarifying the division of responsibility between the Flutter developer and the Laravel Admin Panel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8288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Flutter Developer Role</a:t>
            </a:r>
            <a:br/>
            <a:r>
              <a:t>(App UI Container)</a:t>
            </a:r>
          </a:p>
          <a:p>
            <a:pPr>
              <a:spcBef>
                <a:spcPts val="600"/>
              </a:spcBef>
              <a:defRPr sz="1000" b="1">
                <a:solidFill>
                  <a:srgbClr val="2563EB"/>
                </a:solidFill>
              </a:defRPr>
            </a:pPr>
            <a:r>
              <a:t>Builds UI Slot Widgets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Implements layout containers in code where ads can physically render (e.g. Gallery grid item).</a:t>
            </a:r>
          </a:p>
          <a:p>
            <a:pPr>
              <a:spcBef>
                <a:spcPts val="600"/>
              </a:spcBef>
              <a:defRPr sz="1000" b="1">
                <a:solidFill>
                  <a:srgbClr val="2563EB"/>
                </a:solidFill>
              </a:defRPr>
            </a:pPr>
            <a:r>
              <a:t>Defines Placement Keys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Agrees on strict unique screen keys: `gallery_screen`, `camera_home`, `save_success`.</a:t>
            </a:r>
          </a:p>
          <a:p>
            <a:pPr>
              <a:spcBef>
                <a:spcPts val="600"/>
              </a:spcBef>
              <a:defRPr sz="1000" b="1">
                <a:solidFill>
                  <a:srgbClr val="2563EB"/>
                </a:solidFill>
              </a:defRPr>
            </a:pPr>
            <a:r>
              <a:t>Handles Loading States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Displays shimmer placeholders and gracefully hides container if API returns `show_ad: false`.</a:t>
            </a:r>
          </a:p>
          <a:p>
            <a:pPr>
              <a:spcBef>
                <a:spcPts val="600"/>
              </a:spcBef>
              <a:defRPr sz="1000" b="1">
                <a:solidFill>
                  <a:srgbClr val="2563EB"/>
                </a:solidFill>
              </a:defRPr>
            </a:pPr>
            <a:r>
              <a:t>Executes SDK Commands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Loads AdMob `BannerAd` or renders Custom Native Card with deep-linking.</a:t>
            </a:r>
          </a:p>
          <a:p>
            <a:pPr>
              <a:spcBef>
                <a:spcPts val="600"/>
              </a:spcBef>
              <a:defRPr sz="1000" b="1">
                <a:solidFill>
                  <a:srgbClr val="2563EB"/>
                </a:solidFill>
              </a:defRPr>
            </a:pPr>
            <a:r>
              <a:t>Event Telemetry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Dispatches impression and click events back to Laravel.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82880"/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Predefined Placement Keys</a:t>
            </a:r>
            <a:br/>
            <a:r>
              <a:t>(The Shared Contract)</a:t>
            </a:r>
          </a:p>
          <a:p>
            <a:pPr>
              <a:spcBef>
                <a:spcPts val="600"/>
              </a:spcBef>
              <a:defRPr sz="1000" b="1">
                <a:solidFill>
                  <a:srgbClr val="4F46E5"/>
                </a:solidFill>
              </a:defRPr>
            </a:pPr>
            <a:r>
              <a:t>`gallery_screen`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Position: `inline_feed`</a:t>
            </a:r>
            <a:br/>
            <a:r>
              <a:t>Format: Native Card</a:t>
            </a:r>
            <a:br/>
            <a:r>
              <a:t>Trigger: Scroll past row 2 in photo gallery.</a:t>
            </a:r>
          </a:p>
          <a:p>
            <a:pPr>
              <a:spcBef>
                <a:spcPts val="600"/>
              </a:spcBef>
              <a:defRPr sz="1000" b="1">
                <a:solidFill>
                  <a:srgbClr val="4F46E5"/>
                </a:solidFill>
              </a:defRPr>
            </a:pPr>
            <a:r>
              <a:t>`camera_home`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Position: `bottom_banner`</a:t>
            </a:r>
            <a:br/>
            <a:r>
              <a:t>Format: Banner (320x50 / Adaptive)</a:t>
            </a:r>
            <a:br/>
            <a:r>
              <a:t>Trigger: Docked below controls (paused while shooting).</a:t>
            </a:r>
          </a:p>
          <a:p>
            <a:pPr>
              <a:spcBef>
                <a:spcPts val="600"/>
              </a:spcBef>
              <a:defRPr sz="1000" b="1">
                <a:solidFill>
                  <a:srgbClr val="4F46E5"/>
                </a:solidFill>
              </a:defRPr>
            </a:pPr>
            <a:r>
              <a:t>`save_success`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Position: `interstitial_trigger`</a:t>
            </a:r>
            <a:br/>
            <a:r>
              <a:t>Format: Interstitial</a:t>
            </a:r>
            <a:br/>
            <a:r>
              <a:t>Trigger: After user taps 'Save' (frequency capped).</a:t>
            </a:r>
          </a:p>
          <a:p>
            <a:pPr>
              <a:spcBef>
                <a:spcPts val="600"/>
              </a:spcBef>
              <a:defRPr sz="1000" b="1">
                <a:solidFill>
                  <a:srgbClr val="4F46E5"/>
                </a:solidFill>
              </a:defRPr>
            </a:pPr>
            <a:r>
              <a:t>`unlock_feature`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Position: `modal_dialog`</a:t>
            </a:r>
            <a:br/>
            <a:r>
              <a:t>Format: Rewarded Video</a:t>
            </a:r>
            <a:br/>
            <a:r>
              <a:t>Trigger: User requests free trial of premium filter.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8288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Laravel Admin Panel Role</a:t>
            </a:r>
            <a:br/>
            <a:r>
              <a:t>(Remote Decision Engine)</a:t>
            </a:r>
          </a:p>
          <a:p>
            <a:pPr>
              <a:spcBef>
                <a:spcPts val="600"/>
              </a:spcBef>
              <a:defRPr sz="1000" b="1">
                <a:solidFill>
                  <a:srgbClr val="16A34A"/>
                </a:solidFill>
              </a:defRPr>
            </a:pPr>
            <a:r>
              <a:t>Remote Master Switch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Toggle ads on or off on any screen instantly without releasing a new app store version.</a:t>
            </a:r>
          </a:p>
          <a:p>
            <a:pPr>
              <a:spcBef>
                <a:spcPts val="600"/>
              </a:spcBef>
              <a:defRPr sz="1000" b="1">
                <a:solidFill>
                  <a:srgbClr val="16A34A"/>
                </a:solidFill>
              </a:defRPr>
            </a:pPr>
            <a:r>
              <a:t>Ad Source Selector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Dynamically swap any slot between Google AdMob and Custom In-House promos.</a:t>
            </a:r>
          </a:p>
          <a:p>
            <a:pPr>
              <a:spcBef>
                <a:spcPts val="600"/>
              </a:spcBef>
              <a:defRPr sz="1000" b="1">
                <a:solidFill>
                  <a:srgbClr val="16A34A"/>
                </a:solidFill>
              </a:defRPr>
            </a:pPr>
            <a:r>
              <a:t>Unit ID Management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Swap live AdMob IDs or switch specific devices to Test Unit IDs safely.</a:t>
            </a:r>
          </a:p>
          <a:p>
            <a:pPr>
              <a:spcBef>
                <a:spcPts val="600"/>
              </a:spcBef>
              <a:defRPr sz="1000" b="1">
                <a:solidFill>
                  <a:srgbClr val="16A34A"/>
                </a:solidFill>
              </a:defRPr>
            </a:pPr>
            <a:r>
              <a:t>Targeting Rules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Filter by user subscription tier (free vs paid), country code, and minimum app version.</a:t>
            </a:r>
          </a:p>
          <a:p>
            <a:pPr>
              <a:spcBef>
                <a:spcPts val="600"/>
              </a:spcBef>
              <a:defRPr sz="1000" b="1">
                <a:solidFill>
                  <a:srgbClr val="16A34A"/>
                </a:solidFill>
              </a:defRPr>
            </a:pPr>
            <a:r>
              <a:t>Frequency Control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Cap interstitial frequency to avoid user churn.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0116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DATA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Database Schema &amp; Table Architecture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</a:defRPr>
            </a:pPr>
            <a:r>
              <a:t>Core database tables supporting global AdMob settings, ad units, placements, and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82880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Table 1: `admob_configurations` (Single Global Row)</a:t>
            </a:r>
          </a:p>
          <a:p>
            <a:pPr>
              <a:spcBef>
                <a:spcPts val="300"/>
              </a:spcBef>
              <a:defRPr sz="900">
                <a:solidFill>
                  <a:srgbClr val="334155"/>
                </a:solidFill>
              </a:defRPr>
            </a:pPr>
            <a:r>
              <a:t>• `publisher_id` (VARCHAR: `ca-pub-XXXXXXXXXXXX`)</a:t>
            </a:r>
            <a:br/>
            <a:r>
              <a:t>• `android_app_id` / `ios_app_id` (VARCHAR: `ca-app-pub-XXXX~YYYY`)</a:t>
            </a:r>
            <a:br/>
            <a:r>
              <a:t>• `firebase_project_id` (VARCHAR: `gps-camera-production`)</a:t>
            </a:r>
            <a:br/>
            <a:r>
              <a:t>• `reporting_api_token` (TEXT encrypted)</a:t>
            </a:r>
            <a:br/>
            <a:r>
              <a:t>• `test_mode_enabled` (BOOLEAN: default true)</a:t>
            </a:r>
            <a:br/>
            <a:r>
              <a:t>• `exclude_premium_users` (BOOLEAN: default true)</a:t>
            </a:r>
            <a:br/>
            <a:r>
              <a:t>• `pause_during_camera` (BOOLEAN: default true)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82880"/>
          <a:lstStyle/>
          <a:p>
            <a:pPr algn="ctr">
              <a:defRPr sz="1100" b="1">
                <a:solidFill>
                  <a:srgbClr val="4F46E5"/>
                </a:solidFill>
              </a:defRPr>
            </a:pPr>
            <a:r>
              <a:t>Table 2: `ads` (Hybrid Ad Inventory)</a:t>
            </a:r>
          </a:p>
          <a:p>
            <a:pPr>
              <a:spcBef>
                <a:spcPts val="300"/>
              </a:spcBef>
              <a:defRPr sz="900">
                <a:solidFill>
                  <a:srgbClr val="334155"/>
                </a:solidFill>
              </a:defRPr>
            </a:pPr>
            <a:r>
              <a:t>• `source` (ENUM: 'admob', 'custom')</a:t>
            </a:r>
            <a:br/>
            <a:r>
              <a:t>• `name` (VARCHAR: 'Gallery Screen Native')</a:t>
            </a:r>
            <a:br/>
            <a:r>
              <a:t>• `campaign_id` (VARCHAR unique: 'CUSTOM-PRM-021')</a:t>
            </a:r>
            <a:br/>
            <a:r>
              <a:t>• `format` (ENUM: 'banner', 'native', 'interstitial', 'rewarded')</a:t>
            </a:r>
            <a:br/>
            <a:r>
              <a:t>• `admob_android_unit_id` / `admob_ios_unit_id` (VARCHAR nullable)</a:t>
            </a:r>
            <a:br/>
            <a:r>
              <a:t>• `image_url` / `headline` / `cta_text` / `destination_url` (TEXT nullable)</a:t>
            </a:r>
            <a:br/>
            <a:r>
              <a:t>• `status` (ENUM: 'active', 'paused', 'scheduled', 'draft')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21208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82880"/>
          <a:lstStyle/>
          <a:p>
            <a:pPr algn="ctr">
              <a:defRPr sz="1100" b="1">
                <a:solidFill>
                  <a:srgbClr val="1E293B"/>
                </a:solidFill>
              </a:defRPr>
            </a:pPr>
            <a:r>
              <a:t>Table 3: `ad_placements` (Screen Bindings &amp; Rules)</a:t>
            </a:r>
          </a:p>
          <a:p>
            <a:pPr>
              <a:spcBef>
                <a:spcPts val="300"/>
              </a:spcBef>
              <a:defRPr sz="900">
                <a:solidFill>
                  <a:srgbClr val="334155"/>
                </a:solidFill>
              </a:defRPr>
            </a:pPr>
            <a:r>
              <a:t>• `ad_id` (BIGINT UNSIGNED foreign key -&gt; ads.id)</a:t>
            </a:r>
            <a:br/>
            <a:r>
              <a:t>• `screen_key` (VARCHAR index: 'gallery_screen', 'camera_home')</a:t>
            </a:r>
            <a:br/>
            <a:r>
              <a:t>• `position` (VARCHAR: 'inline_feed', 'bottom_banner')</a:t>
            </a:r>
            <a:br/>
            <a:r>
              <a:t>• `audience_target` (VARCHAR: 'free_users', 'all')</a:t>
            </a:r>
            <a:br/>
            <a:r>
              <a:t>• `frequency_cap` (INT: max impressions per user/day)</a:t>
            </a:r>
            <a:br/>
            <a:r>
              <a:t>• `starts_at` / `ends_at` (TIMESTAMP nullable)</a:t>
            </a:r>
            <a:br/>
            <a:r>
              <a:t>• `is_active` (BOOLEAN: remote on/off toggle)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31920"/>
            <a:ext cx="521208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82880"/>
          <a:lstStyle/>
          <a:p>
            <a:pPr algn="ctr">
              <a:defRPr sz="1100" b="1">
                <a:solidFill>
                  <a:srgbClr val="16A34A"/>
                </a:solidFill>
              </a:defRPr>
            </a:pPr>
            <a:r>
              <a:t>Table 4: `ad_metrics` (Aggregated Telemetry)</a:t>
            </a:r>
          </a:p>
          <a:p>
            <a:pPr>
              <a:spcBef>
                <a:spcPts val="300"/>
              </a:spcBef>
              <a:defRPr sz="900">
                <a:solidFill>
                  <a:srgbClr val="334155"/>
                </a:solidFill>
              </a:defRPr>
            </a:pPr>
            <a:r>
              <a:t>• `ad_id` (BIGINT UNSIGNED foreign key -&gt; ads.id)</a:t>
            </a:r>
            <a:br/>
            <a:r>
              <a:t>• `date` (DATE index)</a:t>
            </a:r>
            <a:br/>
            <a:r>
              <a:t>• `impressions_count` (BIGINT UNSIGNED default 0)</a:t>
            </a:r>
            <a:br/>
            <a:r>
              <a:t>• `clicks_count` (BIGINT UNSIGNED default 0)</a:t>
            </a:r>
            <a:br/>
            <a:r>
              <a:t>• `conversions_count` (BIGINT UNSIGNED default 0)</a:t>
            </a:r>
            <a:br/>
            <a:r>
              <a:t>• `estimated_revenue` (DECIMAL(10,2) default 0.00)</a:t>
            </a:r>
            <a:br/>
            <a:r>
              <a:t>• `source_synced` (ENUM: 'admob_api', 'internal_telemetry')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0116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API SPECIFICATIONS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Mobile REST APIs: Laravel &amp; Flutter Endpoints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</a:defRPr>
            </a:pPr>
            <a:r>
              <a:t>Complete JSON payload contracts for dynamic placement delivery and ad tracking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82880"/>
          <a:lstStyle/>
          <a:p>
            <a:pPr algn="ctr">
              <a:defRPr sz="1250" b="1">
                <a:solidFill>
                  <a:srgbClr val="2563EB"/>
                </a:solidFill>
              </a:defRPr>
            </a:pPr>
            <a:r>
              <a:t>Endpoint 1: Fetch Placement Config</a:t>
            </a:r>
          </a:p>
          <a:p>
            <a:pPr>
              <a:spcBef>
                <a:spcPts val="400"/>
              </a:spcBef>
              <a:defRPr sz="950" b="1">
                <a:solidFill>
                  <a:srgbClr val="1E293B"/>
                </a:solidFill>
              </a:defRPr>
            </a:pPr>
            <a:r>
              <a:t>GET /api/v1/ads/placement/{screen_key}</a:t>
            </a:r>
            <a:br/>
            <a:r>
              <a:t>Headers: Authorization: Bearer &lt;token&gt;, X-Platform: android</a:t>
            </a:r>
          </a:p>
          <a:p>
            <a:pPr>
              <a:spcBef>
                <a:spcPts val="400"/>
              </a:spcBef>
              <a:defRPr sz="850">
                <a:solidFill>
                  <a:srgbClr val="0F172A"/>
                </a:solidFill>
              </a:defRPr>
            </a:pPr>
            <a:r>
              <a:t>// Response (AdMob Source):</a:t>
            </a:r>
            <a:br/>
            <a:r>
              <a:t>{</a:t>
            </a:r>
            <a:br/>
            <a:r>
              <a:t>  "show_ad": true,</a:t>
            </a:r>
            <a:br/>
            <a:r>
              <a:t>  "source": "admob",</a:t>
            </a:r>
            <a:br/>
            <a:r>
              <a:t>  "format": "native",</a:t>
            </a:r>
            <a:br/>
            <a:r>
              <a:t>  "ad_unit_id": "ca-app-pub-394025.../2247690489",</a:t>
            </a:r>
            <a:br/>
            <a:r>
              <a:t>  "is_test_mode": false,</a:t>
            </a:r>
            <a:br/>
            <a:r>
              <a:t>  "rules": {</a:t>
            </a:r>
            <a:br/>
            <a:r>
              <a:t>    "pause_during_capture": true,</a:t>
            </a:r>
            <a:br/>
            <a:r>
              <a:t>    "frequency_cap": 3</a:t>
            </a:r>
            <a:br/>
            <a:r>
              <a:t>  }</a:t>
            </a:r>
            <a:br/>
            <a:r>
              <a:t>}</a:t>
            </a:r>
            <a:br/>
            <a:br/>
            <a:r>
              <a:t>// Response (Custom In-House Source):</a:t>
            </a:r>
            <a:br/>
            <a:r>
              <a:t>{</a:t>
            </a:r>
            <a:br/>
            <a:r>
              <a:t>  "show_ad": true,</a:t>
            </a:r>
            <a:br/>
            <a:r>
              <a:t>  "source": "custom",</a:t>
            </a:r>
            <a:br/>
            <a:r>
              <a:t>  "format": "native",</a:t>
            </a:r>
            <a:br/>
            <a:r>
              <a:t>  "creative": {</a:t>
            </a:r>
            <a:br/>
            <a:r>
              <a:t>    "headline": "Enjoy GPS Camera Without Ads",</a:t>
            </a:r>
            <a:br/>
            <a:r>
              <a:t>    "description": "Upgrade once for ad-free camera.",</a:t>
            </a:r>
            <a:br/>
            <a:r>
              <a:t>    "image_url": "https://api.geocam.com/ads/prm.png",</a:t>
            </a:r>
            <a:br/>
            <a:r>
              <a:t>    "cta_text": "Upgrade Now",</a:t>
            </a:r>
            <a:br/>
            <a:r>
              <a:t>    "deep_link": "app://subscription/upgrade"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82880"/>
          <a:lstStyle/>
          <a:p>
            <a:pPr algn="ctr">
              <a:defRPr sz="1250" b="1">
                <a:solidFill>
                  <a:srgbClr val="4F46E5"/>
                </a:solidFill>
              </a:defRPr>
            </a:pPr>
            <a:r>
              <a:t>Endpoint 2 &amp; 3: Telemetry &amp; Rewarded SSV</a:t>
            </a:r>
          </a:p>
          <a:p>
            <a:pPr>
              <a:spcBef>
                <a:spcPts val="400"/>
              </a:spcBef>
              <a:defRPr sz="950" b="1">
                <a:solidFill>
                  <a:srgbClr val="1E293B"/>
                </a:solidFill>
              </a:defRPr>
            </a:pPr>
            <a:r>
              <a:t>POST /api/v1/ads/{id}/impression &amp; click</a:t>
            </a:r>
            <a:br/>
            <a:r>
              <a:t>Tracks delivery metrics for custom campaigns.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// AdMob Rewarded Video SSV Callback:</a:t>
            </a:r>
            <a:br/>
            <a:r>
              <a:t>GET /api/v1/admob/reward-callback</a:t>
            </a:r>
            <a:br/>
            <a:r>
              <a:t>?ad_network=545021321</a:t>
            </a:r>
            <a:br/>
            <a:r>
              <a:t>&amp;ad_unit=ca-app-pub-...</a:t>
            </a:r>
            <a:br/>
            <a:r>
              <a:t>&amp;reward_amount=1</a:t>
            </a:r>
            <a:br/>
            <a:r>
              <a:t>&amp;reward_item=gps_filter_trial</a:t>
            </a:r>
            <a:br/>
            <a:r>
              <a:t>&amp;user_id=usr_892019</a:t>
            </a:r>
            <a:br/>
            <a:r>
              <a:t>&amp;signature=MEQCID6Kx...</a:t>
            </a:r>
            <a:br/>
            <a:br/>
            <a:r>
              <a:t>Security Note on SSV:</a:t>
            </a:r>
            <a:br/>
            <a:r>
              <a:t>When a user finishes watching a Rewarded Ad, Google's servers make an HTTP GET callback to Laravel.</a:t>
            </a:r>
            <a:br/>
            <a:r>
              <a:t>Laravel cryptographically verifies Google's ECDSA public key signature before crediting rewards to the user's database record. This prevents client-side hack attempts completely.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0116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COMPLIANCE &amp; PROTECTION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AdMob Safety, Test Devices &amp; Anti-Ban Policies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</a:defRPr>
            </a:pPr>
            <a:r>
              <a:t>Strict Google guidelines to prevent Invalid Traffic (IVT) penalties and account suspension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82880"/>
          <a:lstStyle/>
          <a:p>
            <a:pPr algn="ctr">
              <a:defRPr sz="1300" b="1">
                <a:solidFill>
                  <a:srgbClr val="16A34A"/>
                </a:solidFill>
              </a:defRPr>
            </a:pPr>
            <a:r>
              <a:t>Official Google Test Unit IDs</a:t>
            </a:r>
          </a:p>
          <a:p>
            <a:pPr>
              <a:spcBef>
                <a:spcPts val="300"/>
              </a:spcBef>
              <a:defRPr sz="950" b="1">
                <a:solidFill>
                  <a:srgbClr val="1E293B"/>
                </a:solidFill>
              </a:defRPr>
            </a:pPr>
            <a:r>
              <a:t>Banner (Android):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ca-app-pub-3940256099942544/6300978111</a:t>
            </a:r>
          </a:p>
          <a:p>
            <a:pPr>
              <a:spcBef>
                <a:spcPts val="300"/>
              </a:spcBef>
              <a:defRPr sz="950" b="1">
                <a:solidFill>
                  <a:srgbClr val="1E293B"/>
                </a:solidFill>
              </a:defRPr>
            </a:pPr>
            <a:r>
              <a:t>Banner (iOS):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ca-app-pub-3940256099942544/2934735716</a:t>
            </a:r>
          </a:p>
          <a:p>
            <a:pPr>
              <a:spcBef>
                <a:spcPts val="300"/>
              </a:spcBef>
              <a:defRPr sz="950" b="1">
                <a:solidFill>
                  <a:srgbClr val="1E293B"/>
                </a:solidFill>
              </a:defRPr>
            </a:pPr>
            <a:r>
              <a:t>Interstitial (Android):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ca-app-pub-3940256099942544/1033173712</a:t>
            </a:r>
          </a:p>
          <a:p>
            <a:pPr>
              <a:spcBef>
                <a:spcPts val="300"/>
              </a:spcBef>
              <a:defRPr sz="950" b="1">
                <a:solidFill>
                  <a:srgbClr val="1E293B"/>
                </a:solidFill>
              </a:defRPr>
            </a:pPr>
            <a:r>
              <a:t>Interstitial (iOS):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ca-app-pub-3940256099942544/4411468910</a:t>
            </a:r>
          </a:p>
          <a:p>
            <a:pPr>
              <a:spcBef>
                <a:spcPts val="300"/>
              </a:spcBef>
              <a:defRPr sz="950" b="1">
                <a:solidFill>
                  <a:srgbClr val="1E293B"/>
                </a:solidFill>
              </a:defRPr>
            </a:pPr>
            <a:r>
              <a:t>Rewarded (Android):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ca-app-pub-3940256099942544/5224354917</a:t>
            </a:r>
          </a:p>
          <a:p>
            <a:pPr>
              <a:spcBef>
                <a:spcPts val="300"/>
              </a:spcBef>
              <a:defRPr sz="950" b="1">
                <a:solidFill>
                  <a:srgbClr val="1E293B"/>
                </a:solidFill>
              </a:defRPr>
            </a:pPr>
            <a:r>
              <a:t>Rewarded (iOS):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ca-app-pub-3940256099942544/1712485313</a:t>
            </a:r>
          </a:p>
          <a:p>
            <a:pPr>
              <a:spcBef>
                <a:spcPts val="300"/>
              </a:spcBef>
              <a:defRPr sz="950" b="1">
                <a:solidFill>
                  <a:srgbClr val="1E293B"/>
                </a:solidFill>
              </a:defRPr>
            </a:pPr>
            <a:r>
              <a:t>Native Advanced (Android):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ca-app-pub-3940256099942544/2247690489</a:t>
            </a:r>
          </a:p>
          <a:p>
            <a:pPr>
              <a:spcBef>
                <a:spcPts val="300"/>
              </a:spcBef>
              <a:defRPr sz="950" b="1">
                <a:solidFill>
                  <a:srgbClr val="1E293B"/>
                </a:solidFill>
              </a:defRPr>
            </a:pPr>
            <a:r>
              <a:t>Native Advanced (iOS):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ca-app-pub-3940256099942544/3986624511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82880"/>
          <a:lstStyle/>
          <a:p>
            <a:pPr algn="ctr">
              <a:defRPr sz="1300" b="1">
                <a:solidFill>
                  <a:srgbClr val="D97706"/>
                </a:solidFill>
              </a:defRPr>
            </a:pPr>
            <a:r>
              <a:t>Critical Policy Rules (Must Follow!)</a:t>
            </a:r>
          </a:p>
          <a:p>
            <a:pPr>
              <a:spcBef>
                <a:spcPts val="500"/>
              </a:spcBef>
              <a:defRPr sz="1000" b="1">
                <a:solidFill>
                  <a:srgbClr val="0F172A"/>
                </a:solidFill>
              </a:defRPr>
            </a:pPr>
            <a:r>
              <a:t>NEVER Click Your Own Live Ads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Clicking real ads from company WiFi or team phones triggers Google's Invalid Traffic (IVT) system, causing account suspension and forfeit of all earnings.</a:t>
            </a:r>
          </a:p>
          <a:p>
            <a:pPr>
              <a:spcBef>
                <a:spcPts val="500"/>
              </a:spcBef>
              <a:defRPr sz="1000" b="1">
                <a:solidFill>
                  <a:srgbClr val="0F172A"/>
                </a:solidFill>
              </a:defRPr>
            </a:pPr>
            <a:r>
              <a:t>Register Test Devices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Add team phones' Advertising IDs in AdMob Console and in Flutter's `RequestConfiguration(testDeviceIds: [...])`.</a:t>
            </a:r>
          </a:p>
          <a:p>
            <a:pPr>
              <a:spcBef>
                <a:spcPts val="500"/>
              </a:spcBef>
              <a:defRPr sz="1000" b="1">
                <a:solidFill>
                  <a:srgbClr val="0F172A"/>
                </a:solidFill>
              </a:defRPr>
            </a:pPr>
            <a:r>
              <a:t>No Disruption on Camera Flows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AdMob policy forbids intrusive popups that block camera viewfinders or shutter buttons while capturing pictures.</a:t>
            </a:r>
          </a:p>
          <a:p>
            <a:pPr>
              <a:spcBef>
                <a:spcPts val="500"/>
              </a:spcBef>
              <a:defRPr sz="1000" b="1">
                <a:solidFill>
                  <a:srgbClr val="0F172A"/>
                </a:solidFill>
              </a:defRPr>
            </a:pPr>
            <a:r>
              <a:t>Transparent 'Ad' / 'Sponsored' Badges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All Native Ad layouts in Flutter must display an obvious 'Ad' or 'Sponsored' badge to avoid misleading accidental clicks.</a:t>
            </a:r>
          </a:p>
          <a:p>
            <a:pPr>
              <a:spcBef>
                <a:spcPts val="500"/>
              </a:spcBef>
              <a:defRPr sz="1000" b="1">
                <a:solidFill>
                  <a:srgbClr val="0F172A"/>
                </a:solidFill>
              </a:defRPr>
            </a:pPr>
            <a:r>
              <a:t>Enforce UMP Consent (GDPR/ePrivacy)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Show Google User Messaging Platform consent form in the EU prior to requesting personalized ad bids.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0116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EXECUTION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Step-by-Step Implementation Roadmap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</a:defRPr>
            </a:pPr>
            <a:r>
              <a:t>Structured sequence to roll out the Ads Management architecture in Laravel &amp; Flutter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6032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82880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STEP 01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Phase 1: Laravel Backend</a:t>
            </a:r>
          </a:p>
          <a:p>
            <a:pPr>
              <a:spcBef>
                <a:spcPts val="1200"/>
              </a:spcBef>
              <a:defRPr sz="1000">
                <a:solidFill>
                  <a:srgbClr val="334155"/>
                </a:solidFill>
              </a:defRPr>
            </a:pPr>
            <a:r>
              <a:t>Create migrations (`admob_configurations`, `ads`, `ad_placements`), seed default screens, and implement repository models.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463040"/>
            <a:ext cx="256032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82880"/>
          <a:lstStyle/>
          <a:p>
            <a:pPr algn="ctr">
              <a:defRPr sz="1200" b="1">
                <a:solidFill>
                  <a:srgbClr val="4F46E5"/>
                </a:solidFill>
              </a:defRPr>
            </a:pPr>
            <a:r>
              <a:t>STEP 02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Phase 2: Admin Panel UI</a:t>
            </a:r>
          </a:p>
          <a:p>
            <a:pPr>
              <a:spcBef>
                <a:spcPts val="1200"/>
              </a:spcBef>
              <a:defRPr sz="1000">
                <a:solidFill>
                  <a:srgbClr val="334155"/>
                </a:solidFill>
              </a:defRPr>
            </a:pPr>
            <a:r>
              <a:t>Build Ads Management views: Dashboard table, Ad Settings modal, and the 2-step / 4-step ad creation wizard.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256032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82880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STEP 03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Phase 3: Mobile REST APIs</a:t>
            </a:r>
          </a:p>
          <a:p>
            <a:pPr>
              <a:spcBef>
                <a:spcPts val="1200"/>
              </a:spcBef>
              <a:defRPr sz="1000">
                <a:solidFill>
                  <a:srgbClr val="334155"/>
                </a:solidFill>
              </a:defRPr>
            </a:pPr>
            <a:r>
              <a:t>Expose `/api/v1/ads/placement/{screen}` with test-mode detection, frequency capping, and telemetry webhooks.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463040"/>
            <a:ext cx="256032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82880"/>
          <a:lstStyle/>
          <a:p>
            <a:pPr algn="ctr">
              <a:defRPr sz="1200" b="1">
                <a:solidFill>
                  <a:srgbClr val="16A34A"/>
                </a:solidFill>
              </a:defRPr>
            </a:pPr>
            <a:r>
              <a:t>STEP 04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Phase 4: Flutter Integration</a:t>
            </a:r>
          </a:p>
          <a:p>
            <a:pPr>
              <a:spcBef>
                <a:spcPts val="1200"/>
              </a:spcBef>
              <a:defRPr sz="1000">
                <a:solidFill>
                  <a:srgbClr val="334155"/>
                </a:solidFill>
              </a:defRPr>
            </a:pPr>
            <a:r>
              <a:t>Install `google_mobile_ads` package, register test device IDs, and wrap screens in dynamic AdSlot widgets.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