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463040"/>
            <a:ext cx="9448495" cy="3840480"/>
          </a:xfrm>
          <a:prstGeom prst="rect">
            <a:avLst/>
          </a:prstGeom>
          <a:noFill/>
        </p:spPr>
        <p:txBody>
          <a:bodyPr wrap="square">
            <a:spAutoFit/>
          </a:bodyPr>
          <a:lstStyle/>
          <a:p>
            <a:pPr>
              <a:spcAft>
                <a:spcPts val="1000"/>
              </a:spcAft>
              <a:defRPr sz="1400" b="1">
                <a:solidFill>
                  <a:srgbClr val="38BDF8"/>
                </a:solidFill>
                <a:latin typeface="Segoe UI"/>
              </a:defRPr>
            </a:pPr>
            <a:r>
              <a:t>GEOCAM ENTERPRISE PLATFORM</a:t>
            </a:r>
          </a:p>
          <a:p>
            <a:pPr>
              <a:spcAft>
                <a:spcPts val="1200"/>
              </a:spcAft>
              <a:defRPr sz="3200" b="1">
                <a:solidFill>
                  <a:srgbClr val="F1F5F9"/>
                </a:solidFill>
                <a:latin typeface="Segoe UI"/>
              </a:defRPr>
            </a:pPr>
            <a:r>
              <a:t>Database Schema &amp; Table Architecture</a:t>
            </a:r>
          </a:p>
          <a:p>
            <a:pPr>
              <a:spcAft>
                <a:spcPts val="2800"/>
              </a:spcAft>
              <a:defRPr sz="1300">
                <a:solidFill>
                  <a:srgbClr val="94A3B8"/>
                </a:solidFill>
                <a:latin typeface="Segoe UI"/>
              </a:defRPr>
            </a:pPr>
            <a:r>
              <a:t>Comprehensive Data Dictionary, Entity Specifications, Functional Rationale &amp; Field Catalog for All Custom Application Tables</a:t>
            </a:r>
          </a:p>
        </p:txBody>
      </p:sp>
      <p:sp>
        <p:nvSpPr>
          <p:cNvPr id="5" name="Rounded Rectangle 4"/>
          <p:cNvSpPr/>
          <p:nvPr/>
        </p:nvSpPr>
        <p:spPr>
          <a:xfrm>
            <a:off x="1371600" y="4206240"/>
            <a:ext cx="2194560" cy="10972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37160" tIns="182880"/>
          <a:lstStyle/>
          <a:p>
            <a:pPr algn="ctr">
              <a:defRPr sz="1200" b="1">
                <a:solidFill>
                  <a:srgbClr val="F1F5F9"/>
                </a:solidFill>
                <a:latin typeface="Segoe UI"/>
              </a:defRPr>
            </a:pPr>
            <a:r>
              <a:t>8 Custom Tables</a:t>
            </a:r>
          </a:p>
          <a:p>
            <a:pPr>
              <a:defRPr sz="950">
                <a:solidFill>
                  <a:srgbClr val="94A3B8"/>
                </a:solidFill>
                <a:latin typeface="Segoe UI"/>
              </a:defRPr>
            </a:pPr>
            <a:r>
              <a:t>Full Schema Catalog</a:t>
            </a:r>
          </a:p>
        </p:txBody>
      </p:sp>
      <p:sp>
        <p:nvSpPr>
          <p:cNvPr id="6" name="Rounded Rectangle 5"/>
          <p:cNvSpPr/>
          <p:nvPr/>
        </p:nvSpPr>
        <p:spPr>
          <a:xfrm>
            <a:off x="3749039" y="4206240"/>
            <a:ext cx="2194560" cy="10972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37160" tIns="182880"/>
          <a:lstStyle/>
          <a:p>
            <a:pPr algn="ctr">
              <a:defRPr sz="1200" b="1">
                <a:solidFill>
                  <a:srgbClr val="F1F5F9"/>
                </a:solidFill>
                <a:latin typeface="Segoe UI"/>
              </a:defRPr>
            </a:pPr>
            <a:r>
              <a:t>Mobile Telemetry</a:t>
            </a:r>
          </a:p>
          <a:p>
            <a:pPr>
              <a:defRPr sz="950">
                <a:solidFill>
                  <a:srgbClr val="94A3B8"/>
                </a:solidFill>
                <a:latin typeface="Segoe UI"/>
              </a:defRPr>
            </a:pPr>
            <a:r>
              <a:t>GPS, Hardware &amp; Logs</a:t>
            </a:r>
          </a:p>
        </p:txBody>
      </p:sp>
      <p:sp>
        <p:nvSpPr>
          <p:cNvPr id="7" name="Rounded Rectangle 6"/>
          <p:cNvSpPr/>
          <p:nvPr/>
        </p:nvSpPr>
        <p:spPr>
          <a:xfrm>
            <a:off x="6126480" y="4206240"/>
            <a:ext cx="2194560" cy="10972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37160" tIns="182880"/>
          <a:lstStyle/>
          <a:p>
            <a:pPr algn="ctr">
              <a:defRPr sz="1200" b="1">
                <a:solidFill>
                  <a:srgbClr val="F1F5F9"/>
                </a:solidFill>
                <a:latin typeface="Segoe UI"/>
              </a:defRPr>
            </a:pPr>
            <a:r>
              <a:t>Audience &amp; Push</a:t>
            </a:r>
          </a:p>
          <a:p>
            <a:pPr>
              <a:defRPr sz="950">
                <a:solidFill>
                  <a:srgbClr val="94A3B8"/>
                </a:solidFill>
                <a:latin typeface="Segoe UI"/>
              </a:defRPr>
            </a:pPr>
            <a:r>
              <a:t>Rule Engine &amp; FCM Engine</a:t>
            </a:r>
          </a:p>
        </p:txBody>
      </p:sp>
      <p:sp>
        <p:nvSpPr>
          <p:cNvPr id="8" name="Rounded Rectangle 7"/>
          <p:cNvSpPr/>
          <p:nvPr/>
        </p:nvSpPr>
        <p:spPr>
          <a:xfrm>
            <a:off x="8503920" y="4206240"/>
            <a:ext cx="2194560" cy="109728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137160" tIns="182880"/>
          <a:lstStyle/>
          <a:p>
            <a:pPr algn="ctr">
              <a:defRPr sz="1200" b="1">
                <a:solidFill>
                  <a:srgbClr val="F1F5F9"/>
                </a:solidFill>
                <a:latin typeface="Segoe UI"/>
              </a:defRPr>
            </a:pPr>
            <a:r>
              <a:t>Admin &amp; Security</a:t>
            </a:r>
          </a:p>
          <a:p>
            <a:pPr>
              <a:defRPr sz="950">
                <a:solidFill>
                  <a:srgbClr val="94A3B8"/>
                </a:solidFill>
                <a:latin typeface="Segoe UI"/>
              </a:defRPr>
            </a:pPr>
            <a:r>
              <a:t>RBAC, 2FA &amp; Audit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OVERVIEW &amp; ENTITY RELATIONSHIPS</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System Architecture &amp; Custom Tables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GeoCam operates an end-to-end ecosystem bridging mobile camera clients (telemetry, permissions, GPS stamps) with a powerful administration portal for geo-analytics, rule-based audience segmentation, and targeted Firebase push campaigns.</a:t>
            </a:r>
          </a:p>
        </p:txBody>
      </p:sp>
      <p:graphicFrame>
        <p:nvGraphicFramePr>
          <p:cNvPr id="8" name="Table 7"/>
          <p:cNvGraphicFramePr>
            <a:graphicFrameLocks noGrp="1"/>
          </p:cNvGraphicFramePr>
          <p:nvPr/>
        </p:nvGraphicFramePr>
        <p:xfrm>
          <a:off x="548640" y="1737360"/>
          <a:ext cx="11094415" cy="2368296"/>
        </p:xfrm>
        <a:graphic>
          <a:graphicData uri="http://schemas.openxmlformats.org/drawingml/2006/table">
            <a:tbl>
              <a:tblPr firstRow="1" bandRow="1">
                <a:tableStyleId>{5C22544A-7EE6-4342-B048-85BDC9FD1C3A}</a:tableStyleId>
              </a:tblPr>
              <a:tblGrid>
                <a:gridCol w="365760"/>
                <a:gridCol w="1645920"/>
                <a:gridCol w="1645920"/>
                <a:gridCol w="5212080"/>
                <a:gridCol w="2224735"/>
              </a:tblGrid>
              <a:tr h="320040">
                <a:tc>
                  <a:txBody>
                    <a:bodyPr/>
                    <a:lstStyle/>
                    <a:p>
                      <a:pPr algn="l">
                        <a:defRPr sz="1000" b="1">
                          <a:solidFill>
                            <a:srgbClr val="F1F5F9"/>
                          </a:solidFill>
                          <a:latin typeface="Segoe UI"/>
                        </a:defRPr>
                      </a:pPr>
                      <a:r>
                        <a:t>#</a:t>
                      </a:r>
                    </a:p>
                  </a:txBody>
                  <a:tcPr anchor="ctr">
                    <a:solidFill>
                      <a:srgbClr val="1E293B"/>
                    </a:solidFill>
                  </a:tcPr>
                </a:tc>
                <a:tc>
                  <a:txBody>
                    <a:bodyPr/>
                    <a:lstStyle/>
                    <a:p>
                      <a:pPr algn="l">
                        <a:defRPr sz="1000" b="1">
                          <a:solidFill>
                            <a:srgbClr val="F1F5F9"/>
                          </a:solidFill>
                          <a:latin typeface="Segoe UI"/>
                        </a:defRPr>
                      </a:pPr>
                      <a:r>
                        <a:t>Table Name</a:t>
                      </a:r>
                    </a:p>
                  </a:txBody>
                  <a:tcPr anchor="ctr">
                    <a:solidFill>
                      <a:srgbClr val="1E293B"/>
                    </a:solidFill>
                  </a:tcPr>
                </a:tc>
                <a:tc>
                  <a:txBody>
                    <a:bodyPr/>
                    <a:lstStyle/>
                    <a:p>
                      <a:pPr algn="l">
                        <a:defRPr sz="1000" b="1">
                          <a:solidFill>
                            <a:srgbClr val="F1F5F9"/>
                          </a:solidFill>
                          <a:latin typeface="Segoe UI"/>
                        </a:defRPr>
                      </a:pPr>
                      <a:r>
                        <a:t>Domain Module</a:t>
                      </a:r>
                    </a:p>
                  </a:txBody>
                  <a:tcPr anchor="ctr">
                    <a:solidFill>
                      <a:srgbClr val="1E293B"/>
                    </a:solidFill>
                  </a:tcPr>
                </a:tc>
                <a:tc>
                  <a:txBody>
                    <a:bodyPr/>
                    <a:lstStyle/>
                    <a:p>
                      <a:pPr algn="l">
                        <a:defRPr sz="1000" b="1">
                          <a:solidFill>
                            <a:srgbClr val="F1F5F9"/>
                          </a:solidFill>
                          <a:latin typeface="Segoe UI"/>
                        </a:defRPr>
                      </a:pPr>
                      <a:r>
                        <a:t>Functional Purpose (Why &amp; What it does)</a:t>
                      </a:r>
                    </a:p>
                  </a:txBody>
                  <a:tcPr anchor="ctr">
                    <a:solidFill>
                      <a:srgbClr val="1E293B"/>
                    </a:solidFill>
                  </a:tcPr>
                </a:tc>
                <a:tc>
                  <a:txBody>
                    <a:bodyPr/>
                    <a:lstStyle/>
                    <a:p>
                      <a:pPr algn="l">
                        <a:defRPr sz="1000" b="1">
                          <a:solidFill>
                            <a:srgbClr val="F1F5F9"/>
                          </a:solidFill>
                          <a:latin typeface="Segoe UI"/>
                        </a:defRPr>
                      </a:pPr>
                      <a:r>
                        <a:t>Relational Role</a:t>
                      </a:r>
                    </a:p>
                  </a:txBody>
                  <a:tcPr anchor="ctr">
                    <a:solidFill>
                      <a:srgbClr val="1E293B"/>
                    </a:solidFill>
                  </a:tcPr>
                </a:tc>
              </a:tr>
              <a:tr h="256032">
                <a:tc>
                  <a:txBody>
                    <a:bodyPr/>
                    <a:lstStyle/>
                    <a:p>
                      <a:pPr algn="l">
                        <a:defRPr sz="900" b="1">
                          <a:solidFill>
                            <a:srgbClr val="1E3A8A"/>
                          </a:solidFill>
                          <a:latin typeface="Segoe UI"/>
                        </a:defRPr>
                      </a:pPr>
                      <a:r>
                        <a:t>1</a:t>
                      </a:r>
                    </a:p>
                  </a:txBody>
                  <a:tcPr anchor="ctr">
                    <a:solidFill>
                      <a:srgbClr val="FFFFFF"/>
                    </a:solidFill>
                  </a:tcPr>
                </a:tc>
                <a:tc>
                  <a:txBody>
                    <a:bodyPr/>
                    <a:lstStyle/>
                    <a:p>
                      <a:pPr algn="l">
                        <a:defRPr sz="900">
                          <a:solidFill>
                            <a:srgbClr val="4F46E5"/>
                          </a:solidFill>
                          <a:latin typeface="Segoe UI"/>
                        </a:defRPr>
                      </a:pPr>
                      <a:r>
                        <a:t>users</a:t>
                      </a:r>
                    </a:p>
                  </a:txBody>
                  <a:tcPr anchor="ctr">
                    <a:solidFill>
                      <a:srgbClr val="FFFFFF"/>
                    </a:solidFill>
                  </a:tcPr>
                </a:tc>
                <a:tc>
                  <a:txBody>
                    <a:bodyPr/>
                    <a:lstStyle/>
                    <a:p>
                      <a:pPr algn="l">
                        <a:defRPr sz="900">
                          <a:solidFill>
                            <a:srgbClr val="64748B"/>
                          </a:solidFill>
                          <a:latin typeface="Segoe UI"/>
                        </a:defRPr>
                      </a:pPr>
                      <a:r>
                        <a:t>Admin / User Management</a:t>
                      </a:r>
                    </a:p>
                  </a:txBody>
                  <a:tcPr anchor="ctr">
                    <a:solidFill>
                      <a:srgbClr val="FFFFFF"/>
                    </a:solidFill>
                  </a:tcPr>
                </a:tc>
                <a:tc>
                  <a:txBody>
                    <a:bodyPr/>
                    <a:lstStyle/>
                    <a:p>
                      <a:pPr algn="l">
                        <a:defRPr sz="900">
                          <a:solidFill>
                            <a:srgbClr val="0F172A"/>
                          </a:solidFill>
                          <a:latin typeface="Segoe UI"/>
                        </a:defRPr>
                      </a:pPr>
                      <a:r>
                        <a:t>Authentication, administrative RBAC, profile, 2FA status, and session tracking.</a:t>
                      </a:r>
                    </a:p>
                  </a:txBody>
                  <a:tcPr anchor="ctr">
                    <a:solidFill>
                      <a:srgbClr val="FFFFFF"/>
                    </a:solidFill>
                  </a:tcPr>
                </a:tc>
                <a:tc>
                  <a:txBody>
                    <a:bodyPr/>
                    <a:lstStyle/>
                    <a:p>
                      <a:pPr algn="l">
                        <a:defRPr sz="900">
                          <a:solidFill>
                            <a:srgbClr val="0F172A"/>
                          </a:solidFill>
                          <a:latin typeface="Segoe UI"/>
                        </a:defRPr>
                      </a:pPr>
                      <a:r>
                        <a:t>Independent (Referenced by Segments &amp; Campaigns)</a:t>
                      </a:r>
                    </a:p>
                  </a:txBody>
                  <a:tcPr anchor="ctr">
                    <a:solidFill>
                      <a:srgbClr val="FFFFFF"/>
                    </a:solidFill>
                  </a:tcPr>
                </a:tc>
              </a:tr>
              <a:tr h="256032">
                <a:tc>
                  <a:txBody>
                    <a:bodyPr/>
                    <a:lstStyle/>
                    <a:p>
                      <a:pPr algn="l">
                        <a:defRPr sz="900" b="1">
                          <a:solidFill>
                            <a:srgbClr val="1E3A8A"/>
                          </a:solidFill>
                          <a:latin typeface="Segoe UI"/>
                        </a:defRPr>
                      </a:pPr>
                      <a:r>
                        <a:t>2</a:t>
                      </a:r>
                    </a:p>
                  </a:txBody>
                  <a:tcPr anchor="ctr">
                    <a:solidFill>
                      <a:srgbClr val="F1F5F9"/>
                    </a:solidFill>
                  </a:tcPr>
                </a:tc>
                <a:tc>
                  <a:txBody>
                    <a:bodyPr/>
                    <a:lstStyle/>
                    <a:p>
                      <a:pPr algn="l">
                        <a:defRPr sz="900">
                          <a:solidFill>
                            <a:srgbClr val="4F46E5"/>
                          </a:solidFill>
                          <a:latin typeface="Segoe UI"/>
                        </a:defRPr>
                      </a:pPr>
                      <a:r>
                        <a:t>devices</a:t>
                      </a:r>
                    </a:p>
                  </a:txBody>
                  <a:tcPr anchor="ctr">
                    <a:solidFill>
                      <a:srgbClr val="F1F5F9"/>
                    </a:solidFill>
                  </a:tcPr>
                </a:tc>
                <a:tc>
                  <a:txBody>
                    <a:bodyPr/>
                    <a:lstStyle/>
                    <a:p>
                      <a:pPr algn="l">
                        <a:defRPr sz="900">
                          <a:solidFill>
                            <a:srgbClr val="64748B"/>
                          </a:solidFill>
                          <a:latin typeface="Segoe UI"/>
                        </a:defRPr>
                      </a:pPr>
                      <a:r>
                        <a:t>Mobile Telemetry Registry</a:t>
                      </a:r>
                    </a:p>
                  </a:txBody>
                  <a:tcPr anchor="ctr">
                    <a:solidFill>
                      <a:srgbClr val="F1F5F9"/>
                    </a:solidFill>
                  </a:tcPr>
                </a:tc>
                <a:tc>
                  <a:txBody>
                    <a:bodyPr/>
                    <a:lstStyle/>
                    <a:p>
                      <a:pPr algn="l">
                        <a:defRPr sz="900">
                          <a:solidFill>
                            <a:srgbClr val="0F172A"/>
                          </a:solidFill>
                          <a:latin typeface="Segoe UI"/>
                        </a:defRPr>
                      </a:pPr>
                      <a:r>
                        <a:t>Captures hardware specs, OS/SDK, live GPS coordinates, permissions, and FCM push tokens.</a:t>
                      </a:r>
                    </a:p>
                  </a:txBody>
                  <a:tcPr anchor="ctr">
                    <a:solidFill>
                      <a:srgbClr val="F1F5F9"/>
                    </a:solidFill>
                  </a:tcPr>
                </a:tc>
                <a:tc>
                  <a:txBody>
                    <a:bodyPr/>
                    <a:lstStyle/>
                    <a:p>
                      <a:pPr algn="l">
                        <a:defRPr sz="900">
                          <a:solidFill>
                            <a:srgbClr val="0F172A"/>
                          </a:solidFill>
                          <a:latin typeface="Segoe UI"/>
                        </a:defRPr>
                      </a:pPr>
                      <a:r>
                        <a:t>Pivot link to segment_devices</a:t>
                      </a:r>
                    </a:p>
                  </a:txBody>
                  <a:tcPr anchor="ctr">
                    <a:solidFill>
                      <a:srgbClr val="F1F5F9"/>
                    </a:solidFill>
                  </a:tcPr>
                </a:tc>
              </a:tr>
              <a:tr h="256032">
                <a:tc>
                  <a:txBody>
                    <a:bodyPr/>
                    <a:lstStyle/>
                    <a:p>
                      <a:pPr algn="l">
                        <a:defRPr sz="900" b="1">
                          <a:solidFill>
                            <a:srgbClr val="1E3A8A"/>
                          </a:solidFill>
                          <a:latin typeface="Segoe UI"/>
                        </a:defRPr>
                      </a:pPr>
                      <a:r>
                        <a:t>3</a:t>
                      </a:r>
                    </a:p>
                  </a:txBody>
                  <a:tcPr anchor="ctr">
                    <a:solidFill>
                      <a:srgbClr val="FFFFFF"/>
                    </a:solidFill>
                  </a:tcPr>
                </a:tc>
                <a:tc>
                  <a:txBody>
                    <a:bodyPr/>
                    <a:lstStyle/>
                    <a:p>
                      <a:pPr algn="l">
                        <a:defRPr sz="900">
                          <a:solidFill>
                            <a:srgbClr val="4F46E5"/>
                          </a:solidFill>
                          <a:latin typeface="Segoe UI"/>
                        </a:defRPr>
                      </a:pPr>
                      <a:r>
                        <a:t>firebase_settings</a:t>
                      </a:r>
                    </a:p>
                  </a:txBody>
                  <a:tcPr anchor="ctr">
                    <a:solidFill>
                      <a:srgbClr val="FFFFFF"/>
                    </a:solidFill>
                  </a:tcPr>
                </a:tc>
                <a:tc>
                  <a:txBody>
                    <a:bodyPr/>
                    <a:lstStyle/>
                    <a:p>
                      <a:pPr algn="l">
                        <a:defRPr sz="900">
                          <a:solidFill>
                            <a:srgbClr val="64748B"/>
                          </a:solidFill>
                          <a:latin typeface="Segoe UI"/>
                        </a:defRPr>
                      </a:pPr>
                      <a:r>
                        <a:t>FCM Credentials Config</a:t>
                      </a:r>
                    </a:p>
                  </a:txBody>
                  <a:tcPr anchor="ctr">
                    <a:solidFill>
                      <a:srgbClr val="FFFFFF"/>
                    </a:solidFill>
                  </a:tcPr>
                </a:tc>
                <a:tc>
                  <a:txBody>
                    <a:bodyPr/>
                    <a:lstStyle/>
                    <a:p>
                      <a:pPr algn="l">
                        <a:defRPr sz="900">
                          <a:solidFill>
                            <a:srgbClr val="0F172A"/>
                          </a:solidFill>
                          <a:latin typeface="Segoe UI"/>
                        </a:defRPr>
                      </a:pPr>
                      <a:r>
                        <a:t>Encrypted storage of Google Firebase service account JSON, API keys, and connection health.</a:t>
                      </a:r>
                    </a:p>
                  </a:txBody>
                  <a:tcPr anchor="ctr">
                    <a:solidFill>
                      <a:srgbClr val="FFFFFF"/>
                    </a:solidFill>
                  </a:tcPr>
                </a:tc>
                <a:tc>
                  <a:txBody>
                    <a:bodyPr/>
                    <a:lstStyle/>
                    <a:p>
                      <a:pPr algn="l">
                        <a:defRPr sz="900">
                          <a:solidFill>
                            <a:srgbClr val="0F172A"/>
                          </a:solidFill>
                          <a:latin typeface="Segoe UI"/>
                        </a:defRPr>
                      </a:pPr>
                      <a:r>
                        <a:t>Master Config (Active singleton toggle)</a:t>
                      </a:r>
                    </a:p>
                  </a:txBody>
                  <a:tcPr anchor="ctr">
                    <a:solidFill>
                      <a:srgbClr val="FFFFFF"/>
                    </a:solidFill>
                  </a:tcPr>
                </a:tc>
              </a:tr>
              <a:tr h="256032">
                <a:tc>
                  <a:txBody>
                    <a:bodyPr/>
                    <a:lstStyle/>
                    <a:p>
                      <a:pPr algn="l">
                        <a:defRPr sz="900" b="1">
                          <a:solidFill>
                            <a:srgbClr val="1E3A8A"/>
                          </a:solidFill>
                          <a:latin typeface="Segoe UI"/>
                        </a:defRPr>
                      </a:pPr>
                      <a:r>
                        <a:t>4</a:t>
                      </a:r>
                    </a:p>
                  </a:txBody>
                  <a:tcPr anchor="ctr">
                    <a:solidFill>
                      <a:srgbClr val="F1F5F9"/>
                    </a:solidFill>
                  </a:tcPr>
                </a:tc>
                <a:tc>
                  <a:txBody>
                    <a:bodyPr/>
                    <a:lstStyle/>
                    <a:p>
                      <a:pPr algn="l">
                        <a:defRPr sz="900">
                          <a:solidFill>
                            <a:srgbClr val="4F46E5"/>
                          </a:solidFill>
                          <a:latin typeface="Segoe UI"/>
                        </a:defRPr>
                      </a:pPr>
                      <a:r>
                        <a:t>locations</a:t>
                      </a:r>
                    </a:p>
                  </a:txBody>
                  <a:tcPr anchor="ctr">
                    <a:solidFill>
                      <a:srgbClr val="F1F5F9"/>
                    </a:solidFill>
                  </a:tcPr>
                </a:tc>
                <a:tc>
                  <a:txBody>
                    <a:bodyPr/>
                    <a:lstStyle/>
                    <a:p>
                      <a:pPr algn="l">
                        <a:defRPr sz="900">
                          <a:solidFill>
                            <a:srgbClr val="64748B"/>
                          </a:solidFill>
                          <a:latin typeface="Segoe UI"/>
                        </a:defRPr>
                      </a:pPr>
                      <a:r>
                        <a:t>Geo-Analytics Intelligence</a:t>
                      </a:r>
                    </a:p>
                  </a:txBody>
                  <a:tcPr anchor="ctr">
                    <a:solidFill>
                      <a:srgbClr val="F1F5F9"/>
                    </a:solidFill>
                  </a:tcPr>
                </a:tc>
                <a:tc>
                  <a:txBody>
                    <a:bodyPr/>
                    <a:lstStyle/>
                    <a:p>
                      <a:pPr algn="l">
                        <a:defRPr sz="900">
                          <a:solidFill>
                            <a:srgbClr val="0F172A"/>
                          </a:solidFill>
                          <a:latin typeface="Segoe UI"/>
                        </a:defRPr>
                      </a:pPr>
                      <a:r>
                        <a:t>Aggregated city/state geo metrics, 7x24 hour activity matrix, and sub-area density heatmaps.</a:t>
                      </a:r>
                    </a:p>
                  </a:txBody>
                  <a:tcPr anchor="ctr">
                    <a:solidFill>
                      <a:srgbClr val="F1F5F9"/>
                    </a:solidFill>
                  </a:tcPr>
                </a:tc>
                <a:tc>
                  <a:txBody>
                    <a:bodyPr/>
                    <a:lstStyle/>
                    <a:p>
                      <a:pPr algn="l">
                        <a:defRPr sz="900">
                          <a:solidFill>
                            <a:srgbClr val="0F172A"/>
                          </a:solidFill>
                          <a:latin typeface="Segoe UI"/>
                        </a:defRPr>
                      </a:pPr>
                      <a:r>
                        <a:t>Aggregates devices telemetry</a:t>
                      </a:r>
                    </a:p>
                  </a:txBody>
                  <a:tcPr anchor="ctr">
                    <a:solidFill>
                      <a:srgbClr val="F1F5F9"/>
                    </a:solidFill>
                  </a:tcPr>
                </a:tc>
              </a:tr>
              <a:tr h="256032">
                <a:tc>
                  <a:txBody>
                    <a:bodyPr/>
                    <a:lstStyle/>
                    <a:p>
                      <a:pPr algn="l">
                        <a:defRPr sz="900" b="1">
                          <a:solidFill>
                            <a:srgbClr val="1E3A8A"/>
                          </a:solidFill>
                          <a:latin typeface="Segoe UI"/>
                        </a:defRPr>
                      </a:pPr>
                      <a:r>
                        <a:t>5</a:t>
                      </a:r>
                    </a:p>
                  </a:txBody>
                  <a:tcPr anchor="ctr">
                    <a:solidFill>
                      <a:srgbClr val="FFFFFF"/>
                    </a:solidFill>
                  </a:tcPr>
                </a:tc>
                <a:tc>
                  <a:txBody>
                    <a:bodyPr/>
                    <a:lstStyle/>
                    <a:p>
                      <a:pPr algn="l">
                        <a:defRPr sz="900">
                          <a:solidFill>
                            <a:srgbClr val="4F46E5"/>
                          </a:solidFill>
                          <a:latin typeface="Segoe UI"/>
                        </a:defRPr>
                      </a:pPr>
                      <a:r>
                        <a:t>audience_segments</a:t>
                      </a:r>
                    </a:p>
                  </a:txBody>
                  <a:tcPr anchor="ctr">
                    <a:solidFill>
                      <a:srgbClr val="FFFFFF"/>
                    </a:solidFill>
                  </a:tcPr>
                </a:tc>
                <a:tc>
                  <a:txBody>
                    <a:bodyPr/>
                    <a:lstStyle/>
                    <a:p>
                      <a:pPr algn="l">
                        <a:defRPr sz="900">
                          <a:solidFill>
                            <a:srgbClr val="64748B"/>
                          </a:solidFill>
                          <a:latin typeface="Segoe UI"/>
                        </a:defRPr>
                      </a:pPr>
                      <a:r>
                        <a:t>Dynamic Segment Engine</a:t>
                      </a:r>
                    </a:p>
                  </a:txBody>
                  <a:tcPr anchor="ctr">
                    <a:solidFill>
                      <a:srgbClr val="FFFFFF"/>
                    </a:solidFill>
                  </a:tcPr>
                </a:tc>
                <a:tc>
                  <a:txBody>
                    <a:bodyPr/>
                    <a:lstStyle/>
                    <a:p>
                      <a:pPr algn="l">
                        <a:defRPr sz="900">
                          <a:solidFill>
                            <a:srgbClr val="0F172A"/>
                          </a:solidFill>
                          <a:latin typeface="Segoe UI"/>
                        </a:defRPr>
                      </a:pPr>
                      <a:r>
                        <a:t>Defines JSON visual rule conditions (location, platform, app build, activity) and cached size.</a:t>
                      </a:r>
                    </a:p>
                  </a:txBody>
                  <a:tcPr anchor="ctr">
                    <a:solidFill>
                      <a:srgbClr val="FFFFFF"/>
                    </a:solidFill>
                  </a:tcPr>
                </a:tc>
                <a:tc>
                  <a:txBody>
                    <a:bodyPr/>
                    <a:lstStyle/>
                    <a:p>
                      <a:pPr algn="l">
                        <a:defRPr sz="900">
                          <a:solidFill>
                            <a:srgbClr val="0F172A"/>
                          </a:solidFill>
                          <a:latin typeface="Segoe UI"/>
                        </a:defRPr>
                      </a:pPr>
                      <a:r>
                        <a:t>FK to users (creator); 1-to-Many logs &amp; pivot</a:t>
                      </a:r>
                    </a:p>
                  </a:txBody>
                  <a:tcPr anchor="ctr">
                    <a:solidFill>
                      <a:srgbClr val="FFFFFF"/>
                    </a:solidFill>
                  </a:tcPr>
                </a:tc>
              </a:tr>
              <a:tr h="256032">
                <a:tc>
                  <a:txBody>
                    <a:bodyPr/>
                    <a:lstStyle/>
                    <a:p>
                      <a:pPr algn="l">
                        <a:defRPr sz="900" b="1">
                          <a:solidFill>
                            <a:srgbClr val="1E3A8A"/>
                          </a:solidFill>
                          <a:latin typeface="Segoe UI"/>
                        </a:defRPr>
                      </a:pPr>
                      <a:r>
                        <a:t>6</a:t>
                      </a:r>
                    </a:p>
                  </a:txBody>
                  <a:tcPr anchor="ctr">
                    <a:solidFill>
                      <a:srgbClr val="F1F5F9"/>
                    </a:solidFill>
                  </a:tcPr>
                </a:tc>
                <a:tc>
                  <a:txBody>
                    <a:bodyPr/>
                    <a:lstStyle/>
                    <a:p>
                      <a:pPr algn="l">
                        <a:defRPr sz="900">
                          <a:solidFill>
                            <a:srgbClr val="4F46E5"/>
                          </a:solidFill>
                          <a:latin typeface="Segoe UI"/>
                        </a:defRPr>
                      </a:pPr>
                      <a:r>
                        <a:t>segment_devices</a:t>
                      </a:r>
                    </a:p>
                  </a:txBody>
                  <a:tcPr anchor="ctr">
                    <a:solidFill>
                      <a:srgbClr val="F1F5F9"/>
                    </a:solidFill>
                  </a:tcPr>
                </a:tc>
                <a:tc>
                  <a:txBody>
                    <a:bodyPr/>
                    <a:lstStyle/>
                    <a:p>
                      <a:pPr algn="l">
                        <a:defRPr sz="900">
                          <a:solidFill>
                            <a:srgbClr val="64748B"/>
                          </a:solidFill>
                          <a:latin typeface="Segoe UI"/>
                        </a:defRPr>
                      </a:pPr>
                      <a:r>
                        <a:t>Audience Pivot Index</a:t>
                      </a:r>
                    </a:p>
                  </a:txBody>
                  <a:tcPr anchor="ctr">
                    <a:solidFill>
                      <a:srgbClr val="F1F5F9"/>
                    </a:solidFill>
                  </a:tcPr>
                </a:tc>
                <a:tc>
                  <a:txBody>
                    <a:bodyPr/>
                    <a:lstStyle/>
                    <a:p>
                      <a:pPr algn="l">
                        <a:defRPr sz="900">
                          <a:solidFill>
                            <a:srgbClr val="0F172A"/>
                          </a:solidFill>
                          <a:latin typeface="Segoe UI"/>
                        </a:defRPr>
                      </a:pPr>
                      <a:r>
                        <a:t>Indexed join table connecting audience segments to qualified devices with deliverability status.</a:t>
                      </a:r>
                    </a:p>
                  </a:txBody>
                  <a:tcPr anchor="ctr">
                    <a:solidFill>
                      <a:srgbClr val="F1F5F9"/>
                    </a:solidFill>
                  </a:tcPr>
                </a:tc>
                <a:tc>
                  <a:txBody>
                    <a:bodyPr/>
                    <a:lstStyle/>
                    <a:p>
                      <a:pPr algn="l">
                        <a:defRPr sz="900">
                          <a:solidFill>
                            <a:srgbClr val="0F172A"/>
                          </a:solidFill>
                          <a:latin typeface="Segoe UI"/>
                        </a:defRPr>
                      </a:pPr>
                      <a:r>
                        <a:t>FK to audience_segments &amp; devices (Cascade)</a:t>
                      </a:r>
                    </a:p>
                  </a:txBody>
                  <a:tcPr anchor="ctr">
                    <a:solidFill>
                      <a:srgbClr val="F1F5F9"/>
                    </a:solidFill>
                  </a:tcPr>
                </a:tc>
              </a:tr>
              <a:tr h="256032">
                <a:tc>
                  <a:txBody>
                    <a:bodyPr/>
                    <a:lstStyle/>
                    <a:p>
                      <a:pPr algn="l">
                        <a:defRPr sz="900" b="1">
                          <a:solidFill>
                            <a:srgbClr val="1E3A8A"/>
                          </a:solidFill>
                          <a:latin typeface="Segoe UI"/>
                        </a:defRPr>
                      </a:pPr>
                      <a:r>
                        <a:t>7</a:t>
                      </a:r>
                    </a:p>
                  </a:txBody>
                  <a:tcPr anchor="ctr">
                    <a:solidFill>
                      <a:srgbClr val="FFFFFF"/>
                    </a:solidFill>
                  </a:tcPr>
                </a:tc>
                <a:tc>
                  <a:txBody>
                    <a:bodyPr/>
                    <a:lstStyle/>
                    <a:p>
                      <a:pPr algn="l">
                        <a:defRPr sz="900">
                          <a:solidFill>
                            <a:srgbClr val="4F46E5"/>
                          </a:solidFill>
                          <a:latin typeface="Segoe UI"/>
                        </a:defRPr>
                      </a:pPr>
                      <a:r>
                        <a:t>segment_activity_logs</a:t>
                      </a:r>
                    </a:p>
                  </a:txBody>
                  <a:tcPr anchor="ctr">
                    <a:solidFill>
                      <a:srgbClr val="FFFFFF"/>
                    </a:solidFill>
                  </a:tcPr>
                </a:tc>
                <a:tc>
                  <a:txBody>
                    <a:bodyPr/>
                    <a:lstStyle/>
                    <a:p>
                      <a:pPr algn="l">
                        <a:defRPr sz="900">
                          <a:solidFill>
                            <a:srgbClr val="64748B"/>
                          </a:solidFill>
                          <a:latin typeface="Segoe UI"/>
                        </a:defRPr>
                      </a:pPr>
                      <a:r>
                        <a:t>Segment Audit Trail</a:t>
                      </a:r>
                    </a:p>
                  </a:txBody>
                  <a:tcPr anchor="ctr">
                    <a:solidFill>
                      <a:srgbClr val="FFFFFF"/>
                    </a:solidFill>
                  </a:tcPr>
                </a:tc>
                <a:tc>
                  <a:txBody>
                    <a:bodyPr/>
                    <a:lstStyle/>
                    <a:p>
                      <a:pPr algn="l">
                        <a:defRPr sz="900">
                          <a:solidFill>
                            <a:srgbClr val="0F172A"/>
                          </a:solidFill>
                          <a:latin typeface="Segoe UI"/>
                        </a:defRPr>
                      </a:pPr>
                      <a:r>
                        <a:t>Historical timeline log tracking segment rule edits, refreshes, pause/archive actions.</a:t>
                      </a:r>
                    </a:p>
                  </a:txBody>
                  <a:tcPr anchor="ctr">
                    <a:solidFill>
                      <a:srgbClr val="FFFFFF"/>
                    </a:solidFill>
                  </a:tcPr>
                </a:tc>
                <a:tc>
                  <a:txBody>
                    <a:bodyPr/>
                    <a:lstStyle/>
                    <a:p>
                      <a:pPr algn="l">
                        <a:defRPr sz="900">
                          <a:solidFill>
                            <a:srgbClr val="0F172A"/>
                          </a:solidFill>
                          <a:latin typeface="Segoe UI"/>
                        </a:defRPr>
                      </a:pPr>
                      <a:r>
                        <a:t>FK to audience_segments (Cascade)</a:t>
                      </a:r>
                    </a:p>
                  </a:txBody>
                  <a:tcPr anchor="ctr">
                    <a:solidFill>
                      <a:srgbClr val="FFFFFF"/>
                    </a:solidFill>
                  </a:tcPr>
                </a:tc>
              </a:tr>
              <a:tr h="256032">
                <a:tc>
                  <a:txBody>
                    <a:bodyPr/>
                    <a:lstStyle/>
                    <a:p>
                      <a:pPr algn="l">
                        <a:defRPr sz="900" b="1">
                          <a:solidFill>
                            <a:srgbClr val="1E3A8A"/>
                          </a:solidFill>
                          <a:latin typeface="Segoe UI"/>
                        </a:defRPr>
                      </a:pPr>
                      <a:r>
                        <a:t>8</a:t>
                      </a:r>
                    </a:p>
                  </a:txBody>
                  <a:tcPr anchor="ctr">
                    <a:solidFill>
                      <a:srgbClr val="F1F5F9"/>
                    </a:solidFill>
                  </a:tcPr>
                </a:tc>
                <a:tc>
                  <a:txBody>
                    <a:bodyPr/>
                    <a:lstStyle/>
                    <a:p>
                      <a:pPr algn="l">
                        <a:defRPr sz="900">
                          <a:solidFill>
                            <a:srgbClr val="4F46E5"/>
                          </a:solidFill>
                          <a:latin typeface="Segoe UI"/>
                        </a:defRPr>
                      </a:pPr>
                      <a:r>
                        <a:t>notification_campaigns</a:t>
                      </a:r>
                    </a:p>
                  </a:txBody>
                  <a:tcPr anchor="ctr">
                    <a:solidFill>
                      <a:srgbClr val="F1F5F9"/>
                    </a:solidFill>
                  </a:tcPr>
                </a:tc>
                <a:tc>
                  <a:txBody>
                    <a:bodyPr/>
                    <a:lstStyle/>
                    <a:p>
                      <a:pPr algn="l">
                        <a:defRPr sz="900">
                          <a:solidFill>
                            <a:srgbClr val="64748B"/>
                          </a:solidFill>
                          <a:latin typeface="Segoe UI"/>
                        </a:defRPr>
                      </a:pPr>
                      <a:r>
                        <a:t>Push Notification Engine</a:t>
                      </a:r>
                    </a:p>
                  </a:txBody>
                  <a:tcPr anchor="ctr">
                    <a:solidFill>
                      <a:srgbClr val="F1F5F9"/>
                    </a:solidFill>
                  </a:tcPr>
                </a:tc>
                <a:tc>
                  <a:txBody>
                    <a:bodyPr/>
                    <a:lstStyle/>
                    <a:p>
                      <a:pPr algn="l">
                        <a:defRPr sz="900">
                          <a:solidFill>
                            <a:srgbClr val="0F172A"/>
                          </a:solidFill>
                          <a:latin typeface="Segoe UI"/>
                        </a:defRPr>
                      </a:pPr>
                      <a:r>
                        <a:t>Orchestrates push campaigns, rich media, quiet hours, delivery counts, and open rates.</a:t>
                      </a:r>
                    </a:p>
                  </a:txBody>
                  <a:tcPr anchor="ctr">
                    <a:solidFill>
                      <a:srgbClr val="F1F5F9"/>
                    </a:solidFill>
                  </a:tcPr>
                </a:tc>
                <a:tc>
                  <a:txBody>
                    <a:bodyPr/>
                    <a:lstStyle/>
                    <a:p>
                      <a:pPr algn="l">
                        <a:defRPr sz="900">
                          <a:solidFill>
                            <a:srgbClr val="0F172A"/>
                          </a:solidFill>
                          <a:latin typeface="Segoe UI"/>
                        </a:defRPr>
                      </a:pPr>
                      <a:r>
                        <a:t>FK to users &amp; audience_segments</a:t>
                      </a:r>
                    </a:p>
                  </a:txBody>
                  <a:tcPr anchor="ctr">
                    <a:solidFill>
                      <a:srgbClr val="F1F5F9"/>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IDENTITY &amp; ACCESS MANAGEMENT</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users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Provides robust admin and operator management for the GeoCam management console. Stores authentication credentials, fine-grained RBAC roles, user demographic info, two-factor authentication enforcement, account lockout flags, and audit timestamps.</a:t>
            </a:r>
          </a:p>
        </p:txBody>
      </p:sp>
      <p:graphicFrame>
        <p:nvGraphicFramePr>
          <p:cNvPr id="8" name="Table 7"/>
          <p:cNvGraphicFramePr>
            <a:graphicFrameLocks noGrp="1"/>
          </p:cNvGraphicFramePr>
          <p:nvPr/>
        </p:nvGraphicFramePr>
        <p:xfrm>
          <a:off x="548640" y="1737360"/>
          <a:ext cx="11094415" cy="4928616"/>
        </p:xfrm>
        <a:graphic>
          <a:graphicData uri="http://schemas.openxmlformats.org/drawingml/2006/table">
            <a:tbl>
              <a:tblPr firstRow="1" bandRow="1">
                <a:tableStyleId>{5C22544A-7EE6-4342-B048-85BDC9FD1C3A}</a:tableStyleId>
              </a:tblPr>
              <a:tblGrid>
                <a:gridCol w="2011680"/>
                <a:gridCol w="1463040"/>
                <a:gridCol w="1645920"/>
                <a:gridCol w="597377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Unique surrogate primary key for each administrative user.</a:t>
                      </a:r>
                    </a:p>
                  </a:txBody>
                  <a:tcPr anchor="ctr">
                    <a:solidFill>
                      <a:srgbClr val="FFFFFF"/>
                    </a:solidFill>
                  </a:tcPr>
                </a:tc>
              </a:tr>
              <a:tr h="256032">
                <a:tc>
                  <a:txBody>
                    <a:bodyPr/>
                    <a:lstStyle/>
                    <a:p>
                      <a:pPr algn="l">
                        <a:defRPr sz="900" b="1">
                          <a:solidFill>
                            <a:srgbClr val="1E3A8A"/>
                          </a:solidFill>
                          <a:latin typeface="Segoe UI"/>
                        </a:defRPr>
                      </a:pPr>
                      <a:r>
                        <a:t>uuid</a:t>
                      </a:r>
                    </a:p>
                  </a:txBody>
                  <a:tcPr anchor="ctr">
                    <a:solidFill>
                      <a:srgbClr val="F1F5F9"/>
                    </a:solidFill>
                  </a:tcPr>
                </a:tc>
                <a:tc>
                  <a:txBody>
                    <a:bodyPr/>
                    <a:lstStyle/>
                    <a:p>
                      <a:pPr algn="l">
                        <a:defRPr sz="900">
                          <a:solidFill>
                            <a:srgbClr val="4F46E5"/>
                          </a:solidFill>
                          <a:latin typeface="Segoe UI"/>
                        </a:defRPr>
                      </a:pPr>
                      <a:r>
                        <a:t>CHAR(36) UUID</a:t>
                      </a:r>
                    </a:p>
                  </a:txBody>
                  <a:tcPr anchor="ctr">
                    <a:solidFill>
                      <a:srgbClr val="F1F5F9"/>
                    </a:solidFill>
                  </a:tcPr>
                </a:tc>
                <a:tc>
                  <a:txBody>
                    <a:bodyPr/>
                    <a:lstStyle/>
                    <a:p>
                      <a:pPr algn="l">
                        <a:defRPr sz="900">
                          <a:solidFill>
                            <a:srgbClr val="059669"/>
                          </a:solidFill>
                          <a:latin typeface="Segoe UI"/>
                        </a:defRPr>
                      </a:pPr>
                      <a:r>
                        <a:t>UNIQUE, NOT NULL</a:t>
                      </a:r>
                    </a:p>
                  </a:txBody>
                  <a:tcPr anchor="ctr">
                    <a:solidFill>
                      <a:srgbClr val="F1F5F9"/>
                    </a:solidFill>
                  </a:tcPr>
                </a:tc>
                <a:tc>
                  <a:txBody>
                    <a:bodyPr/>
                    <a:lstStyle/>
                    <a:p>
                      <a:pPr algn="l">
                        <a:defRPr sz="900">
                          <a:solidFill>
                            <a:srgbClr val="0F172A"/>
                          </a:solidFill>
                          <a:latin typeface="Segoe UI"/>
                        </a:defRPr>
                      </a:pPr>
                      <a:r>
                        <a:t>Universally unique identifier for secure external references and API tokens.</a:t>
                      </a:r>
                    </a:p>
                  </a:txBody>
                  <a:tcPr anchor="ctr">
                    <a:solidFill>
                      <a:srgbClr val="F1F5F9"/>
                    </a:solidFill>
                  </a:tcPr>
                </a:tc>
              </a:tr>
              <a:tr h="256032">
                <a:tc>
                  <a:txBody>
                    <a:bodyPr/>
                    <a:lstStyle/>
                    <a:p>
                      <a:pPr algn="l">
                        <a:defRPr sz="900" b="1">
                          <a:solidFill>
                            <a:srgbClr val="1E3A8A"/>
                          </a:solidFill>
                          <a:latin typeface="Segoe UI"/>
                        </a:defRPr>
                      </a:pPr>
                      <a:r>
                        <a:t>name</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059669"/>
                          </a:solidFill>
                          <a:latin typeface="Segoe UI"/>
                        </a:defRPr>
                      </a:pPr>
                      <a:r>
                        <a:t>NOT NULL</a:t>
                      </a:r>
                    </a:p>
                  </a:txBody>
                  <a:tcPr anchor="ctr">
                    <a:solidFill>
                      <a:srgbClr val="FFFFFF"/>
                    </a:solidFill>
                  </a:tcPr>
                </a:tc>
                <a:tc>
                  <a:txBody>
                    <a:bodyPr/>
                    <a:lstStyle/>
                    <a:p>
                      <a:pPr algn="l">
                        <a:defRPr sz="900">
                          <a:solidFill>
                            <a:srgbClr val="0F172A"/>
                          </a:solidFill>
                          <a:latin typeface="Segoe UI"/>
                        </a:defRPr>
                      </a:pPr>
                      <a:r>
                        <a:t>Full legal or personal name of the administrator / operator.</a:t>
                      </a:r>
                    </a:p>
                  </a:txBody>
                  <a:tcPr anchor="ctr">
                    <a:solidFill>
                      <a:srgbClr val="FFFFFF"/>
                    </a:solidFill>
                  </a:tcPr>
                </a:tc>
              </a:tr>
              <a:tr h="256032">
                <a:tc>
                  <a:txBody>
                    <a:bodyPr/>
                    <a:lstStyle/>
                    <a:p>
                      <a:pPr algn="l">
                        <a:defRPr sz="900" b="1">
                          <a:solidFill>
                            <a:srgbClr val="1E3A8A"/>
                          </a:solidFill>
                          <a:latin typeface="Segoe UI"/>
                        </a:defRPr>
                      </a:pPr>
                      <a:r>
                        <a:t>username</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059669"/>
                          </a:solidFill>
                          <a:latin typeface="Segoe UI"/>
                        </a:defRPr>
                      </a:pPr>
                      <a:r>
                        <a:t>UNIQUE, NOT NULL</a:t>
                      </a:r>
                    </a:p>
                  </a:txBody>
                  <a:tcPr anchor="ctr">
                    <a:solidFill>
                      <a:srgbClr val="F1F5F9"/>
                    </a:solidFill>
                  </a:tcPr>
                </a:tc>
                <a:tc>
                  <a:txBody>
                    <a:bodyPr/>
                    <a:lstStyle/>
                    <a:p>
                      <a:pPr algn="l">
                        <a:defRPr sz="900">
                          <a:solidFill>
                            <a:srgbClr val="0F172A"/>
                          </a:solidFill>
                          <a:latin typeface="Segoe UI"/>
                        </a:defRPr>
                      </a:pPr>
                      <a:r>
                        <a:t>Unique handle used for administrative portal authentication.</a:t>
                      </a:r>
                    </a:p>
                  </a:txBody>
                  <a:tcPr anchor="ctr">
                    <a:solidFill>
                      <a:srgbClr val="F1F5F9"/>
                    </a:solidFill>
                  </a:tcPr>
                </a:tc>
              </a:tr>
              <a:tr h="256032">
                <a:tc>
                  <a:txBody>
                    <a:bodyPr/>
                    <a:lstStyle/>
                    <a:p>
                      <a:pPr algn="l">
                        <a:defRPr sz="900" b="1">
                          <a:solidFill>
                            <a:srgbClr val="1E3A8A"/>
                          </a:solidFill>
                          <a:latin typeface="Segoe UI"/>
                        </a:defRPr>
                      </a:pPr>
                      <a:r>
                        <a:t>displayname</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Friendly display name shown on top navigation bar and activity logs.</a:t>
                      </a:r>
                    </a:p>
                  </a:txBody>
                  <a:tcPr anchor="ctr">
                    <a:solidFill>
                      <a:srgbClr val="FFFFFF"/>
                    </a:solidFill>
                  </a:tcPr>
                </a:tc>
              </a:tr>
              <a:tr h="256032">
                <a:tc>
                  <a:txBody>
                    <a:bodyPr/>
                    <a:lstStyle/>
                    <a:p>
                      <a:pPr algn="l">
                        <a:defRPr sz="900" b="1">
                          <a:solidFill>
                            <a:srgbClr val="1E3A8A"/>
                          </a:solidFill>
                          <a:latin typeface="Segoe UI"/>
                        </a:defRPr>
                      </a:pPr>
                      <a:r>
                        <a:t>email</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059669"/>
                          </a:solidFill>
                          <a:latin typeface="Segoe UI"/>
                        </a:defRPr>
                      </a:pPr>
                      <a:r>
                        <a:t>UNIQUE, NOT NULL</a:t>
                      </a:r>
                    </a:p>
                  </a:txBody>
                  <a:tcPr anchor="ctr">
                    <a:solidFill>
                      <a:srgbClr val="F1F5F9"/>
                    </a:solidFill>
                  </a:tcPr>
                </a:tc>
                <a:tc>
                  <a:txBody>
                    <a:bodyPr/>
                    <a:lstStyle/>
                    <a:p>
                      <a:pPr algn="l">
                        <a:defRPr sz="900">
                          <a:solidFill>
                            <a:srgbClr val="0F172A"/>
                          </a:solidFill>
                          <a:latin typeface="Segoe UI"/>
                        </a:defRPr>
                      </a:pPr>
                      <a:r>
                        <a:t>Primary email address used for login, password resets, and notifications.</a:t>
                      </a:r>
                    </a:p>
                  </a:txBody>
                  <a:tcPr anchor="ctr">
                    <a:solidFill>
                      <a:srgbClr val="F1F5F9"/>
                    </a:solidFill>
                  </a:tcPr>
                </a:tc>
              </a:tr>
              <a:tr h="256032">
                <a:tc>
                  <a:txBody>
                    <a:bodyPr/>
                    <a:lstStyle/>
                    <a:p>
                      <a:pPr algn="l">
                        <a:defRPr sz="900" b="1">
                          <a:solidFill>
                            <a:srgbClr val="1E3A8A"/>
                          </a:solidFill>
                          <a:latin typeface="Segoe UI"/>
                        </a:defRPr>
                      </a:pPr>
                      <a:r>
                        <a:t>password</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059669"/>
                          </a:solidFill>
                          <a:latin typeface="Segoe UI"/>
                        </a:defRPr>
                      </a:pPr>
                      <a:r>
                        <a:t>NOT NULL</a:t>
                      </a:r>
                    </a:p>
                  </a:txBody>
                  <a:tcPr anchor="ctr">
                    <a:solidFill>
                      <a:srgbClr val="FFFFFF"/>
                    </a:solidFill>
                  </a:tcPr>
                </a:tc>
                <a:tc>
                  <a:txBody>
                    <a:bodyPr/>
                    <a:lstStyle/>
                    <a:p>
                      <a:pPr algn="l">
                        <a:defRPr sz="900">
                          <a:solidFill>
                            <a:srgbClr val="0F172A"/>
                          </a:solidFill>
                          <a:latin typeface="Segoe UI"/>
                        </a:defRPr>
                      </a:pPr>
                      <a:r>
                        <a:t>Bcrypt/Argon2 securely hashed authentication password string.</a:t>
                      </a:r>
                    </a:p>
                  </a:txBody>
                  <a:tcPr anchor="ctr">
                    <a:solidFill>
                      <a:srgbClr val="FFFFFF"/>
                    </a:solidFill>
                  </a:tcPr>
                </a:tc>
              </a:tr>
              <a:tr h="256032">
                <a:tc>
                  <a:txBody>
                    <a:bodyPr/>
                    <a:lstStyle/>
                    <a:p>
                      <a:pPr algn="l">
                        <a:defRPr sz="900" b="1">
                          <a:solidFill>
                            <a:srgbClr val="1E3A8A"/>
                          </a:solidFill>
                          <a:latin typeface="Segoe UI"/>
                        </a:defRPr>
                      </a:pPr>
                      <a:r>
                        <a:t>admin_id</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UNIQUE, NULL</a:t>
                      </a:r>
                    </a:p>
                  </a:txBody>
                  <a:tcPr anchor="ctr">
                    <a:solidFill>
                      <a:srgbClr val="F1F5F9"/>
                    </a:solidFill>
                  </a:tcPr>
                </a:tc>
                <a:tc>
                  <a:txBody>
                    <a:bodyPr/>
                    <a:lstStyle/>
                    <a:p>
                      <a:pPr algn="l">
                        <a:defRPr sz="900">
                          <a:solidFill>
                            <a:srgbClr val="0F172A"/>
                          </a:solidFill>
                          <a:latin typeface="Segoe UI"/>
                        </a:defRPr>
                      </a:pPr>
                      <a:r>
                        <a:t>Custom employee/admin identity code (e.g. ADM-001) for organization tracking.</a:t>
                      </a:r>
                    </a:p>
                  </a:txBody>
                  <a:tcPr anchor="ctr">
                    <a:solidFill>
                      <a:srgbClr val="F1F5F9"/>
                    </a:solidFill>
                  </a:tcPr>
                </a:tc>
              </a:tr>
              <a:tr h="256032">
                <a:tc>
                  <a:txBody>
                    <a:bodyPr/>
                    <a:lstStyle/>
                    <a:p>
                      <a:pPr algn="l">
                        <a:defRPr sz="900" b="1">
                          <a:solidFill>
                            <a:srgbClr val="1E3A8A"/>
                          </a:solidFill>
                          <a:latin typeface="Segoe UI"/>
                        </a:defRPr>
                      </a:pPr>
                      <a:r>
                        <a:t>role</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DEFAULT 'Super Admin'</a:t>
                      </a:r>
                    </a:p>
                  </a:txBody>
                  <a:tcPr anchor="ctr">
                    <a:solidFill>
                      <a:srgbClr val="FFFFFF"/>
                    </a:solidFill>
                  </a:tcPr>
                </a:tc>
                <a:tc>
                  <a:txBody>
                    <a:bodyPr/>
                    <a:lstStyle/>
                    <a:p>
                      <a:pPr algn="l">
                        <a:defRPr sz="900">
                          <a:solidFill>
                            <a:srgbClr val="0F172A"/>
                          </a:solidFill>
                          <a:latin typeface="Segoe UI"/>
                        </a:defRPr>
                      </a:pPr>
                      <a:r>
                        <a:t>Access control role governing permissions (e.g. Super Admin, Manager, Analyst).</a:t>
                      </a:r>
                    </a:p>
                  </a:txBody>
                  <a:tcPr anchor="ctr">
                    <a:solidFill>
                      <a:srgbClr val="FFFFFF"/>
                    </a:solidFill>
                  </a:tcPr>
                </a:tc>
              </a:tr>
              <a:tr h="256032">
                <a:tc>
                  <a:txBody>
                    <a:bodyPr/>
                    <a:lstStyle/>
                    <a:p>
                      <a:pPr algn="l">
                        <a:defRPr sz="900" b="1">
                          <a:solidFill>
                            <a:srgbClr val="1E3A8A"/>
                          </a:solidFill>
                          <a:latin typeface="Segoe UI"/>
                        </a:defRPr>
                      </a:pPr>
                      <a:r>
                        <a:t>department</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Organizational department (e.g. Operations, IT Support, Marketing).</a:t>
                      </a:r>
                    </a:p>
                  </a:txBody>
                  <a:tcPr anchor="ctr">
                    <a:solidFill>
                      <a:srgbClr val="F1F5F9"/>
                    </a:solidFill>
                  </a:tcPr>
                </a:tc>
              </a:tr>
              <a:tr h="256032">
                <a:tc>
                  <a:txBody>
                    <a:bodyPr/>
                    <a:lstStyle/>
                    <a:p>
                      <a:pPr algn="l">
                        <a:defRPr sz="900" b="1">
                          <a:solidFill>
                            <a:srgbClr val="1E3A8A"/>
                          </a:solidFill>
                          <a:latin typeface="Segoe UI"/>
                        </a:defRPr>
                      </a:pPr>
                      <a:r>
                        <a:t>two_factor_enabled</a:t>
                      </a:r>
                    </a:p>
                  </a:txBody>
                  <a:tcPr anchor="ctr">
                    <a:solidFill>
                      <a:srgbClr val="FFFFFF"/>
                    </a:solidFill>
                  </a:tcPr>
                </a:tc>
                <a:tc>
                  <a:txBody>
                    <a:bodyPr/>
                    <a:lstStyle/>
                    <a:p>
                      <a:pPr algn="l">
                        <a:defRPr sz="900">
                          <a:solidFill>
                            <a:srgbClr val="4F46E5"/>
                          </a:solidFill>
                          <a:latin typeface="Segoe UI"/>
                        </a:defRPr>
                      </a:pPr>
                      <a:r>
                        <a:t>BOOLEAN</a:t>
                      </a:r>
                    </a:p>
                  </a:txBody>
                  <a:tcPr anchor="ctr">
                    <a:solidFill>
                      <a:srgbClr val="FFFFFF"/>
                    </a:solidFill>
                  </a:tcPr>
                </a:tc>
                <a:tc>
                  <a:txBody>
                    <a:bodyPr/>
                    <a:lstStyle/>
                    <a:p>
                      <a:pPr algn="l">
                        <a:defRPr sz="900">
                          <a:solidFill>
                            <a:srgbClr val="64748B"/>
                          </a:solidFill>
                          <a:latin typeface="Segoe UI"/>
                        </a:defRPr>
                      </a:pPr>
                      <a:r>
                        <a:t>DEFAULT TRUE</a:t>
                      </a:r>
                    </a:p>
                  </a:txBody>
                  <a:tcPr anchor="ctr">
                    <a:solidFill>
                      <a:srgbClr val="FFFFFF"/>
                    </a:solidFill>
                  </a:tcPr>
                </a:tc>
                <a:tc>
                  <a:txBody>
                    <a:bodyPr/>
                    <a:lstStyle/>
                    <a:p>
                      <a:pPr algn="l">
                        <a:defRPr sz="900">
                          <a:solidFill>
                            <a:srgbClr val="0F172A"/>
                          </a:solidFill>
                          <a:latin typeface="Segoe UI"/>
                        </a:defRPr>
                      </a:pPr>
                      <a:r>
                        <a:t>Enforces 2-step verification security on admin authentication.</a:t>
                      </a:r>
                    </a:p>
                  </a:txBody>
                  <a:tcPr anchor="ctr">
                    <a:solidFill>
                      <a:srgbClr val="FFFFFF"/>
                    </a:solidFill>
                  </a:tcPr>
                </a:tc>
              </a:tr>
              <a:tr h="256032">
                <a:tc>
                  <a:txBody>
                    <a:bodyPr/>
                    <a:lstStyle/>
                    <a:p>
                      <a:pPr algn="l">
                        <a:defRPr sz="900" b="1">
                          <a:solidFill>
                            <a:srgbClr val="1E3A8A"/>
                          </a:solidFill>
                          <a:latin typeface="Segoe UI"/>
                        </a:defRPr>
                      </a:pPr>
                      <a:r>
                        <a:t>status</a:t>
                      </a:r>
                    </a:p>
                  </a:txBody>
                  <a:tcPr anchor="ctr">
                    <a:solidFill>
                      <a:srgbClr val="F1F5F9"/>
                    </a:solidFill>
                  </a:tcPr>
                </a:tc>
                <a:tc>
                  <a:txBody>
                    <a:bodyPr/>
                    <a:lstStyle/>
                    <a:p>
                      <a:pPr algn="l">
                        <a:defRPr sz="900">
                          <a:solidFill>
                            <a:srgbClr val="4F46E5"/>
                          </a:solidFill>
                          <a:latin typeface="Segoe UI"/>
                        </a:defRPr>
                      </a:pPr>
                      <a:r>
                        <a:t>TINYINT</a:t>
                      </a:r>
                    </a:p>
                  </a:txBody>
                  <a:tcPr anchor="ctr">
                    <a:solidFill>
                      <a:srgbClr val="F1F5F9"/>
                    </a:solidFill>
                  </a:tcPr>
                </a:tc>
                <a:tc>
                  <a:txBody>
                    <a:bodyPr/>
                    <a:lstStyle/>
                    <a:p>
                      <a:pPr algn="l">
                        <a:defRPr sz="900">
                          <a:solidFill>
                            <a:srgbClr val="64748B"/>
                          </a:solidFill>
                          <a:latin typeface="Segoe UI"/>
                        </a:defRPr>
                      </a:pPr>
                      <a:r>
                        <a:t>DEFAULT 1</a:t>
                      </a:r>
                    </a:p>
                  </a:txBody>
                  <a:tcPr anchor="ctr">
                    <a:solidFill>
                      <a:srgbClr val="F1F5F9"/>
                    </a:solidFill>
                  </a:tcPr>
                </a:tc>
                <a:tc>
                  <a:txBody>
                    <a:bodyPr/>
                    <a:lstStyle/>
                    <a:p>
                      <a:pPr algn="l">
                        <a:defRPr sz="900">
                          <a:solidFill>
                            <a:srgbClr val="0F172A"/>
                          </a:solidFill>
                          <a:latin typeface="Segoe UI"/>
                        </a:defRPr>
                      </a:pPr>
                      <a:r>
                        <a:t>Account lifecycle state: 0 = Pending, 1 = Active, 2 = Suspended/Blocked.</a:t>
                      </a:r>
                    </a:p>
                  </a:txBody>
                  <a:tcPr anchor="ctr">
                    <a:solidFill>
                      <a:srgbClr val="F1F5F9"/>
                    </a:solidFill>
                  </a:tcPr>
                </a:tc>
              </a:tr>
              <a:tr h="256032">
                <a:tc>
                  <a:txBody>
                    <a:bodyPr/>
                    <a:lstStyle/>
                    <a:p>
                      <a:pPr algn="l">
                        <a:defRPr sz="900" b="1">
                          <a:solidFill>
                            <a:srgbClr val="1E3A8A"/>
                          </a:solidFill>
                          <a:latin typeface="Segoe UI"/>
                        </a:defRPr>
                      </a:pPr>
                      <a:r>
                        <a:t>city / state / country</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Administrative user's physical operational territory and demographic address.</a:t>
                      </a:r>
                    </a:p>
                  </a:txBody>
                  <a:tcPr anchor="ctr">
                    <a:solidFill>
                      <a:srgbClr val="FFFFFF"/>
                    </a:solidFill>
                  </a:tcPr>
                </a:tc>
              </a:tr>
              <a:tr h="256032">
                <a:tc>
                  <a:txBody>
                    <a:bodyPr/>
                    <a:lstStyle/>
                    <a:p>
                      <a:pPr algn="l">
                        <a:defRPr sz="900" b="1">
                          <a:solidFill>
                            <a:srgbClr val="1E3A8A"/>
                          </a:solidFill>
                          <a:latin typeface="Segoe UI"/>
                        </a:defRPr>
                      </a:pPr>
                      <a:r>
                        <a:t>active_sessions_count</a:t>
                      </a:r>
                    </a:p>
                  </a:txBody>
                  <a:tcPr anchor="ctr">
                    <a:solidFill>
                      <a:srgbClr val="F1F5F9"/>
                    </a:solidFill>
                  </a:tcPr>
                </a:tc>
                <a:tc>
                  <a:txBody>
                    <a:bodyPr/>
                    <a:lstStyle/>
                    <a:p>
                      <a:pPr algn="l">
                        <a:defRPr sz="900">
                          <a:solidFill>
                            <a:srgbClr val="4F46E5"/>
                          </a:solidFill>
                          <a:latin typeface="Segoe UI"/>
                        </a:defRPr>
                      </a:pPr>
                      <a:r>
                        <a:t>INTEGER</a:t>
                      </a:r>
                    </a:p>
                  </a:txBody>
                  <a:tcPr anchor="ctr">
                    <a:solidFill>
                      <a:srgbClr val="F1F5F9"/>
                    </a:solidFill>
                  </a:tcPr>
                </a:tc>
                <a:tc>
                  <a:txBody>
                    <a:bodyPr/>
                    <a:lstStyle/>
                    <a:p>
                      <a:pPr algn="l">
                        <a:defRPr sz="900">
                          <a:solidFill>
                            <a:srgbClr val="64748B"/>
                          </a:solidFill>
                          <a:latin typeface="Segoe UI"/>
                        </a:defRPr>
                      </a:pPr>
                      <a:r>
                        <a:t>DEFAULT 1</a:t>
                      </a:r>
                    </a:p>
                  </a:txBody>
                  <a:tcPr anchor="ctr">
                    <a:solidFill>
                      <a:srgbClr val="F1F5F9"/>
                    </a:solidFill>
                  </a:tcPr>
                </a:tc>
                <a:tc>
                  <a:txBody>
                    <a:bodyPr/>
                    <a:lstStyle/>
                    <a:p>
                      <a:pPr algn="l">
                        <a:defRPr sz="900">
                          <a:solidFill>
                            <a:srgbClr val="0F172A"/>
                          </a:solidFill>
                          <a:latin typeface="Segoe UI"/>
                        </a:defRPr>
                      </a:pPr>
                      <a:r>
                        <a:t>Tracks concurrent active web portal logins for security monitoring.</a:t>
                      </a:r>
                    </a:p>
                  </a:txBody>
                  <a:tcPr anchor="ctr">
                    <a:solidFill>
                      <a:srgbClr val="F1F5F9"/>
                    </a:solidFill>
                  </a:tcPr>
                </a:tc>
              </a:tr>
              <a:tr h="256032">
                <a:tc>
                  <a:txBody>
                    <a:bodyPr/>
                    <a:lstStyle/>
                    <a:p>
                      <a:pPr algn="l">
                        <a:defRPr sz="900" b="1">
                          <a:solidFill>
                            <a:srgbClr val="1E3A8A"/>
                          </a:solidFill>
                          <a:latin typeface="Segoe UI"/>
                        </a:defRPr>
                      </a:pPr>
                      <a:r>
                        <a:t>doj / dor</a:t>
                      </a:r>
                    </a:p>
                  </a:txBody>
                  <a:tcPr anchor="ctr">
                    <a:solidFill>
                      <a:srgbClr val="FFFFFF"/>
                    </a:solidFill>
                  </a:tcPr>
                </a:tc>
                <a:tc>
                  <a:txBody>
                    <a:bodyPr/>
                    <a:lstStyle/>
                    <a:p>
                      <a:pPr algn="l">
                        <a:defRPr sz="900">
                          <a:solidFill>
                            <a:srgbClr val="4F46E5"/>
                          </a:solidFill>
                          <a:latin typeface="Segoe UI"/>
                        </a:defRPr>
                      </a:pPr>
                      <a:r>
                        <a:t>DATE</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Date of Joining (DOJ) and Date of Resignation / Renewal (DOR).</a:t>
                      </a:r>
                    </a:p>
                  </a:txBody>
                  <a:tcPr anchor="ctr">
                    <a:solidFill>
                      <a:srgbClr val="FFFFFF"/>
                    </a:solidFill>
                  </a:tcPr>
                </a:tc>
              </a:tr>
              <a:tr h="256032">
                <a:tc>
                  <a:txBody>
                    <a:bodyPr/>
                    <a:lstStyle/>
                    <a:p>
                      <a:pPr algn="l">
                        <a:defRPr sz="900" b="1">
                          <a:solidFill>
                            <a:srgbClr val="1E3A8A"/>
                          </a:solidFill>
                          <a:latin typeface="Segoe UI"/>
                        </a:defRPr>
                      </a:pPr>
                      <a:r>
                        <a:t>isblocked</a:t>
                      </a:r>
                    </a:p>
                  </a:txBody>
                  <a:tcPr anchor="ctr">
                    <a:solidFill>
                      <a:srgbClr val="F1F5F9"/>
                    </a:solidFill>
                  </a:tcPr>
                </a:tc>
                <a:tc>
                  <a:txBody>
                    <a:bodyPr/>
                    <a:lstStyle/>
                    <a:p>
                      <a:pPr algn="l">
                        <a:defRPr sz="900">
                          <a:solidFill>
                            <a:srgbClr val="4F46E5"/>
                          </a:solidFill>
                          <a:latin typeface="Segoe UI"/>
                        </a:defRPr>
                      </a:pPr>
                      <a:r>
                        <a:t>BOOLEAN</a:t>
                      </a:r>
                    </a:p>
                  </a:txBody>
                  <a:tcPr anchor="ctr">
                    <a:solidFill>
                      <a:srgbClr val="F1F5F9"/>
                    </a:solidFill>
                  </a:tcPr>
                </a:tc>
                <a:tc>
                  <a:txBody>
                    <a:bodyPr/>
                    <a:lstStyle/>
                    <a:p>
                      <a:pPr algn="l">
                        <a:defRPr sz="900">
                          <a:solidFill>
                            <a:srgbClr val="64748B"/>
                          </a:solidFill>
                          <a:latin typeface="Segoe UI"/>
                        </a:defRPr>
                      </a:pPr>
                      <a:r>
                        <a:t>DEFAULT FALSE</a:t>
                      </a:r>
                    </a:p>
                  </a:txBody>
                  <a:tcPr anchor="ctr">
                    <a:solidFill>
                      <a:srgbClr val="F1F5F9"/>
                    </a:solidFill>
                  </a:tcPr>
                </a:tc>
                <a:tc>
                  <a:txBody>
                    <a:bodyPr/>
                    <a:lstStyle/>
                    <a:p>
                      <a:pPr algn="l">
                        <a:defRPr sz="900">
                          <a:solidFill>
                            <a:srgbClr val="0F172A"/>
                          </a:solidFill>
                          <a:latin typeface="Segoe UI"/>
                        </a:defRPr>
                      </a:pPr>
                      <a:r>
                        <a:t>Immediate security flag to restrict compromised admin accounts.</a:t>
                      </a:r>
                    </a:p>
                  </a:txBody>
                  <a:tcPr anchor="ctr">
                    <a:solidFill>
                      <a:srgbClr val="F1F5F9"/>
                    </a:solidFill>
                  </a:tcPr>
                </a:tc>
              </a:tr>
              <a:tr h="256032">
                <a:tc>
                  <a:txBody>
                    <a:bodyPr/>
                    <a:lstStyle/>
                    <a:p>
                      <a:pPr algn="l">
                        <a:defRPr sz="900" b="1">
                          <a:solidFill>
                            <a:srgbClr val="1E3A8A"/>
                          </a:solidFill>
                          <a:latin typeface="Segoe UI"/>
                        </a:defRPr>
                      </a:pPr>
                      <a:r>
                        <a:t>lastloginat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Audit timestamp recording the user's most recent successful portal login.</a:t>
                      </a:r>
                    </a:p>
                  </a:txBody>
                  <a:tcPr anchor="ctr">
                    <a:solidFill>
                      <a:srgbClr val="FFFFFF"/>
                    </a:solidFill>
                  </a:tcPr>
                </a:tc>
              </a:tr>
              <a:tr h="256032">
                <a:tc>
                  <a:txBody>
                    <a:bodyPr/>
                    <a:lstStyle/>
                    <a:p>
                      <a:pPr algn="l">
                        <a:defRPr sz="900" b="1">
                          <a:solidFill>
                            <a:srgbClr val="1E3A8A"/>
                          </a:solidFill>
                          <a:latin typeface="Segoe UI"/>
                        </a:defRPr>
                      </a:pPr>
                      <a:r>
                        <a:t>timestamps</a:t>
                      </a:r>
                    </a:p>
                  </a:txBody>
                  <a:tcPr anchor="ctr">
                    <a:solidFill>
                      <a:srgbClr val="F1F5F9"/>
                    </a:solidFill>
                  </a:tcPr>
                </a:tc>
                <a:tc>
                  <a:txBody>
                    <a:bodyPr/>
                    <a:lstStyle/>
                    <a:p>
                      <a:pPr algn="l">
                        <a:defRPr sz="900">
                          <a:solidFill>
                            <a:srgbClr val="4F46E5"/>
                          </a:solidFill>
                          <a:latin typeface="Segoe UI"/>
                        </a:defRPr>
                      </a:pPr>
                      <a:r>
                        <a:t>TIMESTAMP</a:t>
                      </a:r>
                    </a:p>
                  </a:txBody>
                  <a:tcPr anchor="ctr">
                    <a:solidFill>
                      <a:srgbClr val="F1F5F9"/>
                    </a:solidFill>
                  </a:tcPr>
                </a:tc>
                <a:tc>
                  <a:txBody>
                    <a:bodyPr/>
                    <a:lstStyle/>
                    <a:p>
                      <a:pPr algn="l">
                        <a:defRPr sz="900">
                          <a:solidFill>
                            <a:srgbClr val="64748B"/>
                          </a:solidFill>
                          <a:latin typeface="Segoe UI"/>
                        </a:defRPr>
                      </a:pPr>
                      <a:r>
                        <a:t>created_at, updated_at</a:t>
                      </a:r>
                    </a:p>
                  </a:txBody>
                  <a:tcPr anchor="ctr">
                    <a:solidFill>
                      <a:srgbClr val="F1F5F9"/>
                    </a:solidFill>
                  </a:tcPr>
                </a:tc>
                <a:tc>
                  <a:txBody>
                    <a:bodyPr/>
                    <a:lstStyle/>
                    <a:p>
                      <a:pPr algn="l">
                        <a:defRPr sz="900">
                          <a:solidFill>
                            <a:srgbClr val="0F172A"/>
                          </a:solidFill>
                          <a:latin typeface="Segoe UI"/>
                        </a:defRPr>
                      </a:pPr>
                      <a:r>
                        <a:t>Standard Laravel audit timestamps for record creation and updates.</a:t>
                      </a:r>
                    </a:p>
                  </a:txBody>
                  <a:tcPr anchor="ctr">
                    <a:solidFill>
                      <a:srgbClr val="F1F5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MOBILE CLIENT REGISTRY</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devices (Part 1: Hardware &amp; Client Identity)</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Registers every GeoCam mobile app installation. Captures hardware identifiers, device architecture, operating system versions, and app release builds to power segmentation filters and monitor app adoption.</a:t>
            </a:r>
          </a:p>
        </p:txBody>
      </p:sp>
      <p:graphicFrame>
        <p:nvGraphicFramePr>
          <p:cNvPr id="8" name="Table 7"/>
          <p:cNvGraphicFramePr>
            <a:graphicFrameLocks noGrp="1"/>
          </p:cNvGraphicFramePr>
          <p:nvPr/>
        </p:nvGraphicFramePr>
        <p:xfrm>
          <a:off x="548640" y="1737360"/>
          <a:ext cx="11094415" cy="4416552"/>
        </p:xfrm>
        <a:graphic>
          <a:graphicData uri="http://schemas.openxmlformats.org/drawingml/2006/table">
            <a:tbl>
              <a:tblPr firstRow="1" bandRow="1">
                <a:tableStyleId>{5C22544A-7EE6-4342-B048-85BDC9FD1C3A}</a:tableStyleId>
              </a:tblPr>
              <a:tblGrid>
                <a:gridCol w="2011680"/>
                <a:gridCol w="1463040"/>
                <a:gridCol w="1645920"/>
                <a:gridCol w="597377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Primary key uniquely identifying the physical device installation record.</a:t>
                      </a:r>
                    </a:p>
                  </a:txBody>
                  <a:tcPr anchor="ctr">
                    <a:solidFill>
                      <a:srgbClr val="FFFFFF"/>
                    </a:solidFill>
                  </a:tcPr>
                </a:tc>
              </a:tr>
              <a:tr h="256032">
                <a:tc>
                  <a:txBody>
                    <a:bodyPr/>
                    <a:lstStyle/>
                    <a:p>
                      <a:pPr algn="l">
                        <a:defRPr sz="900" b="1">
                          <a:solidFill>
                            <a:srgbClr val="1E3A8A"/>
                          </a:solidFill>
                          <a:latin typeface="Segoe UI"/>
                        </a:defRPr>
                      </a:pPr>
                      <a:r>
                        <a:t>installation_id</a:t>
                      </a:r>
                    </a:p>
                  </a:txBody>
                  <a:tcPr anchor="ctr">
                    <a:solidFill>
                      <a:srgbClr val="F1F5F9"/>
                    </a:solidFill>
                  </a:tcPr>
                </a:tc>
                <a:tc>
                  <a:txBody>
                    <a:bodyPr/>
                    <a:lstStyle/>
                    <a:p>
                      <a:pPr algn="l">
                        <a:defRPr sz="900">
                          <a:solidFill>
                            <a:srgbClr val="4F46E5"/>
                          </a:solidFill>
                          <a:latin typeface="Segoe UI"/>
                        </a:defRPr>
                      </a:pPr>
                      <a:r>
                        <a:t>VARCHAR(64)</a:t>
                      </a:r>
                    </a:p>
                  </a:txBody>
                  <a:tcPr anchor="ctr">
                    <a:solidFill>
                      <a:srgbClr val="F1F5F9"/>
                    </a:solidFill>
                  </a:tcPr>
                </a:tc>
                <a:tc>
                  <a:txBody>
                    <a:bodyPr/>
                    <a:lstStyle/>
                    <a:p>
                      <a:pPr algn="l">
                        <a:defRPr sz="900">
                          <a:solidFill>
                            <a:srgbClr val="059669"/>
                          </a:solidFill>
                          <a:latin typeface="Segoe UI"/>
                        </a:defRPr>
                      </a:pPr>
                      <a:r>
                        <a:t>UNIQUE, INDEX, NOT NULL</a:t>
                      </a:r>
                    </a:p>
                  </a:txBody>
                  <a:tcPr anchor="ctr">
                    <a:solidFill>
                      <a:srgbClr val="F1F5F9"/>
                    </a:solidFill>
                  </a:tcPr>
                </a:tc>
                <a:tc>
                  <a:txBody>
                    <a:bodyPr/>
                    <a:lstStyle/>
                    <a:p>
                      <a:pPr algn="l">
                        <a:defRPr sz="900">
                          <a:solidFill>
                            <a:srgbClr val="0F172A"/>
                          </a:solidFill>
                          <a:latin typeface="Segoe UI"/>
                        </a:defRPr>
                      </a:pPr>
                      <a:r>
                        <a:t>App-generated client install ID (e.g. INS-8F29A1) persistent across launches.</a:t>
                      </a:r>
                    </a:p>
                  </a:txBody>
                  <a:tcPr anchor="ctr">
                    <a:solidFill>
                      <a:srgbClr val="F1F5F9"/>
                    </a:solidFill>
                  </a:tcPr>
                </a:tc>
              </a:tr>
              <a:tr h="256032">
                <a:tc>
                  <a:txBody>
                    <a:bodyPr/>
                    <a:lstStyle/>
                    <a:p>
                      <a:pPr algn="l">
                        <a:defRPr sz="900" b="1">
                          <a:solidFill>
                            <a:srgbClr val="1E3A8A"/>
                          </a:solidFill>
                          <a:latin typeface="Segoe UI"/>
                        </a:defRPr>
                      </a:pPr>
                      <a:r>
                        <a:t>firebase_installation_id</a:t>
                      </a:r>
                    </a:p>
                  </a:txBody>
                  <a:tcPr anchor="ctr">
                    <a:solidFill>
                      <a:srgbClr val="FFFFFF"/>
                    </a:solidFill>
                  </a:tcPr>
                </a:tc>
                <a:tc>
                  <a:txBody>
                    <a:bodyPr/>
                    <a:lstStyle/>
                    <a:p>
                      <a:pPr algn="l">
                        <a:defRPr sz="900">
                          <a:solidFill>
                            <a:srgbClr val="4F46E5"/>
                          </a:solidFill>
                          <a:latin typeface="Segoe UI"/>
                        </a:defRPr>
                      </a:pPr>
                      <a:r>
                        <a:t>VARCHAR(64)</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Firebase Installation ID (FID) linking device to Firebase client instances.</a:t>
                      </a:r>
                    </a:p>
                  </a:txBody>
                  <a:tcPr anchor="ctr">
                    <a:solidFill>
                      <a:srgbClr val="FFFFFF"/>
                    </a:solidFill>
                  </a:tcPr>
                </a:tc>
              </a:tr>
              <a:tr h="256032">
                <a:tc>
                  <a:txBody>
                    <a:bodyPr/>
                    <a:lstStyle/>
                    <a:p>
                      <a:pPr algn="l">
                        <a:defRPr sz="900" b="1">
                          <a:solidFill>
                            <a:srgbClr val="1E3A8A"/>
                          </a:solidFill>
                          <a:latin typeface="Segoe UI"/>
                        </a:defRPr>
                      </a:pPr>
                      <a:r>
                        <a:t>hardware_id</a:t>
                      </a:r>
                    </a:p>
                  </a:txBody>
                  <a:tcPr anchor="ctr">
                    <a:solidFill>
                      <a:srgbClr val="F1F5F9"/>
                    </a:solidFill>
                  </a:tcPr>
                </a:tc>
                <a:tc>
                  <a:txBody>
                    <a:bodyPr/>
                    <a:lstStyle/>
                    <a:p>
                      <a:pPr algn="l">
                        <a:defRPr sz="900">
                          <a:solidFill>
                            <a:srgbClr val="4F46E5"/>
                          </a:solidFill>
                          <a:latin typeface="Segoe UI"/>
                        </a:defRPr>
                      </a:pPr>
                      <a:r>
                        <a:t>VARCHAR(128)</a:t>
                      </a:r>
                    </a:p>
                  </a:txBody>
                  <a:tcPr anchor="ctr">
                    <a:solidFill>
                      <a:srgbClr val="F1F5F9"/>
                    </a:solidFill>
                  </a:tcPr>
                </a:tc>
                <a:tc>
                  <a:txBody>
                    <a:bodyPr/>
                    <a:lstStyle/>
                    <a:p>
                      <a:pPr algn="l">
                        <a:defRPr sz="900">
                          <a:solidFill>
                            <a:srgbClr val="64748B"/>
                          </a:solidFill>
                          <a:latin typeface="Segoe UI"/>
                        </a:defRPr>
                      </a:pPr>
                      <a:r>
                        <a:t>INDEX, NULL</a:t>
                      </a:r>
                    </a:p>
                  </a:txBody>
                  <a:tcPr anchor="ctr">
                    <a:solidFill>
                      <a:srgbClr val="F1F5F9"/>
                    </a:solidFill>
                  </a:tcPr>
                </a:tc>
                <a:tc>
                  <a:txBody>
                    <a:bodyPr/>
                    <a:lstStyle/>
                    <a:p>
                      <a:pPr algn="l">
                        <a:defRPr sz="900">
                          <a:solidFill>
                            <a:srgbClr val="0F172A"/>
                          </a:solidFill>
                          <a:latin typeface="Segoe UI"/>
                        </a:defRPr>
                      </a:pPr>
                      <a:r>
                        <a:t>Persistent OS hardware token (Android ID / iOS IDFV) to identify reinstalls.</a:t>
                      </a:r>
                    </a:p>
                  </a:txBody>
                  <a:tcPr anchor="ctr">
                    <a:solidFill>
                      <a:srgbClr val="F1F5F9"/>
                    </a:solidFill>
                  </a:tcPr>
                </a:tc>
              </a:tr>
              <a:tr h="256032">
                <a:tc>
                  <a:txBody>
                    <a:bodyPr/>
                    <a:lstStyle/>
                    <a:p>
                      <a:pPr algn="l">
                        <a:defRPr sz="900" b="1">
                          <a:solidFill>
                            <a:srgbClr val="1E3A8A"/>
                          </a:solidFill>
                          <a:latin typeface="Segoe UI"/>
                        </a:defRPr>
                      </a:pPr>
                      <a:r>
                        <a:t>fcm_token</a:t>
                      </a:r>
                    </a:p>
                  </a:txBody>
                  <a:tcPr anchor="ctr">
                    <a:solidFill>
                      <a:srgbClr val="FFFFFF"/>
                    </a:solidFill>
                  </a:tcPr>
                </a:tc>
                <a:tc>
                  <a:txBody>
                    <a:bodyPr/>
                    <a:lstStyle/>
                    <a:p>
                      <a:pPr algn="l">
                        <a:defRPr sz="900">
                          <a:solidFill>
                            <a:srgbClr val="4F46E5"/>
                          </a:solidFill>
                          <a:latin typeface="Segoe UI"/>
                        </a:defRPr>
                      </a:pPr>
                      <a:r>
                        <a:t>TEXT</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Google Firebase Cloud Messaging registration token for delivering push messages.</a:t>
                      </a:r>
                    </a:p>
                  </a:txBody>
                  <a:tcPr anchor="ctr">
                    <a:solidFill>
                      <a:srgbClr val="FFFFFF"/>
                    </a:solidFill>
                  </a:tcPr>
                </a:tc>
              </a:tr>
              <a:tr h="256032">
                <a:tc>
                  <a:txBody>
                    <a:bodyPr/>
                    <a:lstStyle/>
                    <a:p>
                      <a:pPr algn="l">
                        <a:defRPr sz="900" b="1">
                          <a:solidFill>
                            <a:srgbClr val="1E3A8A"/>
                          </a:solidFill>
                          <a:latin typeface="Segoe UI"/>
                        </a:defRPr>
                      </a:pPr>
                      <a:r>
                        <a:t>device_manufacturer</a:t>
                      </a:r>
                    </a:p>
                  </a:txBody>
                  <a:tcPr anchor="ctr">
                    <a:solidFill>
                      <a:srgbClr val="F1F5F9"/>
                    </a:solidFill>
                  </a:tcPr>
                </a:tc>
                <a:tc>
                  <a:txBody>
                    <a:bodyPr/>
                    <a:lstStyle/>
                    <a:p>
                      <a:pPr algn="l">
                        <a:defRPr sz="900">
                          <a:solidFill>
                            <a:srgbClr val="4F46E5"/>
                          </a:solidFill>
                          <a:latin typeface="Segoe UI"/>
                        </a:defRPr>
                      </a:pPr>
                      <a:r>
                        <a:t>VARCHAR(50)</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Hardware manufacturer (e.g. Samsung, Apple, Xiaomi, Google, OnePlus).</a:t>
                      </a:r>
                    </a:p>
                  </a:txBody>
                  <a:tcPr anchor="ctr">
                    <a:solidFill>
                      <a:srgbClr val="F1F5F9"/>
                    </a:solidFill>
                  </a:tcPr>
                </a:tc>
              </a:tr>
              <a:tr h="256032">
                <a:tc>
                  <a:txBody>
                    <a:bodyPr/>
                    <a:lstStyle/>
                    <a:p>
                      <a:pPr algn="l">
                        <a:defRPr sz="900" b="1">
                          <a:solidFill>
                            <a:srgbClr val="1E3A8A"/>
                          </a:solidFill>
                          <a:latin typeface="Segoe UI"/>
                        </a:defRPr>
                      </a:pPr>
                      <a:r>
                        <a:t>device_brand</a:t>
                      </a:r>
                    </a:p>
                  </a:txBody>
                  <a:tcPr anchor="ctr">
                    <a:solidFill>
                      <a:srgbClr val="FFFFFF"/>
                    </a:solidFill>
                  </a:tcPr>
                </a:tc>
                <a:tc>
                  <a:txBody>
                    <a:bodyPr/>
                    <a:lstStyle/>
                    <a:p>
                      <a:pPr algn="l">
                        <a:defRPr sz="900">
                          <a:solidFill>
                            <a:srgbClr val="4F46E5"/>
                          </a:solidFill>
                          <a:latin typeface="Segoe UI"/>
                        </a:defRPr>
                      </a:pPr>
                      <a:r>
                        <a:t>VARCHAR(50)</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Marketing brand name of the device manufacturer.</a:t>
                      </a:r>
                    </a:p>
                  </a:txBody>
                  <a:tcPr anchor="ctr">
                    <a:solidFill>
                      <a:srgbClr val="FFFFFF"/>
                    </a:solidFill>
                  </a:tcPr>
                </a:tc>
              </a:tr>
              <a:tr h="256032">
                <a:tc>
                  <a:txBody>
                    <a:bodyPr/>
                    <a:lstStyle/>
                    <a:p>
                      <a:pPr algn="l">
                        <a:defRPr sz="900" b="1">
                          <a:solidFill>
                            <a:srgbClr val="1E3A8A"/>
                          </a:solidFill>
                          <a:latin typeface="Segoe UI"/>
                        </a:defRPr>
                      </a:pPr>
                      <a:r>
                        <a:t>device_model</a:t>
                      </a:r>
                    </a:p>
                  </a:txBody>
                  <a:tcPr anchor="ctr">
                    <a:solidFill>
                      <a:srgbClr val="F1F5F9"/>
                    </a:solidFill>
                  </a:tcPr>
                </a:tc>
                <a:tc>
                  <a:txBody>
                    <a:bodyPr/>
                    <a:lstStyle/>
                    <a:p>
                      <a:pPr algn="l">
                        <a:defRPr sz="900">
                          <a:solidFill>
                            <a:srgbClr val="4F46E5"/>
                          </a:solidFill>
                          <a:latin typeface="Segoe UI"/>
                        </a:defRPr>
                      </a:pPr>
                      <a:r>
                        <a:t>VARCHAR(100)</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Consumer model name (e.g. Galaxy S24 Ultra, iPhone 16 Pro, Redmi Note 13).</a:t>
                      </a:r>
                    </a:p>
                  </a:txBody>
                  <a:tcPr anchor="ctr">
                    <a:solidFill>
                      <a:srgbClr val="F1F5F9"/>
                    </a:solidFill>
                  </a:tcPr>
                </a:tc>
              </a:tr>
              <a:tr h="256032">
                <a:tc>
                  <a:txBody>
                    <a:bodyPr/>
                    <a:lstStyle/>
                    <a:p>
                      <a:pPr algn="l">
                        <a:defRPr sz="900" b="1">
                          <a:solidFill>
                            <a:srgbClr val="1E3A8A"/>
                          </a:solidFill>
                          <a:latin typeface="Segoe UI"/>
                        </a:defRPr>
                      </a:pPr>
                      <a:r>
                        <a:t>device_code</a:t>
                      </a:r>
                    </a:p>
                  </a:txBody>
                  <a:tcPr anchor="ctr">
                    <a:solidFill>
                      <a:srgbClr val="FFFFFF"/>
                    </a:solidFill>
                  </a:tcPr>
                </a:tc>
                <a:tc>
                  <a:txBody>
                    <a:bodyPr/>
                    <a:lstStyle/>
                    <a:p>
                      <a:pPr algn="l">
                        <a:defRPr sz="900">
                          <a:solidFill>
                            <a:srgbClr val="4F46E5"/>
                          </a:solidFill>
                          <a:latin typeface="Segoe UI"/>
                        </a:defRPr>
                      </a:pPr>
                      <a:r>
                        <a:t>VARCHAR(50)</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Internal hardware code / board identifier (e.g. SM-S921B, iPhone16,1).</a:t>
                      </a:r>
                    </a:p>
                  </a:txBody>
                  <a:tcPr anchor="ctr">
                    <a:solidFill>
                      <a:srgbClr val="FFFFFF"/>
                    </a:solidFill>
                  </a:tcPr>
                </a:tc>
              </a:tr>
              <a:tr h="256032">
                <a:tc>
                  <a:txBody>
                    <a:bodyPr/>
                    <a:lstStyle/>
                    <a:p>
                      <a:pPr algn="l">
                        <a:defRPr sz="900" b="1">
                          <a:solidFill>
                            <a:srgbClr val="1E3A8A"/>
                          </a:solidFill>
                          <a:latin typeface="Segoe UI"/>
                        </a:defRPr>
                      </a:pPr>
                      <a:r>
                        <a:t>cpu_architecture</a:t>
                      </a:r>
                    </a:p>
                  </a:txBody>
                  <a:tcPr anchor="ctr">
                    <a:solidFill>
                      <a:srgbClr val="F1F5F9"/>
                    </a:solidFill>
                  </a:tcPr>
                </a:tc>
                <a:tc>
                  <a:txBody>
                    <a:bodyPr/>
                    <a:lstStyle/>
                    <a:p>
                      <a:pPr algn="l">
                        <a:defRPr sz="900">
                          <a:solidFill>
                            <a:srgbClr val="4F46E5"/>
                          </a:solidFill>
                          <a:latin typeface="Segoe UI"/>
                        </a:defRPr>
                      </a:pPr>
                      <a:r>
                        <a:t>VARCHAR(30)</a:t>
                      </a:r>
                    </a:p>
                  </a:txBody>
                  <a:tcPr anchor="ctr">
                    <a:solidFill>
                      <a:srgbClr val="F1F5F9"/>
                    </a:solidFill>
                  </a:tcPr>
                </a:tc>
                <a:tc>
                  <a:txBody>
                    <a:bodyPr/>
                    <a:lstStyle/>
                    <a:p>
                      <a:pPr algn="l">
                        <a:defRPr sz="900">
                          <a:solidFill>
                            <a:srgbClr val="64748B"/>
                          </a:solidFill>
                          <a:latin typeface="Segoe UI"/>
                        </a:defRPr>
                      </a:pPr>
                      <a:r>
                        <a:t>DEFAULT 'arm64-v8a'</a:t>
                      </a:r>
                    </a:p>
                  </a:txBody>
                  <a:tcPr anchor="ctr">
                    <a:solidFill>
                      <a:srgbClr val="F1F5F9"/>
                    </a:solidFill>
                  </a:tcPr>
                </a:tc>
                <a:tc>
                  <a:txBody>
                    <a:bodyPr/>
                    <a:lstStyle/>
                    <a:p>
                      <a:pPr algn="l">
                        <a:defRPr sz="900">
                          <a:solidFill>
                            <a:srgbClr val="0F172A"/>
                          </a:solidFill>
                          <a:latin typeface="Segoe UI"/>
                        </a:defRPr>
                      </a:pPr>
                      <a:r>
                        <a:t>Processor architecture (arm64-v8a, armeabi-v7a, x86_64) for build targeting.</a:t>
                      </a:r>
                    </a:p>
                  </a:txBody>
                  <a:tcPr anchor="ctr">
                    <a:solidFill>
                      <a:srgbClr val="F1F5F9"/>
                    </a:solidFill>
                  </a:tcPr>
                </a:tc>
              </a:tr>
              <a:tr h="256032">
                <a:tc>
                  <a:txBody>
                    <a:bodyPr/>
                    <a:lstStyle/>
                    <a:p>
                      <a:pPr algn="l">
                        <a:defRPr sz="900" b="1">
                          <a:solidFill>
                            <a:srgbClr val="1E3A8A"/>
                          </a:solidFill>
                          <a:latin typeface="Segoe UI"/>
                        </a:defRPr>
                      </a:pPr>
                      <a:r>
                        <a:t>platform</a:t>
                      </a:r>
                    </a:p>
                  </a:txBody>
                  <a:tcPr anchor="ctr">
                    <a:solidFill>
                      <a:srgbClr val="FFFFFF"/>
                    </a:solidFill>
                  </a:tcPr>
                </a:tc>
                <a:tc>
                  <a:txBody>
                    <a:bodyPr/>
                    <a:lstStyle/>
                    <a:p>
                      <a:pPr algn="l">
                        <a:defRPr sz="900">
                          <a:solidFill>
                            <a:srgbClr val="4F46E5"/>
                          </a:solidFill>
                          <a:latin typeface="Segoe UI"/>
                        </a:defRPr>
                      </a:pPr>
                      <a:r>
                        <a:t>ENUM('Android','iOS')</a:t>
                      </a:r>
                    </a:p>
                  </a:txBody>
                  <a:tcPr anchor="ctr">
                    <a:solidFill>
                      <a:srgbClr val="FFFFFF"/>
                    </a:solidFill>
                  </a:tcPr>
                </a:tc>
                <a:tc>
                  <a:txBody>
                    <a:bodyPr/>
                    <a:lstStyle/>
                    <a:p>
                      <a:pPr algn="l">
                        <a:defRPr sz="900">
                          <a:solidFill>
                            <a:srgbClr val="64748B"/>
                          </a:solidFill>
                          <a:latin typeface="Segoe UI"/>
                        </a:defRPr>
                      </a:pPr>
                      <a:r>
                        <a:t>DEFAULT 'Android', INDEX</a:t>
                      </a:r>
                    </a:p>
                  </a:txBody>
                  <a:tcPr anchor="ctr">
                    <a:solidFill>
                      <a:srgbClr val="FFFFFF"/>
                    </a:solidFill>
                  </a:tcPr>
                </a:tc>
                <a:tc>
                  <a:txBody>
                    <a:bodyPr/>
                    <a:lstStyle/>
                    <a:p>
                      <a:pPr algn="l">
                        <a:defRPr sz="900">
                          <a:solidFill>
                            <a:srgbClr val="0F172A"/>
                          </a:solidFill>
                          <a:latin typeface="Segoe UI"/>
                        </a:defRPr>
                      </a:pPr>
                      <a:r>
                        <a:t>Operating system family; crucial filter for notification &amp; segmentation logic.</a:t>
                      </a:r>
                    </a:p>
                  </a:txBody>
                  <a:tcPr anchor="ctr">
                    <a:solidFill>
                      <a:srgbClr val="FFFFFF"/>
                    </a:solidFill>
                  </a:tcPr>
                </a:tc>
              </a:tr>
              <a:tr h="256032">
                <a:tc>
                  <a:txBody>
                    <a:bodyPr/>
                    <a:lstStyle/>
                    <a:p>
                      <a:pPr algn="l">
                        <a:defRPr sz="900" b="1">
                          <a:solidFill>
                            <a:srgbClr val="1E3A8A"/>
                          </a:solidFill>
                          <a:latin typeface="Segoe UI"/>
                        </a:defRPr>
                      </a:pPr>
                      <a:r>
                        <a:t>os_version</a:t>
                      </a:r>
                    </a:p>
                  </a:txBody>
                  <a:tcPr anchor="ctr">
                    <a:solidFill>
                      <a:srgbClr val="F1F5F9"/>
                    </a:solidFill>
                  </a:tcPr>
                </a:tc>
                <a:tc>
                  <a:txBody>
                    <a:bodyPr/>
                    <a:lstStyle/>
                    <a:p>
                      <a:pPr algn="l">
                        <a:defRPr sz="900">
                          <a:solidFill>
                            <a:srgbClr val="4F46E5"/>
                          </a:solidFill>
                          <a:latin typeface="Segoe UI"/>
                        </a:defRPr>
                      </a:pPr>
                      <a:r>
                        <a:t>VARCHAR(30)</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User OS version string (e.g. Android 15, iOS 17.4.1) for compatibility checks.</a:t>
                      </a:r>
                    </a:p>
                  </a:txBody>
                  <a:tcPr anchor="ctr">
                    <a:solidFill>
                      <a:srgbClr val="F1F5F9"/>
                    </a:solidFill>
                  </a:tcPr>
                </a:tc>
              </a:tr>
              <a:tr h="256032">
                <a:tc>
                  <a:txBody>
                    <a:bodyPr/>
                    <a:lstStyle/>
                    <a:p>
                      <a:pPr algn="l">
                        <a:defRPr sz="900" b="1">
                          <a:solidFill>
                            <a:srgbClr val="1E3A8A"/>
                          </a:solidFill>
                          <a:latin typeface="Segoe UI"/>
                        </a:defRPr>
                      </a:pPr>
                      <a:r>
                        <a:t>sdk_version</a:t>
                      </a:r>
                    </a:p>
                  </a:txBody>
                  <a:tcPr anchor="ctr">
                    <a:solidFill>
                      <a:srgbClr val="FFFFFF"/>
                    </a:solidFill>
                  </a:tcPr>
                </a:tc>
                <a:tc>
                  <a:txBody>
                    <a:bodyPr/>
                    <a:lstStyle/>
                    <a:p>
                      <a:pPr algn="l">
                        <a:defRPr sz="900">
                          <a:solidFill>
                            <a:srgbClr val="4F46E5"/>
                          </a:solidFill>
                          <a:latin typeface="Segoe UI"/>
                        </a:defRPr>
                      </a:pPr>
                      <a:r>
                        <a:t>INTEGER</a:t>
                      </a:r>
                    </a:p>
                  </a:txBody>
                  <a:tcPr anchor="ctr">
                    <a:solidFill>
                      <a:srgbClr val="FFFFFF"/>
                    </a:solidFill>
                  </a:tcPr>
                </a:tc>
                <a:tc>
                  <a:txBody>
                    <a:bodyPr/>
                    <a:lstStyle/>
                    <a:p>
                      <a:pPr algn="l">
                        <a:defRPr sz="900">
                          <a:solidFill>
                            <a:srgbClr val="64748B"/>
                          </a:solidFill>
                          <a:latin typeface="Segoe UI"/>
                        </a:defRPr>
                      </a:pPr>
                      <a:r>
                        <a:t>DEFAULT 35, NULL</a:t>
                      </a:r>
                    </a:p>
                  </a:txBody>
                  <a:tcPr anchor="ctr">
                    <a:solidFill>
                      <a:srgbClr val="FFFFFF"/>
                    </a:solidFill>
                  </a:tcPr>
                </a:tc>
                <a:tc>
                  <a:txBody>
                    <a:bodyPr/>
                    <a:lstStyle/>
                    <a:p>
                      <a:pPr algn="l">
                        <a:defRPr sz="900">
                          <a:solidFill>
                            <a:srgbClr val="0F172A"/>
                          </a:solidFill>
                          <a:latin typeface="Segoe UI"/>
                        </a:defRPr>
                      </a:pPr>
                      <a:r>
                        <a:t>Numeric API level / SDK build number (e.g. Android SDK 35) for OS feature gating.</a:t>
                      </a:r>
                    </a:p>
                  </a:txBody>
                  <a:tcPr anchor="ctr">
                    <a:solidFill>
                      <a:srgbClr val="FFFFFF"/>
                    </a:solidFill>
                  </a:tcPr>
                </a:tc>
              </a:tr>
              <a:tr h="256032">
                <a:tc>
                  <a:txBody>
                    <a:bodyPr/>
                    <a:lstStyle/>
                    <a:p>
                      <a:pPr algn="l">
                        <a:defRPr sz="900" b="1">
                          <a:solidFill>
                            <a:srgbClr val="1E3A8A"/>
                          </a:solidFill>
                          <a:latin typeface="Segoe UI"/>
                        </a:defRPr>
                      </a:pPr>
                      <a:r>
                        <a:t>app_version</a:t>
                      </a:r>
                    </a:p>
                  </a:txBody>
                  <a:tcPr anchor="ctr">
                    <a:solidFill>
                      <a:srgbClr val="F1F5F9"/>
                    </a:solidFill>
                  </a:tcPr>
                </a:tc>
                <a:tc>
                  <a:txBody>
                    <a:bodyPr/>
                    <a:lstStyle/>
                    <a:p>
                      <a:pPr algn="l">
                        <a:defRPr sz="900">
                          <a:solidFill>
                            <a:srgbClr val="4F46E5"/>
                          </a:solidFill>
                          <a:latin typeface="Segoe UI"/>
                        </a:defRPr>
                      </a:pPr>
                      <a:r>
                        <a:t>VARCHAR(20)</a:t>
                      </a:r>
                    </a:p>
                  </a:txBody>
                  <a:tcPr anchor="ctr">
                    <a:solidFill>
                      <a:srgbClr val="F1F5F9"/>
                    </a:solidFill>
                  </a:tcPr>
                </a:tc>
                <a:tc>
                  <a:txBody>
                    <a:bodyPr/>
                    <a:lstStyle/>
                    <a:p>
                      <a:pPr algn="l">
                        <a:defRPr sz="900">
                          <a:solidFill>
                            <a:srgbClr val="64748B"/>
                          </a:solidFill>
                          <a:latin typeface="Segoe UI"/>
                        </a:defRPr>
                      </a:pPr>
                      <a:r>
                        <a:t>DEFAULT '1.4.2', INDEX</a:t>
                      </a:r>
                    </a:p>
                  </a:txBody>
                  <a:tcPr anchor="ctr">
                    <a:solidFill>
                      <a:srgbClr val="F1F5F9"/>
                    </a:solidFill>
                  </a:tcPr>
                </a:tc>
                <a:tc>
                  <a:txBody>
                    <a:bodyPr/>
                    <a:lstStyle/>
                    <a:p>
                      <a:pPr algn="l">
                        <a:defRPr sz="900">
                          <a:solidFill>
                            <a:srgbClr val="0F172A"/>
                          </a:solidFill>
                          <a:latin typeface="Segoe UI"/>
                        </a:defRPr>
                      </a:pPr>
                      <a:r>
                        <a:t>Installed GeoCam application semantic version; used to trigger update prompts.</a:t>
                      </a:r>
                    </a:p>
                  </a:txBody>
                  <a:tcPr anchor="ctr">
                    <a:solidFill>
                      <a:srgbClr val="F1F5F9"/>
                    </a:solidFill>
                  </a:tcPr>
                </a:tc>
              </a:tr>
              <a:tr h="256032">
                <a:tc>
                  <a:txBody>
                    <a:bodyPr/>
                    <a:lstStyle/>
                    <a:p>
                      <a:pPr algn="l">
                        <a:defRPr sz="900" b="1">
                          <a:solidFill>
                            <a:srgbClr val="1E3A8A"/>
                          </a:solidFill>
                          <a:latin typeface="Segoe UI"/>
                        </a:defRPr>
                      </a:pPr>
                      <a:r>
                        <a:t>app_build_number</a:t>
                      </a:r>
                    </a:p>
                  </a:txBody>
                  <a:tcPr anchor="ctr">
                    <a:solidFill>
                      <a:srgbClr val="FFFFFF"/>
                    </a:solidFill>
                  </a:tcPr>
                </a:tc>
                <a:tc>
                  <a:txBody>
                    <a:bodyPr/>
                    <a:lstStyle/>
                    <a:p>
                      <a:pPr algn="l">
                        <a:defRPr sz="900">
                          <a:solidFill>
                            <a:srgbClr val="4F46E5"/>
                          </a:solidFill>
                          <a:latin typeface="Segoe UI"/>
                        </a:defRPr>
                      </a:pPr>
                      <a:r>
                        <a:t>INTEGER</a:t>
                      </a:r>
                    </a:p>
                  </a:txBody>
                  <a:tcPr anchor="ctr">
                    <a:solidFill>
                      <a:srgbClr val="FFFFFF"/>
                    </a:solidFill>
                  </a:tcPr>
                </a:tc>
                <a:tc>
                  <a:txBody>
                    <a:bodyPr/>
                    <a:lstStyle/>
                    <a:p>
                      <a:pPr algn="l">
                        <a:defRPr sz="900">
                          <a:solidFill>
                            <a:srgbClr val="64748B"/>
                          </a:solidFill>
                          <a:latin typeface="Segoe UI"/>
                        </a:defRPr>
                      </a:pPr>
                      <a:r>
                        <a:t>DEFAULT 42</a:t>
                      </a:r>
                    </a:p>
                  </a:txBody>
                  <a:tcPr anchor="ctr">
                    <a:solidFill>
                      <a:srgbClr val="FFFFFF"/>
                    </a:solidFill>
                  </a:tcPr>
                </a:tc>
                <a:tc>
                  <a:txBody>
                    <a:bodyPr/>
                    <a:lstStyle/>
                    <a:p>
                      <a:pPr algn="l">
                        <a:defRPr sz="900">
                          <a:solidFill>
                            <a:srgbClr val="0F172A"/>
                          </a:solidFill>
                          <a:latin typeface="Segoe UI"/>
                        </a:defRPr>
                      </a:pPr>
                      <a:r>
                        <a:t>Sequential app compilation build number for fine-grained update tracking.</a:t>
                      </a:r>
                    </a:p>
                  </a:txBody>
                  <a:tcPr anchor="ctr">
                    <a:solidFill>
                      <a:srgbClr val="FFFFFF"/>
                    </a:solidFill>
                  </a:tcPr>
                </a:tc>
              </a:tr>
              <a:tr h="256032">
                <a:tc>
                  <a:txBody>
                    <a:bodyPr/>
                    <a:lstStyle/>
                    <a:p>
                      <a:pPr algn="l">
                        <a:defRPr sz="900" b="1">
                          <a:solidFill>
                            <a:srgbClr val="1E3A8A"/>
                          </a:solidFill>
                          <a:latin typeface="Segoe UI"/>
                        </a:defRPr>
                      </a:pPr>
                      <a:r>
                        <a:t>screen_resolution</a:t>
                      </a:r>
                    </a:p>
                  </a:txBody>
                  <a:tcPr anchor="ctr">
                    <a:solidFill>
                      <a:srgbClr val="F1F5F9"/>
                    </a:solidFill>
                  </a:tcPr>
                </a:tc>
                <a:tc>
                  <a:txBody>
                    <a:bodyPr/>
                    <a:lstStyle/>
                    <a:p>
                      <a:pPr algn="l">
                        <a:defRPr sz="900">
                          <a:solidFill>
                            <a:srgbClr val="4F46E5"/>
                          </a:solidFill>
                          <a:latin typeface="Segoe UI"/>
                        </a:defRPr>
                      </a:pPr>
                      <a:r>
                        <a:t>VARCHAR(30)</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Display pixel matrix (e.g. 1080 x 2340) for camera aspect ratio optimization.</a:t>
                      </a:r>
                    </a:p>
                  </a:txBody>
                  <a:tcPr anchor="ctr">
                    <a:solidFill>
                      <a:srgbClr val="F1F5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MOBILE CLIENT REGISTRY</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devices (Part 2: Geo, Permissions &amp; Telemetry)</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Maintains live telemetry: GPS latitude/longitude coordinates, OS permission grants (Camera, Location, Push), notification token freshness, engagement counts (photos taken, sessions), and device active/blacklisted states.</a:t>
            </a:r>
          </a:p>
        </p:txBody>
      </p:sp>
      <p:graphicFrame>
        <p:nvGraphicFramePr>
          <p:cNvPr id="8" name="Table 7"/>
          <p:cNvGraphicFramePr>
            <a:graphicFrameLocks noGrp="1"/>
          </p:cNvGraphicFramePr>
          <p:nvPr/>
        </p:nvGraphicFramePr>
        <p:xfrm>
          <a:off x="548640" y="1737360"/>
          <a:ext cx="11094415" cy="4416552"/>
        </p:xfrm>
        <a:graphic>
          <a:graphicData uri="http://schemas.openxmlformats.org/drawingml/2006/table">
            <a:tbl>
              <a:tblPr firstRow="1" bandRow="1">
                <a:tableStyleId>{5C22544A-7EE6-4342-B048-85BDC9FD1C3A}</a:tableStyleId>
              </a:tblPr>
              <a:tblGrid>
                <a:gridCol w="2103120"/>
                <a:gridCol w="1463040"/>
                <a:gridCol w="1645920"/>
                <a:gridCol w="588233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ip_address</a:t>
                      </a:r>
                    </a:p>
                  </a:txBody>
                  <a:tcPr anchor="ctr">
                    <a:solidFill>
                      <a:srgbClr val="FFFFFF"/>
                    </a:solidFill>
                  </a:tcPr>
                </a:tc>
                <a:tc>
                  <a:txBody>
                    <a:bodyPr/>
                    <a:lstStyle/>
                    <a:p>
                      <a:pPr algn="l">
                        <a:defRPr sz="900">
                          <a:solidFill>
                            <a:srgbClr val="4F46E5"/>
                          </a:solidFill>
                          <a:latin typeface="Segoe UI"/>
                        </a:defRPr>
                      </a:pPr>
                      <a:r>
                        <a:t>VARCHAR(45)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Most recent client IP address (IPv4 / IPv6) used for geo-fallback lookup.</a:t>
                      </a:r>
                    </a:p>
                  </a:txBody>
                  <a:tcPr anchor="ctr">
                    <a:solidFill>
                      <a:srgbClr val="FFFFFF"/>
                    </a:solidFill>
                  </a:tcPr>
                </a:tc>
              </a:tr>
              <a:tr h="256032">
                <a:tc>
                  <a:txBody>
                    <a:bodyPr/>
                    <a:lstStyle/>
                    <a:p>
                      <a:pPr algn="l">
                        <a:defRPr sz="900" b="1">
                          <a:solidFill>
                            <a:srgbClr val="1E3A8A"/>
                          </a:solidFill>
                          <a:latin typeface="Segoe UI"/>
                        </a:defRPr>
                      </a:pPr>
                      <a:r>
                        <a:t>country / country_code</a:t>
                      </a:r>
                    </a:p>
                  </a:txBody>
                  <a:tcPr anchor="ctr">
                    <a:solidFill>
                      <a:srgbClr val="F1F5F9"/>
                    </a:solidFill>
                  </a:tcPr>
                </a:tc>
                <a:tc>
                  <a:txBody>
                    <a:bodyPr/>
                    <a:lstStyle/>
                    <a:p>
                      <a:pPr algn="l">
                        <a:defRPr sz="900">
                          <a:solidFill>
                            <a:srgbClr val="4F46E5"/>
                          </a:solidFill>
                          <a:latin typeface="Segoe UI"/>
                        </a:defRPr>
                      </a:pPr>
                      <a:r>
                        <a:t>VARCHAR(100) / (5)</a:t>
                      </a:r>
                    </a:p>
                  </a:txBody>
                  <a:tcPr anchor="ctr">
                    <a:solidFill>
                      <a:srgbClr val="F1F5F9"/>
                    </a:solidFill>
                  </a:tcPr>
                </a:tc>
                <a:tc>
                  <a:txBody>
                    <a:bodyPr/>
                    <a:lstStyle/>
                    <a:p>
                      <a:pPr algn="l">
                        <a:defRPr sz="900">
                          <a:solidFill>
                            <a:srgbClr val="64748B"/>
                          </a:solidFill>
                          <a:latin typeface="Segoe UI"/>
                        </a:defRPr>
                      </a:pPr>
                      <a:r>
                        <a:t>NULL (e.g. 'IN', 'US')</a:t>
                      </a:r>
                    </a:p>
                  </a:txBody>
                  <a:tcPr anchor="ctr">
                    <a:solidFill>
                      <a:srgbClr val="F1F5F9"/>
                    </a:solidFill>
                  </a:tcPr>
                </a:tc>
                <a:tc>
                  <a:txBody>
                    <a:bodyPr/>
                    <a:lstStyle/>
                    <a:p>
                      <a:pPr algn="l">
                        <a:defRPr sz="900">
                          <a:solidFill>
                            <a:srgbClr val="0F172A"/>
                          </a:solidFill>
                          <a:latin typeface="Segoe UI"/>
                        </a:defRPr>
                      </a:pPr>
                      <a:r>
                        <a:t>Resolved country name and ISO 2-letter country code for regional targeting.</a:t>
                      </a:r>
                    </a:p>
                  </a:txBody>
                  <a:tcPr anchor="ctr">
                    <a:solidFill>
                      <a:srgbClr val="F1F5F9"/>
                    </a:solidFill>
                  </a:tcPr>
                </a:tc>
              </a:tr>
              <a:tr h="256032">
                <a:tc>
                  <a:txBody>
                    <a:bodyPr/>
                    <a:lstStyle/>
                    <a:p>
                      <a:pPr algn="l">
                        <a:defRPr sz="900" b="1">
                          <a:solidFill>
                            <a:srgbClr val="1E3A8A"/>
                          </a:solidFill>
                          <a:latin typeface="Segoe UI"/>
                        </a:defRPr>
                      </a:pPr>
                      <a:r>
                        <a:t>state / city</a:t>
                      </a:r>
                    </a:p>
                  </a:txBody>
                  <a:tcPr anchor="ctr">
                    <a:solidFill>
                      <a:srgbClr val="FFFFFF"/>
                    </a:solidFill>
                  </a:tcPr>
                </a:tc>
                <a:tc>
                  <a:txBody>
                    <a:bodyPr/>
                    <a:lstStyle/>
                    <a:p>
                      <a:pPr algn="l">
                        <a:defRPr sz="900">
                          <a:solidFill>
                            <a:srgbClr val="4F46E5"/>
                          </a:solidFill>
                          <a:latin typeface="Segoe UI"/>
                        </a:defRPr>
                      </a:pPr>
                      <a:r>
                        <a:t>VARCHAR(100)</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Geocoded administrative state and city from GPS camera capture coordinates.</a:t>
                      </a:r>
                    </a:p>
                  </a:txBody>
                  <a:tcPr anchor="ctr">
                    <a:solidFill>
                      <a:srgbClr val="FFFFFF"/>
                    </a:solidFill>
                  </a:tcPr>
                </a:tc>
              </a:tr>
              <a:tr h="256032">
                <a:tc>
                  <a:txBody>
                    <a:bodyPr/>
                    <a:lstStyle/>
                    <a:p>
                      <a:pPr algn="l">
                        <a:defRPr sz="900" b="1">
                          <a:solidFill>
                            <a:srgbClr val="1E3A8A"/>
                          </a:solidFill>
                          <a:latin typeface="Segoe UI"/>
                        </a:defRPr>
                      </a:pPr>
                      <a:r>
                        <a:t>latitude / longitude</a:t>
                      </a:r>
                    </a:p>
                  </a:txBody>
                  <a:tcPr anchor="ctr">
                    <a:solidFill>
                      <a:srgbClr val="F1F5F9"/>
                    </a:solidFill>
                  </a:tcPr>
                </a:tc>
                <a:tc>
                  <a:txBody>
                    <a:bodyPr/>
                    <a:lstStyle/>
                    <a:p>
                      <a:pPr algn="l">
                        <a:defRPr sz="900">
                          <a:solidFill>
                            <a:srgbClr val="4F46E5"/>
                          </a:solidFill>
                          <a:latin typeface="Segoe UI"/>
                        </a:defRPr>
                      </a:pPr>
                      <a:r>
                        <a:t>DECIMAL(10,8)/(11,8)</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High-precision GPS coordinates of the device's last active camera session.</a:t>
                      </a:r>
                    </a:p>
                  </a:txBody>
                  <a:tcPr anchor="ctr">
                    <a:solidFill>
                      <a:srgbClr val="F1F5F9"/>
                    </a:solidFill>
                  </a:tcPr>
                </a:tc>
              </a:tr>
              <a:tr h="256032">
                <a:tc>
                  <a:txBody>
                    <a:bodyPr/>
                    <a:lstStyle/>
                    <a:p>
                      <a:pPr algn="l">
                        <a:defRPr sz="900" b="1">
                          <a:solidFill>
                            <a:srgbClr val="1E3A8A"/>
                          </a:solidFill>
                          <a:latin typeface="Segoe UI"/>
                        </a:defRPr>
                      </a:pPr>
                      <a:r>
                        <a:t>timezone / language</a:t>
                      </a:r>
                    </a:p>
                  </a:txBody>
                  <a:tcPr anchor="ctr">
                    <a:solidFill>
                      <a:srgbClr val="FFFFFF"/>
                    </a:solidFill>
                  </a:tcPr>
                </a:tc>
                <a:tc>
                  <a:txBody>
                    <a:bodyPr/>
                    <a:lstStyle/>
                    <a:p>
                      <a:pPr algn="l">
                        <a:defRPr sz="900">
                          <a:solidFill>
                            <a:srgbClr val="4F46E5"/>
                          </a:solidFill>
                          <a:latin typeface="Segoe UI"/>
                        </a:defRPr>
                      </a:pPr>
                      <a:r>
                        <a:t>VARCHAR(50) / (30)</a:t>
                      </a:r>
                    </a:p>
                  </a:txBody>
                  <a:tcPr anchor="ctr">
                    <a:solidFill>
                      <a:srgbClr val="FFFFFF"/>
                    </a:solidFill>
                  </a:tcPr>
                </a:tc>
                <a:tc>
                  <a:txBody>
                    <a:bodyPr/>
                    <a:lstStyle/>
                    <a:p>
                      <a:pPr algn="l">
                        <a:defRPr sz="900">
                          <a:solidFill>
                            <a:srgbClr val="64748B"/>
                          </a:solidFill>
                          <a:latin typeface="Segoe UI"/>
                        </a:defRPr>
                      </a:pPr>
                      <a:r>
                        <a:t>DEFAULT Kolkata / Eng</a:t>
                      </a:r>
                    </a:p>
                  </a:txBody>
                  <a:tcPr anchor="ctr">
                    <a:solidFill>
                      <a:srgbClr val="FFFFFF"/>
                    </a:solidFill>
                  </a:tcPr>
                </a:tc>
                <a:tc>
                  <a:txBody>
                    <a:bodyPr/>
                    <a:lstStyle/>
                    <a:p>
                      <a:pPr algn="l">
                        <a:defRPr sz="900">
                          <a:solidFill>
                            <a:srgbClr val="0F172A"/>
                          </a:solidFill>
                          <a:latin typeface="Segoe UI"/>
                        </a:defRPr>
                      </a:pPr>
                      <a:r>
                        <a:t>Client locale and timezone used to deliver push notifications in local time.</a:t>
                      </a:r>
                    </a:p>
                  </a:txBody>
                  <a:tcPr anchor="ctr">
                    <a:solidFill>
                      <a:srgbClr val="FFFFFF"/>
                    </a:solidFill>
                  </a:tcPr>
                </a:tc>
              </a:tr>
              <a:tr h="256032">
                <a:tc>
                  <a:txBody>
                    <a:bodyPr/>
                    <a:lstStyle/>
                    <a:p>
                      <a:pPr algn="l">
                        <a:defRPr sz="900" b="1">
                          <a:solidFill>
                            <a:srgbClr val="1E3A8A"/>
                          </a:solidFill>
                          <a:latin typeface="Segoe UI"/>
                        </a:defRPr>
                      </a:pPr>
                      <a:r>
                        <a:t>permissions</a:t>
                      </a:r>
                    </a:p>
                  </a:txBody>
                  <a:tcPr anchor="ctr">
                    <a:solidFill>
                      <a:srgbClr val="F1F5F9"/>
                    </a:solidFill>
                  </a:tcPr>
                </a:tc>
                <a:tc>
                  <a:txBody>
                    <a:bodyPr/>
                    <a:lstStyle/>
                    <a:p>
                      <a:pPr algn="l">
                        <a:defRPr sz="900">
                          <a:solidFill>
                            <a:srgbClr val="4F46E5"/>
                          </a:solidFill>
                          <a:latin typeface="Segoe UI"/>
                        </a:defRPr>
                      </a:pPr>
                      <a:r>
                        <a:t>JSON</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JSON map of OS runtime permissions (e.g. camera, location, notifications).</a:t>
                      </a:r>
                    </a:p>
                  </a:txBody>
                  <a:tcPr anchor="ctr">
                    <a:solidFill>
                      <a:srgbClr val="F1F5F9"/>
                    </a:solidFill>
                  </a:tcPr>
                </a:tc>
              </a:tr>
              <a:tr h="256032">
                <a:tc>
                  <a:txBody>
                    <a:bodyPr/>
                    <a:lstStyle/>
                    <a:p>
                      <a:pPr algn="l">
                        <a:defRPr sz="900" b="1">
                          <a:solidFill>
                            <a:srgbClr val="1E3A8A"/>
                          </a:solidFill>
                          <a:latin typeface="Segoe UI"/>
                        </a:defRPr>
                      </a:pPr>
                      <a:r>
                        <a:t>permissions_status</a:t>
                      </a:r>
                    </a:p>
                  </a:txBody>
                  <a:tcPr anchor="ctr">
                    <a:solidFill>
                      <a:srgbClr val="FFFFFF"/>
                    </a:solidFill>
                  </a:tcPr>
                </a:tc>
                <a:tc>
                  <a:txBody>
                    <a:bodyPr/>
                    <a:lstStyle/>
                    <a:p>
                      <a:pPr algn="l">
                        <a:defRPr sz="900">
                          <a:solidFill>
                            <a:srgbClr val="4F46E5"/>
                          </a:solidFill>
                          <a:latin typeface="Segoe UI"/>
                        </a:defRPr>
                      </a:pPr>
                      <a:r>
                        <a:t>VARCHAR(100)</a:t>
                      </a:r>
                    </a:p>
                  </a:txBody>
                  <a:tcPr anchor="ctr">
                    <a:solidFill>
                      <a:srgbClr val="FFFFFF"/>
                    </a:solidFill>
                  </a:tcPr>
                </a:tc>
                <a:tc>
                  <a:txBody>
                    <a:bodyPr/>
                    <a:lstStyle/>
                    <a:p>
                      <a:pPr algn="l">
                        <a:defRPr sz="900">
                          <a:solidFill>
                            <a:srgbClr val="64748B"/>
                          </a:solidFill>
                          <a:latin typeface="Segoe UI"/>
                        </a:defRPr>
                      </a:pPr>
                      <a:r>
                        <a:t>DEFAULT Summary</a:t>
                      </a:r>
                    </a:p>
                  </a:txBody>
                  <a:tcPr anchor="ctr">
                    <a:solidFill>
                      <a:srgbClr val="FFFFFF"/>
                    </a:solidFill>
                  </a:tcPr>
                </a:tc>
                <a:tc>
                  <a:txBody>
                    <a:bodyPr/>
                    <a:lstStyle/>
                    <a:p>
                      <a:pPr algn="l">
                        <a:defRPr sz="900">
                          <a:solidFill>
                            <a:srgbClr val="0F172A"/>
                          </a:solidFill>
                          <a:latin typeface="Segoe UI"/>
                        </a:defRPr>
                      </a:pPr>
                      <a:r>
                        <a:t>Human-readable summary string for rapid dashboard table display.</a:t>
                      </a:r>
                    </a:p>
                  </a:txBody>
                  <a:tcPr anchor="ctr">
                    <a:solidFill>
                      <a:srgbClr val="FFFFFF"/>
                    </a:solidFill>
                  </a:tcPr>
                </a:tc>
              </a:tr>
              <a:tr h="256032">
                <a:tc>
                  <a:txBody>
                    <a:bodyPr/>
                    <a:lstStyle/>
                    <a:p>
                      <a:pPr algn="l">
                        <a:defRPr sz="900" b="1">
                          <a:solidFill>
                            <a:srgbClr val="1E3A8A"/>
                          </a:solidFill>
                          <a:latin typeface="Segoe UI"/>
                        </a:defRPr>
                      </a:pPr>
                      <a:r>
                        <a:t>notification_status</a:t>
                      </a:r>
                    </a:p>
                  </a:txBody>
                  <a:tcPr anchor="ctr">
                    <a:solidFill>
                      <a:srgbClr val="F1F5F9"/>
                    </a:solidFill>
                  </a:tcPr>
                </a:tc>
                <a:tc>
                  <a:txBody>
                    <a:bodyPr/>
                    <a:lstStyle/>
                    <a:p>
                      <a:pPr algn="l">
                        <a:defRPr sz="900">
                          <a:solidFill>
                            <a:srgbClr val="4F46E5"/>
                          </a:solidFill>
                          <a:latin typeface="Segoe UI"/>
                        </a:defRPr>
                      </a:pPr>
                      <a:r>
                        <a:t>VARCHAR(30)</a:t>
                      </a:r>
                    </a:p>
                  </a:txBody>
                  <a:tcPr anchor="ctr">
                    <a:solidFill>
                      <a:srgbClr val="F1F5F9"/>
                    </a:solidFill>
                  </a:tcPr>
                </a:tc>
                <a:tc>
                  <a:txBody>
                    <a:bodyPr/>
                    <a:lstStyle/>
                    <a:p>
                      <a:pPr algn="l">
                        <a:defRPr sz="900">
                          <a:solidFill>
                            <a:srgbClr val="64748B"/>
                          </a:solidFill>
                          <a:latin typeface="Segoe UI"/>
                        </a:defRPr>
                      </a:pPr>
                      <a:r>
                        <a:t>DEFAULT 'Enabled'</a:t>
                      </a:r>
                    </a:p>
                  </a:txBody>
                  <a:tcPr anchor="ctr">
                    <a:solidFill>
                      <a:srgbClr val="F1F5F9"/>
                    </a:solidFill>
                  </a:tcPr>
                </a:tc>
                <a:tc>
                  <a:txBody>
                    <a:bodyPr/>
                    <a:lstStyle/>
                    <a:p>
                      <a:pPr algn="l">
                        <a:defRPr sz="900">
                          <a:solidFill>
                            <a:srgbClr val="0F172A"/>
                          </a:solidFill>
                          <a:latin typeface="Segoe UI"/>
                        </a:defRPr>
                      </a:pPr>
                      <a:r>
                        <a:t>Push notification eligibility: 'Enabled', 'Disabled', or 'Invalid Token'.</a:t>
                      </a:r>
                    </a:p>
                  </a:txBody>
                  <a:tcPr anchor="ctr">
                    <a:solidFill>
                      <a:srgbClr val="F1F5F9"/>
                    </a:solidFill>
                  </a:tcPr>
                </a:tc>
              </a:tr>
              <a:tr h="256032">
                <a:tc>
                  <a:txBody>
                    <a:bodyPr/>
                    <a:lstStyle/>
                    <a:p>
                      <a:pPr algn="l">
                        <a:defRPr sz="900" b="1">
                          <a:solidFill>
                            <a:srgbClr val="1E3A8A"/>
                          </a:solidFill>
                          <a:latin typeface="Segoe UI"/>
                        </a:defRPr>
                      </a:pPr>
                      <a:r>
                        <a:t>fcm_token_updated_at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Timestamp when FCM token was last refreshed to detect stale push tokens.</a:t>
                      </a:r>
                    </a:p>
                  </a:txBody>
                  <a:tcPr anchor="ctr">
                    <a:solidFill>
                      <a:srgbClr val="FFFFFF"/>
                    </a:solidFill>
                  </a:tcPr>
                </a:tc>
              </a:tr>
              <a:tr h="256032">
                <a:tc>
                  <a:txBody>
                    <a:bodyPr/>
                    <a:lstStyle/>
                    <a:p>
                      <a:pPr algn="l">
                        <a:defRPr sz="900" b="1">
                          <a:solidFill>
                            <a:srgbClr val="1E3A8A"/>
                          </a:solidFill>
                          <a:latin typeface="Segoe UI"/>
                        </a:defRPr>
                      </a:pPr>
                      <a:r>
                        <a:t>last_notification_delivered_at</a:t>
                      </a:r>
                    </a:p>
                  </a:txBody>
                  <a:tcPr anchor="ctr">
                    <a:solidFill>
                      <a:srgbClr val="F1F5F9"/>
                    </a:solidFill>
                  </a:tcPr>
                </a:tc>
                <a:tc>
                  <a:txBody>
                    <a:bodyPr/>
                    <a:lstStyle/>
                    <a:p>
                      <a:pPr algn="l">
                        <a:defRPr sz="900">
                          <a:solidFill>
                            <a:srgbClr val="4F46E5"/>
                          </a:solidFill>
                          <a:latin typeface="Segoe UI"/>
                        </a:defRPr>
                      </a:pPr>
                      <a:r>
                        <a:t>TIMESTAMP</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Tracks the exact timestamp when a push notification was successfully delivered.</a:t>
                      </a:r>
                    </a:p>
                  </a:txBody>
                  <a:tcPr anchor="ctr">
                    <a:solidFill>
                      <a:srgbClr val="F1F5F9"/>
                    </a:solidFill>
                  </a:tcPr>
                </a:tc>
              </a:tr>
              <a:tr h="256032">
                <a:tc>
                  <a:txBody>
                    <a:bodyPr/>
                    <a:lstStyle/>
                    <a:p>
                      <a:pPr algn="l">
                        <a:defRPr sz="900" b="1">
                          <a:solidFill>
                            <a:srgbClr val="1E3A8A"/>
                          </a:solidFill>
                          <a:latin typeface="Segoe UI"/>
                        </a:defRPr>
                      </a:pPr>
                      <a:r>
                        <a:t>last_notification_opened_at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Tracks when the user clicked/opened a notification to calculate engagement.</a:t>
                      </a:r>
                    </a:p>
                  </a:txBody>
                  <a:tcPr anchor="ctr">
                    <a:solidFill>
                      <a:srgbClr val="FFFFFF"/>
                    </a:solidFill>
                  </a:tcPr>
                </a:tc>
              </a:tr>
              <a:tr h="256032">
                <a:tc>
                  <a:txBody>
                    <a:bodyPr/>
                    <a:lstStyle/>
                    <a:p>
                      <a:pPr algn="l">
                        <a:defRPr sz="900" b="1">
                          <a:solidFill>
                            <a:srgbClr val="1E3A8A"/>
                          </a:solidFill>
                          <a:latin typeface="Segoe UI"/>
                        </a:defRPr>
                      </a:pPr>
                      <a:r>
                        <a:t>total_photos_taken</a:t>
                      </a:r>
                    </a:p>
                  </a:txBody>
                  <a:tcPr anchor="ctr">
                    <a:solidFill>
                      <a:srgbClr val="F1F5F9"/>
                    </a:solidFill>
                  </a:tcPr>
                </a:tc>
                <a:tc>
                  <a:txBody>
                    <a:bodyPr/>
                    <a:lstStyle/>
                    <a:p>
                      <a:pPr algn="l">
                        <a:defRPr sz="900">
                          <a:solidFill>
                            <a:srgbClr val="4F46E5"/>
                          </a:solidFill>
                          <a:latin typeface="Segoe UI"/>
                        </a:defRPr>
                      </a:pPr>
                      <a:r>
                        <a:t>BIGINT UNSIGNED</a:t>
                      </a:r>
                    </a:p>
                  </a:txBody>
                  <a:tcPr anchor="ctr">
                    <a:solidFill>
                      <a:srgbClr val="F1F5F9"/>
                    </a:solidFill>
                  </a:tcPr>
                </a:tc>
                <a:tc>
                  <a:txBody>
                    <a:bodyPr/>
                    <a:lstStyle/>
                    <a:p>
                      <a:pPr algn="l">
                        <a:defRPr sz="900">
                          <a:solidFill>
                            <a:srgbClr val="64748B"/>
                          </a:solidFill>
                          <a:latin typeface="Segoe UI"/>
                        </a:defRPr>
                      </a:pPr>
                      <a:r>
                        <a:t>DEFAULT 0</a:t>
                      </a:r>
                    </a:p>
                  </a:txBody>
                  <a:tcPr anchor="ctr">
                    <a:solidFill>
                      <a:srgbClr val="F1F5F9"/>
                    </a:solidFill>
                  </a:tcPr>
                </a:tc>
                <a:tc>
                  <a:txBody>
                    <a:bodyPr/>
                    <a:lstStyle/>
                    <a:p>
                      <a:pPr algn="l">
                        <a:defRPr sz="900">
                          <a:solidFill>
                            <a:srgbClr val="0F172A"/>
                          </a:solidFill>
                          <a:latin typeface="Segoe UI"/>
                        </a:defRPr>
                      </a:pPr>
                      <a:r>
                        <a:t>Cumulative counter of GPS-tagged photos taken; used in heavy-user segments.</a:t>
                      </a:r>
                    </a:p>
                  </a:txBody>
                  <a:tcPr anchor="ctr">
                    <a:solidFill>
                      <a:srgbClr val="F1F5F9"/>
                    </a:solidFill>
                  </a:tcPr>
                </a:tc>
              </a:tr>
              <a:tr h="256032">
                <a:tc>
                  <a:txBody>
                    <a:bodyPr/>
                    <a:lstStyle/>
                    <a:p>
                      <a:pPr algn="l">
                        <a:defRPr sz="900" b="1">
                          <a:solidFill>
                            <a:srgbClr val="1E3A8A"/>
                          </a:solidFill>
                          <a:latin typeface="Segoe UI"/>
                        </a:defRPr>
                      </a:pPr>
                      <a:r>
                        <a:t>total_sessions_count</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64748B"/>
                          </a:solidFill>
                          <a:latin typeface="Segoe UI"/>
                        </a:defRPr>
                      </a:pPr>
                      <a:r>
                        <a:t>DEFAULT 1</a:t>
                      </a:r>
                    </a:p>
                  </a:txBody>
                  <a:tcPr anchor="ctr">
                    <a:solidFill>
                      <a:srgbClr val="FFFFFF"/>
                    </a:solidFill>
                  </a:tcPr>
                </a:tc>
                <a:tc>
                  <a:txBody>
                    <a:bodyPr/>
                    <a:lstStyle/>
                    <a:p>
                      <a:pPr algn="l">
                        <a:defRPr sz="900">
                          <a:solidFill>
                            <a:srgbClr val="0F172A"/>
                          </a:solidFill>
                          <a:latin typeface="Segoe UI"/>
                        </a:defRPr>
                      </a:pPr>
                      <a:r>
                        <a:t>Total number of app launches to measure customer lifetime engagement.</a:t>
                      </a:r>
                    </a:p>
                  </a:txBody>
                  <a:tcPr anchor="ctr">
                    <a:solidFill>
                      <a:srgbClr val="FFFFFF"/>
                    </a:solidFill>
                  </a:tcPr>
                </a:tc>
              </a:tr>
              <a:tr h="256032">
                <a:tc>
                  <a:txBody>
                    <a:bodyPr/>
                    <a:lstStyle/>
                    <a:p>
                      <a:pPr algn="l">
                        <a:defRPr sz="900" b="1">
                          <a:solidFill>
                            <a:srgbClr val="1E3A8A"/>
                          </a:solidFill>
                          <a:latin typeface="Segoe UI"/>
                        </a:defRPr>
                      </a:pPr>
                      <a:r>
                        <a:t>is_active / inactive_reason</a:t>
                      </a:r>
                    </a:p>
                  </a:txBody>
                  <a:tcPr anchor="ctr">
                    <a:solidFill>
                      <a:srgbClr val="F1F5F9"/>
                    </a:solidFill>
                  </a:tcPr>
                </a:tc>
                <a:tc>
                  <a:txBody>
                    <a:bodyPr/>
                    <a:lstStyle/>
                    <a:p>
                      <a:pPr algn="l">
                        <a:defRPr sz="900">
                          <a:solidFill>
                            <a:srgbClr val="4F46E5"/>
                          </a:solidFill>
                          <a:latin typeface="Segoe UI"/>
                        </a:defRPr>
                      </a:pPr>
                      <a:r>
                        <a:t>BOOLEAN / VARCHAR</a:t>
                      </a:r>
                    </a:p>
                  </a:txBody>
                  <a:tcPr anchor="ctr">
                    <a:solidFill>
                      <a:srgbClr val="F1F5F9"/>
                    </a:solidFill>
                  </a:tcPr>
                </a:tc>
                <a:tc>
                  <a:txBody>
                    <a:bodyPr/>
                    <a:lstStyle/>
                    <a:p>
                      <a:pPr algn="l">
                        <a:defRPr sz="900">
                          <a:solidFill>
                            <a:srgbClr val="64748B"/>
                          </a:solidFill>
                          <a:latin typeface="Segoe UI"/>
                        </a:defRPr>
                      </a:pPr>
                      <a:r>
                        <a:t>DEFAULT TRUE / NULL</a:t>
                      </a:r>
                    </a:p>
                  </a:txBody>
                  <a:tcPr anchor="ctr">
                    <a:solidFill>
                      <a:srgbClr val="F1F5F9"/>
                    </a:solidFill>
                  </a:tcPr>
                </a:tc>
                <a:tc>
                  <a:txBody>
                    <a:bodyPr/>
                    <a:lstStyle/>
                    <a:p>
                      <a:pPr algn="l">
                        <a:defRPr sz="900">
                          <a:solidFill>
                            <a:srgbClr val="0F172A"/>
                          </a:solidFill>
                          <a:latin typeface="Segoe UI"/>
                        </a:defRPr>
                      </a:pPr>
                      <a:r>
                        <a:t>Active operational status and reason if marked inactive (e.g. uninstalled).</a:t>
                      </a:r>
                    </a:p>
                  </a:txBody>
                  <a:tcPr anchor="ctr">
                    <a:solidFill>
                      <a:srgbClr val="F1F5F9"/>
                    </a:solidFill>
                  </a:tcPr>
                </a:tc>
              </a:tr>
              <a:tr h="256032">
                <a:tc>
                  <a:txBody>
                    <a:bodyPr/>
                    <a:lstStyle/>
                    <a:p>
                      <a:pPr algn="l">
                        <a:defRPr sz="900" b="1">
                          <a:solidFill>
                            <a:srgbClr val="1E3A8A"/>
                          </a:solidFill>
                          <a:latin typeface="Segoe UI"/>
                        </a:defRPr>
                      </a:pPr>
                      <a:r>
                        <a:t>is_blacklisted / admin_notes</a:t>
                      </a:r>
                    </a:p>
                  </a:txBody>
                  <a:tcPr anchor="ctr">
                    <a:solidFill>
                      <a:srgbClr val="FFFFFF"/>
                    </a:solidFill>
                  </a:tcPr>
                </a:tc>
                <a:tc>
                  <a:txBody>
                    <a:bodyPr/>
                    <a:lstStyle/>
                    <a:p>
                      <a:pPr algn="l">
                        <a:defRPr sz="900">
                          <a:solidFill>
                            <a:srgbClr val="4F46E5"/>
                          </a:solidFill>
                          <a:latin typeface="Segoe UI"/>
                        </a:defRPr>
                      </a:pPr>
                      <a:r>
                        <a:t>BOOLEAN / TEXT</a:t>
                      </a:r>
                    </a:p>
                  </a:txBody>
                  <a:tcPr anchor="ctr">
                    <a:solidFill>
                      <a:srgbClr val="FFFFFF"/>
                    </a:solidFill>
                  </a:tcPr>
                </a:tc>
                <a:tc>
                  <a:txBody>
                    <a:bodyPr/>
                    <a:lstStyle/>
                    <a:p>
                      <a:pPr algn="l">
                        <a:defRPr sz="900">
                          <a:solidFill>
                            <a:srgbClr val="64748B"/>
                          </a:solidFill>
                          <a:latin typeface="Segoe UI"/>
                        </a:defRPr>
                      </a:pPr>
                      <a:r>
                        <a:t>DEFAULT FALSE / NULL</a:t>
                      </a:r>
                    </a:p>
                  </a:txBody>
                  <a:tcPr anchor="ctr">
                    <a:solidFill>
                      <a:srgbClr val="FFFFFF"/>
                    </a:solidFill>
                  </a:tcPr>
                </a:tc>
                <a:tc>
                  <a:txBody>
                    <a:bodyPr/>
                    <a:lstStyle/>
                    <a:p>
                      <a:pPr algn="l">
                        <a:defRPr sz="900">
                          <a:solidFill>
                            <a:srgbClr val="0F172A"/>
                          </a:solidFill>
                          <a:latin typeface="Segoe UI"/>
                        </a:defRPr>
                      </a:pPr>
                      <a:r>
                        <a:t>Fraud/abuse restriction flag and internal admin notes for auditing.</a:t>
                      </a:r>
                    </a:p>
                  </a:txBody>
                  <a:tcPr anchor="ctr">
                    <a:solidFill>
                      <a:srgbClr val="FFFFFF"/>
                    </a:solidFill>
                  </a:tcPr>
                </a:tc>
              </a:tr>
              <a:tr h="256032">
                <a:tc>
                  <a:txBody>
                    <a:bodyPr/>
                    <a:lstStyle/>
                    <a:p>
                      <a:pPr algn="l">
                        <a:defRPr sz="900" b="1">
                          <a:solidFill>
                            <a:srgbClr val="1E3A8A"/>
                          </a:solidFill>
                          <a:latin typeface="Segoe UI"/>
                        </a:defRPr>
                      </a:pPr>
                      <a:r>
                        <a:t>first_installed_at / last_active_at</a:t>
                      </a:r>
                    </a:p>
                  </a:txBody>
                  <a:tcPr anchor="ctr">
                    <a:solidFill>
                      <a:srgbClr val="F1F5F9"/>
                    </a:solidFill>
                  </a:tcPr>
                </a:tc>
                <a:tc>
                  <a:txBody>
                    <a:bodyPr/>
                    <a:lstStyle/>
                    <a:p>
                      <a:pPr algn="l">
                        <a:defRPr sz="900">
                          <a:solidFill>
                            <a:srgbClr val="4F46E5"/>
                          </a:solidFill>
                          <a:latin typeface="Segoe UI"/>
                        </a:defRPr>
                      </a:pPr>
                      <a:r>
                        <a:t>TIMESTAMP</a:t>
                      </a:r>
                    </a:p>
                  </a:txBody>
                  <a:tcPr anchor="ctr">
                    <a:solidFill>
                      <a:srgbClr val="F1F5F9"/>
                    </a:solidFill>
                  </a:tcPr>
                </a:tc>
                <a:tc>
                  <a:txBody>
                    <a:bodyPr/>
                    <a:lstStyle/>
                    <a:p>
                      <a:pPr algn="l">
                        <a:defRPr sz="900">
                          <a:solidFill>
                            <a:srgbClr val="64748B"/>
                          </a:solidFill>
                          <a:latin typeface="Segoe UI"/>
                        </a:defRPr>
                      </a:pPr>
                      <a:r>
                        <a:t>CURRENT / INDEXED</a:t>
                      </a:r>
                    </a:p>
                  </a:txBody>
                  <a:tcPr anchor="ctr">
                    <a:solidFill>
                      <a:srgbClr val="F1F5F9"/>
                    </a:solidFill>
                  </a:tcPr>
                </a:tc>
                <a:tc>
                  <a:txBody>
                    <a:bodyPr/>
                    <a:lstStyle/>
                    <a:p>
                      <a:pPr algn="l">
                        <a:defRPr sz="900">
                          <a:solidFill>
                            <a:srgbClr val="0F172A"/>
                          </a:solidFill>
                          <a:latin typeface="Segoe UI"/>
                        </a:defRPr>
                      </a:pPr>
                      <a:r>
                        <a:t>Timestamps for calculating user retention cohorts and inactivity thresholds.</a:t>
                      </a:r>
                    </a:p>
                  </a:txBody>
                  <a:tcPr anchor="ctr">
                    <a:solidFill>
                      <a:srgbClr val="F1F5F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FIREBASE &amp; PUSH INFRASTRUCTURE</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firebase_settings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Stores Firebase Cloud Messaging (FCM) credentials, API keys, Web Push VAPID keys, and private service account JSON keys. Powers the automated connection health tester and enables multi-tenant or multi-environment switching.</a:t>
            </a:r>
          </a:p>
        </p:txBody>
      </p:sp>
      <p:graphicFrame>
        <p:nvGraphicFramePr>
          <p:cNvPr id="8" name="Table 7"/>
          <p:cNvGraphicFramePr>
            <a:graphicFrameLocks noGrp="1"/>
          </p:cNvGraphicFramePr>
          <p:nvPr/>
        </p:nvGraphicFramePr>
        <p:xfrm>
          <a:off x="548640" y="1737360"/>
          <a:ext cx="11094415" cy="4416552"/>
        </p:xfrm>
        <a:graphic>
          <a:graphicData uri="http://schemas.openxmlformats.org/drawingml/2006/table">
            <a:tbl>
              <a:tblPr firstRow="1" bandRow="1">
                <a:tableStyleId>{5C22544A-7EE6-4342-B048-85BDC9FD1C3A}</a:tableStyleId>
              </a:tblPr>
              <a:tblGrid>
                <a:gridCol w="2011680"/>
                <a:gridCol w="1463040"/>
                <a:gridCol w="1645920"/>
                <a:gridCol w="597377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Unique identifier for the Firebase configuration profile record.</a:t>
                      </a:r>
                    </a:p>
                  </a:txBody>
                  <a:tcPr anchor="ctr">
                    <a:solidFill>
                      <a:srgbClr val="FFFFFF"/>
                    </a:solidFill>
                  </a:tcPr>
                </a:tc>
              </a:tr>
              <a:tr h="256032">
                <a:tc>
                  <a:txBody>
                    <a:bodyPr/>
                    <a:lstStyle/>
                    <a:p>
                      <a:pPr algn="l">
                        <a:defRPr sz="900" b="1">
                          <a:solidFill>
                            <a:srgbClr val="1E3A8A"/>
                          </a:solidFill>
                          <a:latin typeface="Segoe UI"/>
                        </a:defRPr>
                      </a:pPr>
                      <a:r>
                        <a:t>label</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Human-friendly profile name (e.g. 'Production Primary', 'Staging Test FCM').</a:t>
                      </a:r>
                    </a:p>
                  </a:txBody>
                  <a:tcPr anchor="ctr">
                    <a:solidFill>
                      <a:srgbClr val="F1F5F9"/>
                    </a:solidFill>
                  </a:tcPr>
                </a:tc>
              </a:tr>
              <a:tr h="256032">
                <a:tc>
                  <a:txBody>
                    <a:bodyPr/>
                    <a:lstStyle/>
                    <a:p>
                      <a:pPr algn="l">
                        <a:defRPr sz="900" b="1">
                          <a:solidFill>
                            <a:srgbClr val="1E3A8A"/>
                          </a:solidFill>
                          <a:latin typeface="Segoe UI"/>
                        </a:defRPr>
                      </a:pPr>
                      <a:r>
                        <a:t>project_id</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Google Cloud / Firebase Project ID (e.g. 'geocam-gps-prod-9876').</a:t>
                      </a:r>
                    </a:p>
                  </a:txBody>
                  <a:tcPr anchor="ctr">
                    <a:solidFill>
                      <a:srgbClr val="FFFFFF"/>
                    </a:solidFill>
                  </a:tcPr>
                </a:tc>
              </a:tr>
              <a:tr h="256032">
                <a:tc>
                  <a:txBody>
                    <a:bodyPr/>
                    <a:lstStyle/>
                    <a:p>
                      <a:pPr algn="l">
                        <a:defRPr sz="900" b="1">
                          <a:solidFill>
                            <a:srgbClr val="1E3A8A"/>
                          </a:solidFill>
                          <a:latin typeface="Segoe UI"/>
                        </a:defRPr>
                      </a:pPr>
                      <a:r>
                        <a:t>api_key</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Firebase Web API key for client-side authentication and telemetry.</a:t>
                      </a:r>
                    </a:p>
                  </a:txBody>
                  <a:tcPr anchor="ctr">
                    <a:solidFill>
                      <a:srgbClr val="F1F5F9"/>
                    </a:solidFill>
                  </a:tcPr>
                </a:tc>
              </a:tr>
              <a:tr h="256032">
                <a:tc>
                  <a:txBody>
                    <a:bodyPr/>
                    <a:lstStyle/>
                    <a:p>
                      <a:pPr algn="l">
                        <a:defRPr sz="900" b="1">
                          <a:solidFill>
                            <a:srgbClr val="1E3A8A"/>
                          </a:solidFill>
                          <a:latin typeface="Segoe UI"/>
                        </a:defRPr>
                      </a:pPr>
                      <a:r>
                        <a:t>auth_domain</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Authentication domain URL for Firebase Auth services (if enabled).</a:t>
                      </a:r>
                    </a:p>
                  </a:txBody>
                  <a:tcPr anchor="ctr">
                    <a:solidFill>
                      <a:srgbClr val="FFFFFF"/>
                    </a:solidFill>
                  </a:tcPr>
                </a:tc>
              </a:tr>
              <a:tr h="256032">
                <a:tc>
                  <a:txBody>
                    <a:bodyPr/>
                    <a:lstStyle/>
                    <a:p>
                      <a:pPr algn="l">
                        <a:defRPr sz="900" b="1">
                          <a:solidFill>
                            <a:srgbClr val="1E3A8A"/>
                          </a:solidFill>
                          <a:latin typeface="Segoe UI"/>
                        </a:defRPr>
                      </a:pPr>
                      <a:r>
                        <a:t>storage_bucket</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Google Cloud Storage bucket URI for hosting push media and campaign assets.</a:t>
                      </a:r>
                    </a:p>
                  </a:txBody>
                  <a:tcPr anchor="ctr">
                    <a:solidFill>
                      <a:srgbClr val="F1F5F9"/>
                    </a:solidFill>
                  </a:tcPr>
                </a:tc>
              </a:tr>
              <a:tr h="256032">
                <a:tc>
                  <a:txBody>
                    <a:bodyPr/>
                    <a:lstStyle/>
                    <a:p>
                      <a:pPr algn="l">
                        <a:defRPr sz="900" b="1">
                          <a:solidFill>
                            <a:srgbClr val="1E3A8A"/>
                          </a:solidFill>
                          <a:latin typeface="Segoe UI"/>
                        </a:defRPr>
                      </a:pPr>
                      <a:r>
                        <a:t>messaging_sender_id</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Unique 12-digit numeric sender ID assigned by Google Cloud Console.</a:t>
                      </a:r>
                    </a:p>
                  </a:txBody>
                  <a:tcPr anchor="ctr">
                    <a:solidFill>
                      <a:srgbClr val="FFFFFF"/>
                    </a:solidFill>
                  </a:tcPr>
                </a:tc>
              </a:tr>
              <a:tr h="256032">
                <a:tc>
                  <a:txBody>
                    <a:bodyPr/>
                    <a:lstStyle/>
                    <a:p>
                      <a:pPr algn="l">
                        <a:defRPr sz="900" b="1">
                          <a:solidFill>
                            <a:srgbClr val="1E3A8A"/>
                          </a:solidFill>
                          <a:latin typeface="Segoe UI"/>
                        </a:defRPr>
                      </a:pPr>
                      <a:r>
                        <a:t>app_id</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Firebase unique Mobile/Web App ID string (e.g. 1:12345:android:67890).</a:t>
                      </a:r>
                    </a:p>
                  </a:txBody>
                  <a:tcPr anchor="ctr">
                    <a:solidFill>
                      <a:srgbClr val="F1F5F9"/>
                    </a:solidFill>
                  </a:tcPr>
                </a:tc>
              </a:tr>
              <a:tr h="256032">
                <a:tc>
                  <a:txBody>
                    <a:bodyPr/>
                    <a:lstStyle/>
                    <a:p>
                      <a:pPr algn="l">
                        <a:defRPr sz="900" b="1">
                          <a:solidFill>
                            <a:srgbClr val="1E3A8A"/>
                          </a:solidFill>
                          <a:latin typeface="Segoe UI"/>
                        </a:defRPr>
                      </a:pPr>
                      <a:r>
                        <a:t>measurement_id</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Google Analytics 4 measurement identifier associated with the Firebase app.</a:t>
                      </a:r>
                    </a:p>
                  </a:txBody>
                  <a:tcPr anchor="ctr">
                    <a:solidFill>
                      <a:srgbClr val="FFFFFF"/>
                    </a:solidFill>
                  </a:tcPr>
                </a:tc>
              </a:tr>
              <a:tr h="256032">
                <a:tc>
                  <a:txBody>
                    <a:bodyPr/>
                    <a:lstStyle/>
                    <a:p>
                      <a:pPr algn="l">
                        <a:defRPr sz="900" b="1">
                          <a:solidFill>
                            <a:srgbClr val="1E3A8A"/>
                          </a:solidFill>
                          <a:latin typeface="Segoe UI"/>
                        </a:defRPr>
                      </a:pPr>
                      <a:r>
                        <a:t>vapid_key</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Voluntary Application Server Identification key for Web Push protocol.</a:t>
                      </a:r>
                    </a:p>
                  </a:txBody>
                  <a:tcPr anchor="ctr">
                    <a:solidFill>
                      <a:srgbClr val="F1F5F9"/>
                    </a:solidFill>
                  </a:tcPr>
                </a:tc>
              </a:tr>
              <a:tr h="256032">
                <a:tc>
                  <a:txBody>
                    <a:bodyPr/>
                    <a:lstStyle/>
                    <a:p>
                      <a:pPr algn="l">
                        <a:defRPr sz="900" b="1">
                          <a:solidFill>
                            <a:srgbClr val="1E3A8A"/>
                          </a:solidFill>
                          <a:latin typeface="Segoe UI"/>
                        </a:defRPr>
                      </a:pPr>
                      <a:r>
                        <a:t>service_account_json</a:t>
                      </a:r>
                    </a:p>
                  </a:txBody>
                  <a:tcPr anchor="ctr">
                    <a:solidFill>
                      <a:srgbClr val="FFFFFF"/>
                    </a:solidFill>
                  </a:tcPr>
                </a:tc>
                <a:tc>
                  <a:txBody>
                    <a:bodyPr/>
                    <a:lstStyle/>
                    <a:p>
                      <a:pPr algn="l">
                        <a:defRPr sz="900">
                          <a:solidFill>
                            <a:srgbClr val="4F46E5"/>
                          </a:solidFill>
                          <a:latin typeface="Segoe UI"/>
                        </a:defRPr>
                      </a:pPr>
                      <a:r>
                        <a:t>LONGTEXT</a:t>
                      </a:r>
                    </a:p>
                  </a:txBody>
                  <a:tcPr anchor="ctr">
                    <a:solidFill>
                      <a:srgbClr val="FFFFFF"/>
                    </a:solidFill>
                  </a:tcPr>
                </a:tc>
                <a:tc>
                  <a:txBody>
                    <a:bodyPr/>
                    <a:lstStyle/>
                    <a:p>
                      <a:pPr algn="l">
                        <a:defRPr sz="900">
                          <a:solidFill>
                            <a:srgbClr val="64748B"/>
                          </a:solidFill>
                          <a:latin typeface="Segoe UI"/>
                        </a:defRPr>
                      </a:pPr>
                      <a:r>
                        <a:t>NULL (Encrypted Cast)</a:t>
                      </a:r>
                    </a:p>
                  </a:txBody>
                  <a:tcPr anchor="ctr">
                    <a:solidFill>
                      <a:srgbClr val="FFFFFF"/>
                    </a:solidFill>
                  </a:tcPr>
                </a:tc>
                <a:tc>
                  <a:txBody>
                    <a:bodyPr/>
                    <a:lstStyle/>
                    <a:p>
                      <a:pPr algn="l">
                        <a:defRPr sz="900">
                          <a:solidFill>
                            <a:srgbClr val="0F172A"/>
                          </a:solidFill>
                          <a:latin typeface="Segoe UI"/>
                        </a:defRPr>
                      </a:pPr>
                      <a:r>
                        <a:t>Private Service Account credentials JSON; securely encrypted at rest via AES-256.</a:t>
                      </a:r>
                    </a:p>
                  </a:txBody>
                  <a:tcPr anchor="ctr">
                    <a:solidFill>
                      <a:srgbClr val="FFFFFF"/>
                    </a:solidFill>
                  </a:tcPr>
                </a:tc>
              </a:tr>
              <a:tr h="256032">
                <a:tc>
                  <a:txBody>
                    <a:bodyPr/>
                    <a:lstStyle/>
                    <a:p>
                      <a:pPr algn="l">
                        <a:defRPr sz="900" b="1">
                          <a:solidFill>
                            <a:srgbClr val="1E3A8A"/>
                          </a:solidFill>
                          <a:latin typeface="Segoe UI"/>
                        </a:defRPr>
                      </a:pPr>
                      <a:r>
                        <a:t>is_active</a:t>
                      </a:r>
                    </a:p>
                  </a:txBody>
                  <a:tcPr anchor="ctr">
                    <a:solidFill>
                      <a:srgbClr val="F1F5F9"/>
                    </a:solidFill>
                  </a:tcPr>
                </a:tc>
                <a:tc>
                  <a:txBody>
                    <a:bodyPr/>
                    <a:lstStyle/>
                    <a:p>
                      <a:pPr algn="l">
                        <a:defRPr sz="900">
                          <a:solidFill>
                            <a:srgbClr val="4F46E5"/>
                          </a:solidFill>
                          <a:latin typeface="Segoe UI"/>
                        </a:defRPr>
                      </a:pPr>
                      <a:r>
                        <a:t>BOOLEAN</a:t>
                      </a:r>
                    </a:p>
                  </a:txBody>
                  <a:tcPr anchor="ctr">
                    <a:solidFill>
                      <a:srgbClr val="F1F5F9"/>
                    </a:solidFill>
                  </a:tcPr>
                </a:tc>
                <a:tc>
                  <a:txBody>
                    <a:bodyPr/>
                    <a:lstStyle/>
                    <a:p>
                      <a:pPr algn="l">
                        <a:defRPr sz="900">
                          <a:solidFill>
                            <a:srgbClr val="64748B"/>
                          </a:solidFill>
                          <a:latin typeface="Segoe UI"/>
                        </a:defRPr>
                      </a:pPr>
                      <a:r>
                        <a:t>DEFAULT FALSE</a:t>
                      </a:r>
                    </a:p>
                  </a:txBody>
                  <a:tcPr anchor="ctr">
                    <a:solidFill>
                      <a:srgbClr val="F1F5F9"/>
                    </a:solidFill>
                  </a:tcPr>
                </a:tc>
                <a:tc>
                  <a:txBody>
                    <a:bodyPr/>
                    <a:lstStyle/>
                    <a:p>
                      <a:pPr algn="l">
                        <a:defRPr sz="900">
                          <a:solidFill>
                            <a:srgbClr val="0F172A"/>
                          </a:solidFill>
                          <a:latin typeface="Segoe UI"/>
                        </a:defRPr>
                      </a:pPr>
                      <a:r>
                        <a:t>Singleton active toggle; enforces exactly ONE configuration as the active FCM dispatcher.</a:t>
                      </a:r>
                    </a:p>
                  </a:txBody>
                  <a:tcPr anchor="ctr">
                    <a:solidFill>
                      <a:srgbClr val="F1F5F9"/>
                    </a:solidFill>
                  </a:tcPr>
                </a:tc>
              </a:tr>
              <a:tr h="256032">
                <a:tc>
                  <a:txBody>
                    <a:bodyPr/>
                    <a:lstStyle/>
                    <a:p>
                      <a:pPr algn="l">
                        <a:defRPr sz="900" b="1">
                          <a:solidFill>
                            <a:srgbClr val="1E3A8A"/>
                          </a:solidFill>
                          <a:latin typeface="Segoe UI"/>
                        </a:defRPr>
                      </a:pPr>
                      <a:r>
                        <a:t>connection_status</a:t>
                      </a:r>
                    </a:p>
                  </a:txBody>
                  <a:tcPr anchor="ctr">
                    <a:solidFill>
                      <a:srgbClr val="FFFFFF"/>
                    </a:solidFill>
                  </a:tcPr>
                </a:tc>
                <a:tc>
                  <a:txBody>
                    <a:bodyPr/>
                    <a:lstStyle/>
                    <a:p>
                      <a:pPr algn="l">
                        <a:defRPr sz="900">
                          <a:solidFill>
                            <a:srgbClr val="4F46E5"/>
                          </a:solidFill>
                          <a:latin typeface="Segoe UI"/>
                        </a:defRPr>
                      </a:pPr>
                      <a:r>
                        <a:t>VARCHAR(255)</a:t>
                      </a:r>
                    </a:p>
                  </a:txBody>
                  <a:tcPr anchor="ctr">
                    <a:solidFill>
                      <a:srgbClr val="FFFFFF"/>
                    </a:solidFill>
                  </a:tcPr>
                </a:tc>
                <a:tc>
                  <a:txBody>
                    <a:bodyPr/>
                    <a:lstStyle/>
                    <a:p>
                      <a:pPr algn="l">
                        <a:defRPr sz="900">
                          <a:solidFill>
                            <a:srgbClr val="64748B"/>
                          </a:solidFill>
                          <a:latin typeface="Segoe UI"/>
                        </a:defRPr>
                      </a:pPr>
                      <a:r>
                        <a:t>DEFAULT 'untested'</a:t>
                      </a:r>
                    </a:p>
                  </a:txBody>
                  <a:tcPr anchor="ctr">
                    <a:solidFill>
                      <a:srgbClr val="FFFFFF"/>
                    </a:solidFill>
                  </a:tcPr>
                </a:tc>
                <a:tc>
                  <a:txBody>
                    <a:bodyPr/>
                    <a:lstStyle/>
                    <a:p>
                      <a:pPr algn="l">
                        <a:defRPr sz="900">
                          <a:solidFill>
                            <a:srgbClr val="0F172A"/>
                          </a:solidFill>
                          <a:latin typeface="Segoe UI"/>
                        </a:defRPr>
                      </a:pPr>
                      <a:r>
                        <a:t>Live health indicator: 'connected', 'failed', or 'untested' from server ping.</a:t>
                      </a:r>
                    </a:p>
                  </a:txBody>
                  <a:tcPr anchor="ctr">
                    <a:solidFill>
                      <a:srgbClr val="FFFFFF"/>
                    </a:solidFill>
                  </a:tcPr>
                </a:tc>
              </a:tr>
              <a:tr h="256032">
                <a:tc>
                  <a:txBody>
                    <a:bodyPr/>
                    <a:lstStyle/>
                    <a:p>
                      <a:pPr algn="l">
                        <a:defRPr sz="900" b="1">
                          <a:solidFill>
                            <a:srgbClr val="1E3A8A"/>
                          </a:solidFill>
                          <a:latin typeface="Segoe UI"/>
                        </a:defRPr>
                      </a:pPr>
                      <a:r>
                        <a:t>last_error_message</a:t>
                      </a:r>
                    </a:p>
                  </a:txBody>
                  <a:tcPr anchor="ctr">
                    <a:solidFill>
                      <a:srgbClr val="F1F5F9"/>
                    </a:solidFill>
                  </a:tcPr>
                </a:tc>
                <a:tc>
                  <a:txBody>
                    <a:bodyPr/>
                    <a:lstStyle/>
                    <a:p>
                      <a:pPr algn="l">
                        <a:defRPr sz="900">
                          <a:solidFill>
                            <a:srgbClr val="4F46E5"/>
                          </a:solidFill>
                          <a:latin typeface="Segoe UI"/>
                        </a:defRPr>
                      </a:pPr>
                      <a:r>
                        <a:t>TEXT</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Short human-readable diagnostic error if service account authentication fails.</a:t>
                      </a:r>
                    </a:p>
                  </a:txBody>
                  <a:tcPr anchor="ctr">
                    <a:solidFill>
                      <a:srgbClr val="F1F5F9"/>
                    </a:solidFill>
                  </a:tcPr>
                </a:tc>
              </a:tr>
              <a:tr h="256032">
                <a:tc>
                  <a:txBody>
                    <a:bodyPr/>
                    <a:lstStyle/>
                    <a:p>
                      <a:pPr algn="l">
                        <a:defRPr sz="900" b="1">
                          <a:solidFill>
                            <a:srgbClr val="1E3A8A"/>
                          </a:solidFill>
                          <a:latin typeface="Segoe UI"/>
                        </a:defRPr>
                      </a:pPr>
                      <a:r>
                        <a:t>last_tested_at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Timestamp of the last successful automated connection verification test.</a:t>
                      </a:r>
                    </a:p>
                  </a:txBody>
                  <a:tcPr anchor="ctr">
                    <a:solidFill>
                      <a:srgbClr val="FFFFFF"/>
                    </a:solidFill>
                  </a:tcPr>
                </a:tc>
              </a:tr>
              <a:tr h="256032">
                <a:tc>
                  <a:txBody>
                    <a:bodyPr/>
                    <a:lstStyle/>
                    <a:p>
                      <a:pPr algn="l">
                        <a:defRPr sz="900" b="1">
                          <a:solidFill>
                            <a:srgbClr val="1E3A8A"/>
                          </a:solidFill>
                          <a:latin typeface="Segoe UI"/>
                        </a:defRPr>
                      </a:pPr>
                      <a:r>
                        <a:t>timestamps</a:t>
                      </a:r>
                    </a:p>
                  </a:txBody>
                  <a:tcPr anchor="ctr">
                    <a:solidFill>
                      <a:srgbClr val="F1F5F9"/>
                    </a:solidFill>
                  </a:tcPr>
                </a:tc>
                <a:tc>
                  <a:txBody>
                    <a:bodyPr/>
                    <a:lstStyle/>
                    <a:p>
                      <a:pPr algn="l">
                        <a:defRPr sz="900">
                          <a:solidFill>
                            <a:srgbClr val="4F46E5"/>
                          </a:solidFill>
                          <a:latin typeface="Segoe UI"/>
                        </a:defRPr>
                      </a:pPr>
                      <a:r>
                        <a:t>TIMESTAMP</a:t>
                      </a:r>
                    </a:p>
                  </a:txBody>
                  <a:tcPr anchor="ctr">
                    <a:solidFill>
                      <a:srgbClr val="F1F5F9"/>
                    </a:solidFill>
                  </a:tcPr>
                </a:tc>
                <a:tc>
                  <a:txBody>
                    <a:bodyPr/>
                    <a:lstStyle/>
                    <a:p>
                      <a:pPr algn="l">
                        <a:defRPr sz="900">
                          <a:solidFill>
                            <a:srgbClr val="64748B"/>
                          </a:solidFill>
                          <a:latin typeface="Segoe UI"/>
                        </a:defRPr>
                      </a:pPr>
                      <a:r>
                        <a:t>created_at, updated_at</a:t>
                      </a:r>
                    </a:p>
                  </a:txBody>
                  <a:tcPr anchor="ctr">
                    <a:solidFill>
                      <a:srgbClr val="F1F5F9"/>
                    </a:solidFill>
                  </a:tcPr>
                </a:tc>
                <a:tc>
                  <a:txBody>
                    <a:bodyPr/>
                    <a:lstStyle/>
                    <a:p>
                      <a:pPr algn="l">
                        <a:defRPr sz="900">
                          <a:solidFill>
                            <a:srgbClr val="0F172A"/>
                          </a:solidFill>
                          <a:latin typeface="Segoe UI"/>
                        </a:defRPr>
                      </a:pPr>
                      <a:r>
                        <a:t>Standard audit timestamps recording configuration setup and modifications.</a:t>
                      </a:r>
                    </a:p>
                  </a:txBody>
                  <a:tcPr anchor="ctr">
                    <a:solidFill>
                      <a:srgbClr val="F1F5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GEOGRAPHICAL INTELLIGENCE &amp; ANALYTICS</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locations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Pre-computes and caches aggregated location metrics across cities, states, and countries. Stores 7x24 hourly activity matrices, sub-area heatmap clusters, OS distributions, and permission ratios to power high-speed dashboard reporting.</a:t>
            </a:r>
          </a:p>
        </p:txBody>
      </p:sp>
      <p:graphicFrame>
        <p:nvGraphicFramePr>
          <p:cNvPr id="8" name="Table 7"/>
          <p:cNvGraphicFramePr>
            <a:graphicFrameLocks noGrp="1"/>
          </p:cNvGraphicFramePr>
          <p:nvPr/>
        </p:nvGraphicFramePr>
        <p:xfrm>
          <a:off x="548640" y="1737360"/>
          <a:ext cx="11094415" cy="4672584"/>
        </p:xfrm>
        <a:graphic>
          <a:graphicData uri="http://schemas.openxmlformats.org/drawingml/2006/table">
            <a:tbl>
              <a:tblPr firstRow="1" bandRow="1">
                <a:tableStyleId>{5C22544A-7EE6-4342-B048-85BDC9FD1C3A}</a:tableStyleId>
              </a:tblPr>
              <a:tblGrid>
                <a:gridCol w="2011680"/>
                <a:gridCol w="1463040"/>
                <a:gridCol w="1645920"/>
                <a:gridCol w="597377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Unique surrogate identifier for the geographical analytics entity.</a:t>
                      </a:r>
                    </a:p>
                  </a:txBody>
                  <a:tcPr anchor="ctr">
                    <a:solidFill>
                      <a:srgbClr val="FFFFFF"/>
                    </a:solidFill>
                  </a:tcPr>
                </a:tc>
              </a:tr>
              <a:tr h="256032">
                <a:tc>
                  <a:txBody>
                    <a:bodyPr/>
                    <a:lstStyle/>
                    <a:p>
                      <a:pPr algn="l">
                        <a:defRPr sz="900" b="1">
                          <a:solidFill>
                            <a:srgbClr val="1E3A8A"/>
                          </a:solidFill>
                          <a:latin typeface="Segoe UI"/>
                        </a:defRPr>
                      </a:pPr>
                      <a:r>
                        <a:t>city / state / country</a:t>
                      </a:r>
                    </a:p>
                  </a:txBody>
                  <a:tcPr anchor="ctr">
                    <a:solidFill>
                      <a:srgbClr val="F1F5F9"/>
                    </a:solidFill>
                  </a:tcPr>
                </a:tc>
                <a:tc>
                  <a:txBody>
                    <a:bodyPr/>
                    <a:lstStyle/>
                    <a:p>
                      <a:pPr algn="l">
                        <a:defRPr sz="900">
                          <a:solidFill>
                            <a:srgbClr val="4F46E5"/>
                          </a:solidFill>
                          <a:latin typeface="Segoe UI"/>
                        </a:defRPr>
                      </a:pPr>
                      <a:r>
                        <a:t>VARCHAR(100)</a:t>
                      </a:r>
                    </a:p>
                  </a:txBody>
                  <a:tcPr anchor="ctr">
                    <a:solidFill>
                      <a:srgbClr val="F1F5F9"/>
                    </a:solidFill>
                  </a:tcPr>
                </a:tc>
                <a:tc>
                  <a:txBody>
                    <a:bodyPr/>
                    <a:lstStyle/>
                    <a:p>
                      <a:pPr algn="l">
                        <a:defRPr sz="900">
                          <a:solidFill>
                            <a:srgbClr val="059669"/>
                          </a:solidFill>
                          <a:latin typeface="Segoe UI"/>
                        </a:defRPr>
                      </a:pPr>
                      <a:r>
                        <a:t>INDEXED, NOT NULL</a:t>
                      </a:r>
                    </a:p>
                  </a:txBody>
                  <a:tcPr anchor="ctr">
                    <a:solidFill>
                      <a:srgbClr val="F1F5F9"/>
                    </a:solidFill>
                  </a:tcPr>
                </a:tc>
                <a:tc>
                  <a:txBody>
                    <a:bodyPr/>
                    <a:lstStyle/>
                    <a:p>
                      <a:pPr algn="l">
                        <a:defRPr sz="900">
                          <a:solidFill>
                            <a:srgbClr val="0F172A"/>
                          </a:solidFill>
                          <a:latin typeface="Segoe UI"/>
                        </a:defRPr>
                      </a:pPr>
                      <a:r>
                        <a:t>Administrative geographic hierarchy for regional clustering and drilldown.</a:t>
                      </a:r>
                    </a:p>
                  </a:txBody>
                  <a:tcPr anchor="ctr">
                    <a:solidFill>
                      <a:srgbClr val="F1F5F9"/>
                    </a:solidFill>
                  </a:tcPr>
                </a:tc>
              </a:tr>
              <a:tr h="256032">
                <a:tc>
                  <a:txBody>
                    <a:bodyPr/>
                    <a:lstStyle/>
                    <a:p>
                      <a:pPr algn="l">
                        <a:defRPr sz="900" b="1">
                          <a:solidFill>
                            <a:srgbClr val="1E3A8A"/>
                          </a:solidFill>
                          <a:latin typeface="Segoe UI"/>
                        </a:defRPr>
                      </a:pPr>
                      <a:r>
                        <a:t>country_code</a:t>
                      </a:r>
                    </a:p>
                  </a:txBody>
                  <a:tcPr anchor="ctr">
                    <a:solidFill>
                      <a:srgbClr val="FFFFFF"/>
                    </a:solidFill>
                  </a:tcPr>
                </a:tc>
                <a:tc>
                  <a:txBody>
                    <a:bodyPr/>
                    <a:lstStyle/>
                    <a:p>
                      <a:pPr algn="l">
                        <a:defRPr sz="900">
                          <a:solidFill>
                            <a:srgbClr val="4F46E5"/>
                          </a:solidFill>
                          <a:latin typeface="Segoe UI"/>
                        </a:defRPr>
                      </a:pPr>
                      <a:r>
                        <a:t>VARCHAR(5)</a:t>
                      </a:r>
                    </a:p>
                  </a:txBody>
                  <a:tcPr anchor="ctr">
                    <a:solidFill>
                      <a:srgbClr val="FFFFFF"/>
                    </a:solidFill>
                  </a:tcPr>
                </a:tc>
                <a:tc>
                  <a:txBody>
                    <a:bodyPr/>
                    <a:lstStyle/>
                    <a:p>
                      <a:pPr algn="l">
                        <a:defRPr sz="900">
                          <a:solidFill>
                            <a:srgbClr val="64748B"/>
                          </a:solidFill>
                          <a:latin typeface="Segoe UI"/>
                        </a:defRPr>
                      </a:pPr>
                      <a:r>
                        <a:t>DEFAULT 'IN'</a:t>
                      </a:r>
                    </a:p>
                  </a:txBody>
                  <a:tcPr anchor="ctr">
                    <a:solidFill>
                      <a:srgbClr val="FFFFFF"/>
                    </a:solidFill>
                  </a:tcPr>
                </a:tc>
                <a:tc>
                  <a:txBody>
                    <a:bodyPr/>
                    <a:lstStyle/>
                    <a:p>
                      <a:pPr algn="l">
                        <a:defRPr sz="900">
                          <a:solidFill>
                            <a:srgbClr val="0F172A"/>
                          </a:solidFill>
                          <a:latin typeface="Segoe UI"/>
                        </a:defRPr>
                      </a:pPr>
                      <a:r>
                        <a:t>Standard ISO 3166-1 alpha-2 country code (e.g. IN, US, BR, GB).</a:t>
                      </a:r>
                    </a:p>
                  </a:txBody>
                  <a:tcPr anchor="ctr">
                    <a:solidFill>
                      <a:srgbClr val="FFFFFF"/>
                    </a:solidFill>
                  </a:tcPr>
                </a:tc>
              </a:tr>
              <a:tr h="256032">
                <a:tc>
                  <a:txBody>
                    <a:bodyPr/>
                    <a:lstStyle/>
                    <a:p>
                      <a:pPr algn="l">
                        <a:defRPr sz="900" b="1">
                          <a:solidFill>
                            <a:srgbClr val="1E3A8A"/>
                          </a:solidFill>
                          <a:latin typeface="Segoe UI"/>
                        </a:defRPr>
                      </a:pPr>
                      <a:r>
                        <a:t>latitude / longitude</a:t>
                      </a:r>
                    </a:p>
                  </a:txBody>
                  <a:tcPr anchor="ctr">
                    <a:solidFill>
                      <a:srgbClr val="F1F5F9"/>
                    </a:solidFill>
                  </a:tcPr>
                </a:tc>
                <a:tc>
                  <a:txBody>
                    <a:bodyPr/>
                    <a:lstStyle/>
                    <a:p>
                      <a:pPr algn="l">
                        <a:defRPr sz="900">
                          <a:solidFill>
                            <a:srgbClr val="4F46E5"/>
                          </a:solidFill>
                          <a:latin typeface="Segoe UI"/>
                        </a:defRPr>
                      </a:pPr>
                      <a:r>
                        <a:t>DECIMAL(10,8)/(11,8)</a:t>
                      </a:r>
                    </a:p>
                  </a:txBody>
                  <a:tcPr anchor="ctr">
                    <a:solidFill>
                      <a:srgbClr val="F1F5F9"/>
                    </a:solidFill>
                  </a:tcPr>
                </a:tc>
                <a:tc>
                  <a:txBody>
                    <a:bodyPr/>
                    <a:lstStyle/>
                    <a:p>
                      <a:pPr algn="l">
                        <a:defRPr sz="900">
                          <a:solidFill>
                            <a:srgbClr val="059669"/>
                          </a:solidFill>
                          <a:latin typeface="Segoe UI"/>
                        </a:defRPr>
                      </a:pPr>
                      <a:r>
                        <a:t>NOT NULL</a:t>
                      </a:r>
                    </a:p>
                  </a:txBody>
                  <a:tcPr anchor="ctr">
                    <a:solidFill>
                      <a:srgbClr val="F1F5F9"/>
                    </a:solidFill>
                  </a:tcPr>
                </a:tc>
                <a:tc>
                  <a:txBody>
                    <a:bodyPr/>
                    <a:lstStyle/>
                    <a:p>
                      <a:pPr algn="l">
                        <a:defRPr sz="900">
                          <a:solidFill>
                            <a:srgbClr val="0F172A"/>
                          </a:solidFill>
                          <a:latin typeface="Segoe UI"/>
                        </a:defRPr>
                      </a:pPr>
                      <a:r>
                        <a:t>Central centroid GPS coordinates representing the geographic center of the city.</a:t>
                      </a:r>
                    </a:p>
                  </a:txBody>
                  <a:tcPr anchor="ctr">
                    <a:solidFill>
                      <a:srgbClr val="F1F5F9"/>
                    </a:solidFill>
                  </a:tcPr>
                </a:tc>
              </a:tr>
              <a:tr h="256032">
                <a:tc>
                  <a:txBody>
                    <a:bodyPr/>
                    <a:lstStyle/>
                    <a:p>
                      <a:pPr algn="l">
                        <a:defRPr sz="900" b="1">
                          <a:solidFill>
                            <a:srgbClr val="1E3A8A"/>
                          </a:solidFill>
                          <a:latin typeface="Segoe UI"/>
                        </a:defRPr>
                      </a:pPr>
                      <a:r>
                        <a:t>timezone / location_level</a:t>
                      </a:r>
                    </a:p>
                  </a:txBody>
                  <a:tcPr anchor="ctr">
                    <a:solidFill>
                      <a:srgbClr val="FFFFFF"/>
                    </a:solidFill>
                  </a:tcPr>
                </a:tc>
                <a:tc>
                  <a:txBody>
                    <a:bodyPr/>
                    <a:lstStyle/>
                    <a:p>
                      <a:pPr algn="l">
                        <a:defRPr sz="900">
                          <a:solidFill>
                            <a:srgbClr val="4F46E5"/>
                          </a:solidFill>
                          <a:latin typeface="Segoe UI"/>
                        </a:defRPr>
                      </a:pPr>
                      <a:r>
                        <a:t>VARCHAR(50)</a:t>
                      </a:r>
                    </a:p>
                  </a:txBody>
                  <a:tcPr anchor="ctr">
                    <a:solidFill>
                      <a:srgbClr val="FFFFFF"/>
                    </a:solidFill>
                  </a:tcPr>
                </a:tc>
                <a:tc>
                  <a:txBody>
                    <a:bodyPr/>
                    <a:lstStyle/>
                    <a:p>
                      <a:pPr algn="l">
                        <a:defRPr sz="900">
                          <a:solidFill>
                            <a:srgbClr val="64748B"/>
                          </a:solidFill>
                          <a:latin typeface="Segoe UI"/>
                        </a:defRPr>
                      </a:pPr>
                      <a:r>
                        <a:t>DEFAULT Kolkata / City</a:t>
                      </a:r>
                    </a:p>
                  </a:txBody>
                  <a:tcPr anchor="ctr">
                    <a:solidFill>
                      <a:srgbClr val="FFFFFF"/>
                    </a:solidFill>
                  </a:tcPr>
                </a:tc>
                <a:tc>
                  <a:txBody>
                    <a:bodyPr/>
                    <a:lstStyle/>
                    <a:p>
                      <a:pPr algn="l">
                        <a:defRPr sz="900">
                          <a:solidFill>
                            <a:srgbClr val="0F172A"/>
                          </a:solidFill>
                          <a:latin typeface="Segoe UI"/>
                        </a:defRPr>
                      </a:pPr>
                      <a:r>
                        <a:t>Timezone specification and administrative granularity level ('City', 'District', 'State').</a:t>
                      </a:r>
                    </a:p>
                  </a:txBody>
                  <a:tcPr anchor="ctr">
                    <a:solidFill>
                      <a:srgbClr val="FFFFFF"/>
                    </a:solidFill>
                  </a:tcPr>
                </a:tc>
              </a:tr>
              <a:tr h="256032">
                <a:tc>
                  <a:txBody>
                    <a:bodyPr/>
                    <a:lstStyle/>
                    <a:p>
                      <a:pPr algn="l">
                        <a:defRPr sz="900" b="1">
                          <a:solidFill>
                            <a:srgbClr val="1E3A8A"/>
                          </a:solidFill>
                          <a:latin typeface="Segoe UI"/>
                        </a:defRPr>
                      </a:pPr>
                      <a:r>
                        <a:t>location_source / status</a:t>
                      </a:r>
                    </a:p>
                  </a:txBody>
                  <a:tcPr anchor="ctr">
                    <a:solidFill>
                      <a:srgbClr val="F1F5F9"/>
                    </a:solidFill>
                  </a:tcPr>
                </a:tc>
                <a:tc>
                  <a:txBody>
                    <a:bodyPr/>
                    <a:lstStyle/>
                    <a:p>
                      <a:pPr algn="l">
                        <a:defRPr sz="900">
                          <a:solidFill>
                            <a:srgbClr val="4F46E5"/>
                          </a:solidFill>
                          <a:latin typeface="Segoe UI"/>
                        </a:defRPr>
                      </a:pPr>
                      <a:r>
                        <a:t>VARCHAR(50)</a:t>
                      </a:r>
                    </a:p>
                  </a:txBody>
                  <a:tcPr anchor="ctr">
                    <a:solidFill>
                      <a:srgbClr val="F1F5F9"/>
                    </a:solidFill>
                  </a:tcPr>
                </a:tc>
                <a:tc>
                  <a:txBody>
                    <a:bodyPr/>
                    <a:lstStyle/>
                    <a:p>
                      <a:pPr algn="l">
                        <a:defRPr sz="900">
                          <a:solidFill>
                            <a:srgbClr val="64748B"/>
                          </a:solidFill>
                          <a:latin typeface="Segoe UI"/>
                        </a:defRPr>
                      </a:pPr>
                      <a:r>
                        <a:t>DEFAULT GPS / 'Active'</a:t>
                      </a:r>
                    </a:p>
                  </a:txBody>
                  <a:tcPr anchor="ctr">
                    <a:solidFill>
                      <a:srgbClr val="F1F5F9"/>
                    </a:solidFill>
                  </a:tcPr>
                </a:tc>
                <a:tc>
                  <a:txBody>
                    <a:bodyPr/>
                    <a:lstStyle/>
                    <a:p>
                      <a:pPr algn="l">
                        <a:defRPr sz="900">
                          <a:solidFill>
                            <a:srgbClr val="0F172A"/>
                          </a:solidFill>
                          <a:latin typeface="Segoe UI"/>
                        </a:defRPr>
                      </a:pPr>
                      <a:r>
                        <a:t>Primary positioning source and activity tier: 'High Activity', 'Active', 'Inactive'.</a:t>
                      </a:r>
                    </a:p>
                  </a:txBody>
                  <a:tcPr anchor="ctr">
                    <a:solidFill>
                      <a:srgbClr val="F1F5F9"/>
                    </a:solidFill>
                  </a:tcPr>
                </a:tc>
              </a:tr>
              <a:tr h="256032">
                <a:tc>
                  <a:txBody>
                    <a:bodyPr/>
                    <a:lstStyle/>
                    <a:p>
                      <a:pPr algn="l">
                        <a:defRPr sz="900" b="1">
                          <a:solidFill>
                            <a:srgbClr val="1E3A8A"/>
                          </a:solidFill>
                          <a:latin typeface="Segoe UI"/>
                        </a:defRPr>
                      </a:pPr>
                      <a:r>
                        <a:t>devices_count / anonymous_users</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64748B"/>
                          </a:solidFill>
                          <a:latin typeface="Segoe UI"/>
                        </a:defRPr>
                      </a:pPr>
                      <a:r>
                        <a:t>DEFAULT 0</a:t>
                      </a:r>
                    </a:p>
                  </a:txBody>
                  <a:tcPr anchor="ctr">
                    <a:solidFill>
                      <a:srgbClr val="FFFFFF"/>
                    </a:solidFill>
                  </a:tcPr>
                </a:tc>
                <a:tc>
                  <a:txBody>
                    <a:bodyPr/>
                    <a:lstStyle/>
                    <a:p>
                      <a:pPr algn="l">
                        <a:defRPr sz="900">
                          <a:solidFill>
                            <a:srgbClr val="0F172A"/>
                          </a:solidFill>
                          <a:latin typeface="Segoe UI"/>
                        </a:defRPr>
                      </a:pPr>
                      <a:r>
                        <a:t>Total active hardware devices and unauthenticated mobile users mapped to this area.</a:t>
                      </a:r>
                    </a:p>
                  </a:txBody>
                  <a:tcPr anchor="ctr">
                    <a:solidFill>
                      <a:srgbClr val="FFFFFF"/>
                    </a:solidFill>
                  </a:tcPr>
                </a:tc>
              </a:tr>
              <a:tr h="256032">
                <a:tc>
                  <a:txBody>
                    <a:bodyPr/>
                    <a:lstStyle/>
                    <a:p>
                      <a:pPr algn="l">
                        <a:defRPr sz="900" b="1">
                          <a:solidFill>
                            <a:srgbClr val="1E3A8A"/>
                          </a:solidFill>
                          <a:latin typeface="Segoe UI"/>
                        </a:defRPr>
                      </a:pPr>
                      <a:r>
                        <a:t>photos_captured_count</a:t>
                      </a:r>
                    </a:p>
                  </a:txBody>
                  <a:tcPr anchor="ctr">
                    <a:solidFill>
                      <a:srgbClr val="F1F5F9"/>
                    </a:solidFill>
                  </a:tcPr>
                </a:tc>
                <a:tc>
                  <a:txBody>
                    <a:bodyPr/>
                    <a:lstStyle/>
                    <a:p>
                      <a:pPr algn="l">
                        <a:defRPr sz="900">
                          <a:solidFill>
                            <a:srgbClr val="4F46E5"/>
                          </a:solidFill>
                          <a:latin typeface="Segoe UI"/>
                        </a:defRPr>
                      </a:pPr>
                      <a:r>
                        <a:t>BIGINT UNSIGNED</a:t>
                      </a:r>
                    </a:p>
                  </a:txBody>
                  <a:tcPr anchor="ctr">
                    <a:solidFill>
                      <a:srgbClr val="F1F5F9"/>
                    </a:solidFill>
                  </a:tcPr>
                </a:tc>
                <a:tc>
                  <a:txBody>
                    <a:bodyPr/>
                    <a:lstStyle/>
                    <a:p>
                      <a:pPr algn="l">
                        <a:defRPr sz="900">
                          <a:solidFill>
                            <a:srgbClr val="64748B"/>
                          </a:solidFill>
                          <a:latin typeface="Segoe UI"/>
                        </a:defRPr>
                      </a:pPr>
                      <a:r>
                        <a:t>DEFAULT 0</a:t>
                      </a:r>
                    </a:p>
                  </a:txBody>
                  <a:tcPr anchor="ctr">
                    <a:solidFill>
                      <a:srgbClr val="F1F5F9"/>
                    </a:solidFill>
                  </a:tcPr>
                </a:tc>
                <a:tc>
                  <a:txBody>
                    <a:bodyPr/>
                    <a:lstStyle/>
                    <a:p>
                      <a:pPr algn="l">
                        <a:defRPr sz="900">
                          <a:solidFill>
                            <a:srgbClr val="0F172A"/>
                          </a:solidFill>
                          <a:latin typeface="Segoe UI"/>
                        </a:defRPr>
                      </a:pPr>
                      <a:r>
                        <a:t>Cumulative count of GPS watermarked photos captured within this boundary.</a:t>
                      </a:r>
                    </a:p>
                  </a:txBody>
                  <a:tcPr anchor="ctr">
                    <a:solidFill>
                      <a:srgbClr val="F1F5F9"/>
                    </a:solidFill>
                  </a:tcPr>
                </a:tc>
              </a:tr>
              <a:tr h="256032">
                <a:tc>
                  <a:txBody>
                    <a:bodyPr/>
                    <a:lstStyle/>
                    <a:p>
                      <a:pPr algn="l">
                        <a:defRPr sz="900" b="1">
                          <a:solidFill>
                            <a:srgbClr val="1E3A8A"/>
                          </a:solidFill>
                          <a:latin typeface="Segoe UI"/>
                        </a:defRPr>
                      </a:pPr>
                      <a:r>
                        <a:t>new_installs_count</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64748B"/>
                          </a:solidFill>
                          <a:latin typeface="Segoe UI"/>
                        </a:defRPr>
                      </a:pPr>
                      <a:r>
                        <a:t>DEFAULT 0</a:t>
                      </a:r>
                    </a:p>
                  </a:txBody>
                  <a:tcPr anchor="ctr">
                    <a:solidFill>
                      <a:srgbClr val="FFFFFF"/>
                    </a:solidFill>
                  </a:tcPr>
                </a:tc>
                <a:tc>
                  <a:txBody>
                    <a:bodyPr/>
                    <a:lstStyle/>
                    <a:p>
                      <a:pPr algn="l">
                        <a:defRPr sz="900">
                          <a:solidFill>
                            <a:srgbClr val="0F172A"/>
                          </a:solidFill>
                          <a:latin typeface="Segoe UI"/>
                        </a:defRPr>
                      </a:pPr>
                      <a:r>
                        <a:t>Growth metric tracking new GeoCam app installations in the current reporting period.</a:t>
                      </a:r>
                    </a:p>
                  </a:txBody>
                  <a:tcPr anchor="ctr">
                    <a:solidFill>
                      <a:srgbClr val="FFFFFF"/>
                    </a:solidFill>
                  </a:tcPr>
                </a:tc>
              </a:tr>
              <a:tr h="256032">
                <a:tc>
                  <a:txBody>
                    <a:bodyPr/>
                    <a:lstStyle/>
                    <a:p>
                      <a:pPr algn="l">
                        <a:defRPr sz="900" b="1">
                          <a:solidFill>
                            <a:srgbClr val="1E3A8A"/>
                          </a:solidFill>
                          <a:latin typeface="Segoe UI"/>
                        </a:defRPr>
                      </a:pPr>
                      <a:r>
                        <a:t>notification_enabled_percentage</a:t>
                      </a:r>
                    </a:p>
                  </a:txBody>
                  <a:tcPr anchor="ctr">
                    <a:solidFill>
                      <a:srgbClr val="F1F5F9"/>
                    </a:solidFill>
                  </a:tcPr>
                </a:tc>
                <a:tc>
                  <a:txBody>
                    <a:bodyPr/>
                    <a:lstStyle/>
                    <a:p>
                      <a:pPr algn="l">
                        <a:defRPr sz="900">
                          <a:solidFill>
                            <a:srgbClr val="4F46E5"/>
                          </a:solidFill>
                          <a:latin typeface="Segoe UI"/>
                        </a:defRPr>
                      </a:pPr>
                      <a:r>
                        <a:t>DECIMAL(5,2)</a:t>
                      </a:r>
                    </a:p>
                  </a:txBody>
                  <a:tcPr anchor="ctr">
                    <a:solidFill>
                      <a:srgbClr val="F1F5F9"/>
                    </a:solidFill>
                  </a:tcPr>
                </a:tc>
                <a:tc>
                  <a:txBody>
                    <a:bodyPr/>
                    <a:lstStyle/>
                    <a:p>
                      <a:pPr algn="l">
                        <a:defRPr sz="900">
                          <a:solidFill>
                            <a:srgbClr val="64748B"/>
                          </a:solidFill>
                          <a:latin typeface="Segoe UI"/>
                        </a:defRPr>
                      </a:pPr>
                      <a:r>
                        <a:t>DEFAULT 75.00</a:t>
                      </a:r>
                    </a:p>
                  </a:txBody>
                  <a:tcPr anchor="ctr">
                    <a:solidFill>
                      <a:srgbClr val="F1F5F9"/>
                    </a:solidFill>
                  </a:tcPr>
                </a:tc>
                <a:tc>
                  <a:txBody>
                    <a:bodyPr/>
                    <a:lstStyle/>
                    <a:p>
                      <a:pPr algn="l">
                        <a:defRPr sz="900">
                          <a:solidFill>
                            <a:srgbClr val="0F172A"/>
                          </a:solidFill>
                          <a:latin typeface="Segoe UI"/>
                        </a:defRPr>
                      </a:pPr>
                      <a:r>
                        <a:t>Ratio of users with push notifications enabled; evaluates marketing reachability.</a:t>
                      </a:r>
                    </a:p>
                  </a:txBody>
                  <a:tcPr anchor="ctr">
                    <a:solidFill>
                      <a:srgbClr val="F1F5F9"/>
                    </a:solidFill>
                  </a:tcPr>
                </a:tc>
              </a:tr>
              <a:tr h="256032">
                <a:tc>
                  <a:txBody>
                    <a:bodyPr/>
                    <a:lstStyle/>
                    <a:p>
                      <a:pPr algn="l">
                        <a:defRPr sz="900" b="1">
                          <a:solidFill>
                            <a:srgbClr val="1E3A8A"/>
                          </a:solidFill>
                          <a:latin typeface="Segoe UI"/>
                        </a:defRPr>
                      </a:pPr>
                      <a:r>
                        <a:t>location_sources / permissions</a:t>
                      </a:r>
                    </a:p>
                  </a:txBody>
                  <a:tcPr anchor="ctr">
                    <a:solidFill>
                      <a:srgbClr val="FFFFFF"/>
                    </a:solidFill>
                  </a:tcPr>
                </a:tc>
                <a:tc>
                  <a:txBody>
                    <a:bodyPr/>
                    <a:lstStyle/>
                    <a:p>
                      <a:pPr algn="l">
                        <a:defRPr sz="900">
                          <a:solidFill>
                            <a:srgbClr val="4F46E5"/>
                          </a:solidFill>
                          <a:latin typeface="Segoe UI"/>
                        </a:defRPr>
                      </a:pPr>
                      <a:r>
                        <a:t>JSON</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JSON breakdown of positioning modes (GPS vs Network) and permission grants.</a:t>
                      </a:r>
                    </a:p>
                  </a:txBody>
                  <a:tcPr anchor="ctr">
                    <a:solidFill>
                      <a:srgbClr val="FFFFFF"/>
                    </a:solidFill>
                  </a:tcPr>
                </a:tc>
              </a:tr>
              <a:tr h="256032">
                <a:tc>
                  <a:txBody>
                    <a:bodyPr/>
                    <a:lstStyle/>
                    <a:p>
                      <a:pPr algn="l">
                        <a:defRPr sz="900" b="1">
                          <a:solidFill>
                            <a:srgbClr val="1E3A8A"/>
                          </a:solidFill>
                          <a:latin typeface="Segoe UI"/>
                        </a:defRPr>
                      </a:pPr>
                      <a:r>
                        <a:t>platform_distribution</a:t>
                      </a:r>
                    </a:p>
                  </a:txBody>
                  <a:tcPr anchor="ctr">
                    <a:solidFill>
                      <a:srgbClr val="F1F5F9"/>
                    </a:solidFill>
                  </a:tcPr>
                </a:tc>
                <a:tc>
                  <a:txBody>
                    <a:bodyPr/>
                    <a:lstStyle/>
                    <a:p>
                      <a:pPr algn="l">
                        <a:defRPr sz="900">
                          <a:solidFill>
                            <a:srgbClr val="4F46E5"/>
                          </a:solidFill>
                          <a:latin typeface="Segoe UI"/>
                        </a:defRPr>
                      </a:pPr>
                      <a:r>
                        <a:t>JSON</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JSON percentage split between Android and iOS users in this location.</a:t>
                      </a:r>
                    </a:p>
                  </a:txBody>
                  <a:tcPr anchor="ctr">
                    <a:solidFill>
                      <a:srgbClr val="F1F5F9"/>
                    </a:solidFill>
                  </a:tcPr>
                </a:tc>
              </a:tr>
              <a:tr h="256032">
                <a:tc>
                  <a:txBody>
                    <a:bodyPr/>
                    <a:lstStyle/>
                    <a:p>
                      <a:pPr algn="l">
                        <a:defRPr sz="900" b="1">
                          <a:solidFill>
                            <a:srgbClr val="1E3A8A"/>
                          </a:solidFill>
                          <a:latin typeface="Segoe UI"/>
                        </a:defRPr>
                      </a:pPr>
                      <a:r>
                        <a:t>top_app_versions</a:t>
                      </a:r>
                    </a:p>
                  </a:txBody>
                  <a:tcPr anchor="ctr">
                    <a:solidFill>
                      <a:srgbClr val="FFFFFF"/>
                    </a:solidFill>
                  </a:tcPr>
                </a:tc>
                <a:tc>
                  <a:txBody>
                    <a:bodyPr/>
                    <a:lstStyle/>
                    <a:p>
                      <a:pPr algn="l">
                        <a:defRPr sz="900">
                          <a:solidFill>
                            <a:srgbClr val="4F46E5"/>
                          </a:solidFill>
                          <a:latin typeface="Segoe UI"/>
                        </a:defRPr>
                      </a:pPr>
                      <a:r>
                        <a:t>JSON</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JSON distribution of active app versions to highlight lagging update regions.</a:t>
                      </a:r>
                    </a:p>
                  </a:txBody>
                  <a:tcPr anchor="ctr">
                    <a:solidFill>
                      <a:srgbClr val="FFFFFF"/>
                    </a:solidFill>
                  </a:tcPr>
                </a:tc>
              </a:tr>
              <a:tr h="256032">
                <a:tc>
                  <a:txBody>
                    <a:bodyPr/>
                    <a:lstStyle/>
                    <a:p>
                      <a:pPr algn="l">
                        <a:defRPr sz="900" b="1">
                          <a:solidFill>
                            <a:srgbClr val="1E3A8A"/>
                          </a:solidFill>
                          <a:latin typeface="Segoe UI"/>
                        </a:defRPr>
                      </a:pPr>
                      <a:r>
                        <a:t>activity_areas</a:t>
                      </a:r>
                    </a:p>
                  </a:txBody>
                  <a:tcPr anchor="ctr">
                    <a:solidFill>
                      <a:srgbClr val="F1F5F9"/>
                    </a:solidFill>
                  </a:tcPr>
                </a:tc>
                <a:tc>
                  <a:txBody>
                    <a:bodyPr/>
                    <a:lstStyle/>
                    <a:p>
                      <a:pPr algn="l">
                        <a:defRPr sz="900">
                          <a:solidFill>
                            <a:srgbClr val="4F46E5"/>
                          </a:solidFill>
                          <a:latin typeface="Segoe UI"/>
                        </a:defRPr>
                      </a:pPr>
                      <a:r>
                        <a:t>JSON</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Sub-neighborhood coordinates, pin counts, and density levels for interactive map heatmaps.</a:t>
                      </a:r>
                    </a:p>
                  </a:txBody>
                  <a:tcPr anchor="ctr">
                    <a:solidFill>
                      <a:srgbClr val="F1F5F9"/>
                    </a:solidFill>
                  </a:tcPr>
                </a:tc>
              </a:tr>
              <a:tr h="256032">
                <a:tc>
                  <a:txBody>
                    <a:bodyPr/>
                    <a:lstStyle/>
                    <a:p>
                      <a:pPr algn="l">
                        <a:defRPr sz="900" b="1">
                          <a:solidFill>
                            <a:srgbClr val="1E3A8A"/>
                          </a:solidFill>
                          <a:latin typeface="Segoe UI"/>
                        </a:defRPr>
                      </a:pPr>
                      <a:r>
                        <a:t>activity_by_hour_matrix</a:t>
                      </a:r>
                    </a:p>
                  </a:txBody>
                  <a:tcPr anchor="ctr">
                    <a:solidFill>
                      <a:srgbClr val="FFFFFF"/>
                    </a:solidFill>
                  </a:tcPr>
                </a:tc>
                <a:tc>
                  <a:txBody>
                    <a:bodyPr/>
                    <a:lstStyle/>
                    <a:p>
                      <a:pPr algn="l">
                        <a:defRPr sz="900">
                          <a:solidFill>
                            <a:srgbClr val="4F46E5"/>
                          </a:solidFill>
                          <a:latin typeface="Segoe UI"/>
                        </a:defRPr>
                      </a:pPr>
                      <a:r>
                        <a:t>JSON</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Comprehensive 7x24 matrix (Day-of-Week x Hour) mapping temporal camera usage peaks.</a:t>
                      </a:r>
                    </a:p>
                  </a:txBody>
                  <a:tcPr anchor="ctr">
                    <a:solidFill>
                      <a:srgbClr val="FFFFFF"/>
                    </a:solidFill>
                  </a:tcPr>
                </a:tc>
              </a:tr>
              <a:tr h="256032">
                <a:tc>
                  <a:txBody>
                    <a:bodyPr/>
                    <a:lstStyle/>
                    <a:p>
                      <a:pPr algn="l">
                        <a:defRPr sz="900" b="1">
                          <a:solidFill>
                            <a:srgbClr val="1E3A8A"/>
                          </a:solidFill>
                          <a:latin typeface="Segoe UI"/>
                        </a:defRPr>
                      </a:pPr>
                      <a:r>
                        <a:t>peak_hour / peak_day / top_area</a:t>
                      </a:r>
                    </a:p>
                  </a:txBody>
                  <a:tcPr anchor="ctr">
                    <a:solidFill>
                      <a:srgbClr val="F1F5F9"/>
                    </a:solidFill>
                  </a:tcPr>
                </a:tc>
                <a:tc>
                  <a:txBody>
                    <a:bodyPr/>
                    <a:lstStyle/>
                    <a:p>
                      <a:pPr algn="l">
                        <a:defRPr sz="900">
                          <a:solidFill>
                            <a:srgbClr val="4F46E5"/>
                          </a:solidFill>
                          <a:latin typeface="Segoe UI"/>
                        </a:defRPr>
                      </a:pPr>
                      <a:r>
                        <a:t>VARCHAR</a:t>
                      </a:r>
                    </a:p>
                  </a:txBody>
                  <a:tcPr anchor="ctr">
                    <a:solidFill>
                      <a:srgbClr val="F1F5F9"/>
                    </a:solidFill>
                  </a:tcPr>
                </a:tc>
                <a:tc>
                  <a:txBody>
                    <a:bodyPr/>
                    <a:lstStyle/>
                    <a:p>
                      <a:pPr algn="l">
                        <a:defRPr sz="900">
                          <a:solidFill>
                            <a:srgbClr val="64748B"/>
                          </a:solidFill>
                          <a:latin typeface="Segoe UI"/>
                        </a:defRPr>
                      </a:pPr>
                      <a:r>
                        <a:t>DEFAULT 7PM/Sun/Area</a:t>
                      </a:r>
                    </a:p>
                  </a:txBody>
                  <a:tcPr anchor="ctr">
                    <a:solidFill>
                      <a:srgbClr val="F1F5F9"/>
                    </a:solidFill>
                  </a:tcPr>
                </a:tc>
                <a:tc>
                  <a:txBody>
                    <a:bodyPr/>
                    <a:lstStyle/>
                    <a:p>
                      <a:pPr algn="l">
                        <a:defRPr sz="900">
                          <a:solidFill>
                            <a:srgbClr val="0F172A"/>
                          </a:solidFill>
                          <a:latin typeface="Segoe UI"/>
                        </a:defRPr>
                      </a:pPr>
                      <a:r>
                        <a:t>Pre-computed highlights for summary cards on the Geo Analytics dashboard.</a:t>
                      </a:r>
                    </a:p>
                  </a:txBody>
                  <a:tcPr anchor="ctr">
                    <a:solidFill>
                      <a:srgbClr val="F1F5F9"/>
                    </a:solidFill>
                  </a:tcPr>
                </a:tc>
              </a:tr>
              <a:tr h="256032">
                <a:tc>
                  <a:txBody>
                    <a:bodyPr/>
                    <a:lstStyle/>
                    <a:p>
                      <a:pPr algn="l">
                        <a:defRPr sz="900" b="1">
                          <a:solidFill>
                            <a:srgbClr val="1E3A8A"/>
                          </a:solidFill>
                          <a:latin typeface="Segoe UI"/>
                        </a:defRPr>
                      </a:pPr>
                      <a:r>
                        <a:t>last_activity_at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INDEXED</a:t>
                      </a:r>
                    </a:p>
                  </a:txBody>
                  <a:tcPr anchor="ctr">
                    <a:solidFill>
                      <a:srgbClr val="FFFFFF"/>
                    </a:solidFill>
                  </a:tcPr>
                </a:tc>
                <a:tc>
                  <a:txBody>
                    <a:bodyPr/>
                    <a:lstStyle/>
                    <a:p>
                      <a:pPr algn="l">
                        <a:defRPr sz="900">
                          <a:solidFill>
                            <a:srgbClr val="0F172A"/>
                          </a:solidFill>
                          <a:latin typeface="Segoe UI"/>
                        </a:defRPr>
                      </a:pPr>
                      <a:r>
                        <a:t>Timestamp of the most recent photo capture or telemetry heartbeat in this location.</a:t>
                      </a:r>
                    </a:p>
                  </a:txBody>
                  <a:tcPr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DYNAMIC AUDIENCE SEGMENTATION ENGINE</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audience_segments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Powers dynamic and static device cohort targeting. Stores rule groups (location, OS, activity thresholds, recency) in flexible JSON structures, tracks deliverable audience sizes, and manages segment lifecycle states (active, paused, archived).</a:t>
            </a:r>
          </a:p>
        </p:txBody>
      </p:sp>
      <p:graphicFrame>
        <p:nvGraphicFramePr>
          <p:cNvPr id="8" name="Table 7"/>
          <p:cNvGraphicFramePr>
            <a:graphicFrameLocks noGrp="1"/>
          </p:cNvGraphicFramePr>
          <p:nvPr/>
        </p:nvGraphicFramePr>
        <p:xfrm>
          <a:off x="548640" y="1737360"/>
          <a:ext cx="11094415" cy="4672584"/>
        </p:xfrm>
        <a:graphic>
          <a:graphicData uri="http://schemas.openxmlformats.org/drawingml/2006/table">
            <a:tbl>
              <a:tblPr firstRow="1" bandRow="1">
                <a:tableStyleId>{5C22544A-7EE6-4342-B048-85BDC9FD1C3A}</a:tableStyleId>
              </a:tblPr>
              <a:tblGrid>
                <a:gridCol w="2011680"/>
                <a:gridCol w="1463040"/>
                <a:gridCol w="1645920"/>
                <a:gridCol w="597377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Internal relational primary key for audience segment records.</a:t>
                      </a:r>
                    </a:p>
                  </a:txBody>
                  <a:tcPr anchor="ctr">
                    <a:solidFill>
                      <a:srgbClr val="FFFFFF"/>
                    </a:solidFill>
                  </a:tcPr>
                </a:tc>
              </a:tr>
              <a:tr h="256032">
                <a:tc>
                  <a:txBody>
                    <a:bodyPr/>
                    <a:lstStyle/>
                    <a:p>
                      <a:pPr algn="l">
                        <a:defRPr sz="900" b="1">
                          <a:solidFill>
                            <a:srgbClr val="1E3A8A"/>
                          </a:solidFill>
                          <a:latin typeface="Segoe UI"/>
                        </a:defRPr>
                      </a:pPr>
                      <a:r>
                        <a:t>segment_id</a:t>
                      </a:r>
                    </a:p>
                  </a:txBody>
                  <a:tcPr anchor="ctr">
                    <a:solidFill>
                      <a:srgbClr val="F1F5F9"/>
                    </a:solidFill>
                  </a:tcPr>
                </a:tc>
                <a:tc>
                  <a:txBody>
                    <a:bodyPr/>
                    <a:lstStyle/>
                    <a:p>
                      <a:pPr algn="l">
                        <a:defRPr sz="900">
                          <a:solidFill>
                            <a:srgbClr val="4F46E5"/>
                          </a:solidFill>
                          <a:latin typeface="Segoe UI"/>
                        </a:defRPr>
                      </a:pPr>
                      <a:r>
                        <a:t>VARCHAR(50)</a:t>
                      </a:r>
                    </a:p>
                  </a:txBody>
                  <a:tcPr anchor="ctr">
                    <a:solidFill>
                      <a:srgbClr val="F1F5F9"/>
                    </a:solidFill>
                  </a:tcPr>
                </a:tc>
                <a:tc>
                  <a:txBody>
                    <a:bodyPr/>
                    <a:lstStyle/>
                    <a:p>
                      <a:pPr algn="l">
                        <a:defRPr sz="900">
                          <a:solidFill>
                            <a:srgbClr val="059669"/>
                          </a:solidFill>
                          <a:latin typeface="Segoe UI"/>
                        </a:defRPr>
                      </a:pPr>
                      <a:r>
                        <a:t>UNIQUE, NOT NULL</a:t>
                      </a:r>
                    </a:p>
                  </a:txBody>
                  <a:tcPr anchor="ctr">
                    <a:solidFill>
                      <a:srgbClr val="F1F5F9"/>
                    </a:solidFill>
                  </a:tcPr>
                </a:tc>
                <a:tc>
                  <a:txBody>
                    <a:bodyPr/>
                    <a:lstStyle/>
                    <a:p>
                      <a:pPr algn="l">
                        <a:defRPr sz="900">
                          <a:solidFill>
                            <a:srgbClr val="0F172A"/>
                          </a:solidFill>
                          <a:latin typeface="Segoe UI"/>
                        </a:defRPr>
                      </a:pPr>
                      <a:r>
                        <a:t>Business segment code (e.g. 'SEG-ACTIVE-TN', 'SEG-INACTIVE-30D') for display/APIs.</a:t>
                      </a:r>
                    </a:p>
                  </a:txBody>
                  <a:tcPr anchor="ctr">
                    <a:solidFill>
                      <a:srgbClr val="F1F5F9"/>
                    </a:solidFill>
                  </a:tcPr>
                </a:tc>
              </a:tr>
              <a:tr h="256032">
                <a:tc>
                  <a:txBody>
                    <a:bodyPr/>
                    <a:lstStyle/>
                    <a:p>
                      <a:pPr algn="l">
                        <a:defRPr sz="900" b="1">
                          <a:solidFill>
                            <a:srgbClr val="1E3A8A"/>
                          </a:solidFill>
                          <a:latin typeface="Segoe UI"/>
                        </a:defRPr>
                      </a:pPr>
                      <a:r>
                        <a:t>name / description</a:t>
                      </a:r>
                    </a:p>
                  </a:txBody>
                  <a:tcPr anchor="ctr">
                    <a:solidFill>
                      <a:srgbClr val="FFFFFF"/>
                    </a:solidFill>
                  </a:tcPr>
                </a:tc>
                <a:tc>
                  <a:txBody>
                    <a:bodyPr/>
                    <a:lstStyle/>
                    <a:p>
                      <a:pPr algn="l">
                        <a:defRPr sz="900">
                          <a:solidFill>
                            <a:srgbClr val="4F46E5"/>
                          </a:solidFill>
                          <a:latin typeface="Segoe UI"/>
                        </a:defRPr>
                      </a:pPr>
                      <a:r>
                        <a:t>VARCHAR(100) / (255)</a:t>
                      </a:r>
                    </a:p>
                  </a:txBody>
                  <a:tcPr anchor="ctr">
                    <a:solidFill>
                      <a:srgbClr val="FFFFFF"/>
                    </a:solidFill>
                  </a:tcPr>
                </a:tc>
                <a:tc>
                  <a:txBody>
                    <a:bodyPr/>
                    <a:lstStyle/>
                    <a:p>
                      <a:pPr algn="l">
                        <a:defRPr sz="900">
                          <a:solidFill>
                            <a:srgbClr val="059669"/>
                          </a:solidFill>
                          <a:latin typeface="Segoe UI"/>
                        </a:defRPr>
                      </a:pPr>
                      <a:r>
                        <a:t>NOT NULL / NULL</a:t>
                      </a:r>
                    </a:p>
                  </a:txBody>
                  <a:tcPr anchor="ctr">
                    <a:solidFill>
                      <a:srgbClr val="FFFFFF"/>
                    </a:solidFill>
                  </a:tcPr>
                </a:tc>
                <a:tc>
                  <a:txBody>
                    <a:bodyPr/>
                    <a:lstStyle/>
                    <a:p>
                      <a:pPr algn="l">
                        <a:defRPr sz="900">
                          <a:solidFill>
                            <a:srgbClr val="0F172A"/>
                          </a:solidFill>
                          <a:latin typeface="Segoe UI"/>
                        </a:defRPr>
                      </a:pPr>
                      <a:r>
                        <a:t>Descriptive title and operational summary of the target cohort definition.</a:t>
                      </a:r>
                    </a:p>
                  </a:txBody>
                  <a:tcPr anchor="ctr">
                    <a:solidFill>
                      <a:srgbClr val="FFFFFF"/>
                    </a:solidFill>
                  </a:tcPr>
                </a:tc>
              </a:tr>
              <a:tr h="256032">
                <a:tc>
                  <a:txBody>
                    <a:bodyPr/>
                    <a:lstStyle/>
                    <a:p>
                      <a:pPr algn="l">
                        <a:defRPr sz="900" b="1">
                          <a:solidFill>
                            <a:srgbClr val="1E3A8A"/>
                          </a:solidFill>
                          <a:latin typeface="Segoe UI"/>
                        </a:defRPr>
                      </a:pPr>
                      <a:r>
                        <a:t>type</a:t>
                      </a:r>
                    </a:p>
                  </a:txBody>
                  <a:tcPr anchor="ctr">
                    <a:solidFill>
                      <a:srgbClr val="F1F5F9"/>
                    </a:solidFill>
                  </a:tcPr>
                </a:tc>
                <a:tc>
                  <a:txBody>
                    <a:bodyPr/>
                    <a:lstStyle/>
                    <a:p>
                      <a:pPr algn="l">
                        <a:defRPr sz="900">
                          <a:solidFill>
                            <a:srgbClr val="4F46E5"/>
                          </a:solidFill>
                          <a:latin typeface="Segoe UI"/>
                        </a:defRPr>
                      </a:pPr>
                      <a:r>
                        <a:t>ENUM('dynamic','static')</a:t>
                      </a:r>
                    </a:p>
                  </a:txBody>
                  <a:tcPr anchor="ctr">
                    <a:solidFill>
                      <a:srgbClr val="F1F5F9"/>
                    </a:solidFill>
                  </a:tcPr>
                </a:tc>
                <a:tc>
                  <a:txBody>
                    <a:bodyPr/>
                    <a:lstStyle/>
                    <a:p>
                      <a:pPr algn="l">
                        <a:defRPr sz="900">
                          <a:solidFill>
                            <a:srgbClr val="64748B"/>
                          </a:solidFill>
                          <a:latin typeface="Segoe UI"/>
                        </a:defRPr>
                      </a:pPr>
                      <a:r>
                        <a:t>DEFAULT 'dynamic'</a:t>
                      </a:r>
                    </a:p>
                  </a:txBody>
                  <a:tcPr anchor="ctr">
                    <a:solidFill>
                      <a:srgbClr val="F1F5F9"/>
                    </a:solidFill>
                  </a:tcPr>
                </a:tc>
                <a:tc>
                  <a:txBody>
                    <a:bodyPr/>
                    <a:lstStyle/>
                    <a:p>
                      <a:pPr algn="l">
                        <a:defRPr sz="900">
                          <a:solidFill>
                            <a:srgbClr val="0F172A"/>
                          </a:solidFill>
                          <a:latin typeface="Segoe UI"/>
                        </a:defRPr>
                      </a:pPr>
                      <a:r>
                        <a:t>'dynamic' auto-evaluates rules on schedule; 'static' captures a fixed snapshot.</a:t>
                      </a:r>
                    </a:p>
                  </a:txBody>
                  <a:tcPr anchor="ctr">
                    <a:solidFill>
                      <a:srgbClr val="F1F5F9"/>
                    </a:solidFill>
                  </a:tcPr>
                </a:tc>
              </a:tr>
              <a:tr h="256032">
                <a:tc>
                  <a:txBody>
                    <a:bodyPr/>
                    <a:lstStyle/>
                    <a:p>
                      <a:pPr algn="l">
                        <a:defRPr sz="900" b="1">
                          <a:solidFill>
                            <a:srgbClr val="1E3A8A"/>
                          </a:solidFill>
                          <a:latin typeface="Segoe UI"/>
                        </a:defRPr>
                      </a:pPr>
                      <a:r>
                        <a:t>status</a:t>
                      </a:r>
                    </a:p>
                  </a:txBody>
                  <a:tcPr anchor="ctr">
                    <a:solidFill>
                      <a:srgbClr val="FFFFFF"/>
                    </a:solidFill>
                  </a:tcPr>
                </a:tc>
                <a:tc>
                  <a:txBody>
                    <a:bodyPr/>
                    <a:lstStyle/>
                    <a:p>
                      <a:pPr algn="l">
                        <a:defRPr sz="900">
                          <a:solidFill>
                            <a:srgbClr val="4F46E5"/>
                          </a:solidFill>
                          <a:latin typeface="Segoe UI"/>
                        </a:defRPr>
                      </a:pPr>
                      <a:r>
                        <a:t>ENUM('active','draft','paused','archived')</a:t>
                      </a:r>
                    </a:p>
                  </a:txBody>
                  <a:tcPr anchor="ctr">
                    <a:solidFill>
                      <a:srgbClr val="FFFFFF"/>
                    </a:solidFill>
                  </a:tcPr>
                </a:tc>
                <a:tc>
                  <a:txBody>
                    <a:bodyPr/>
                    <a:lstStyle/>
                    <a:p>
                      <a:pPr algn="l">
                        <a:defRPr sz="900">
                          <a:solidFill>
                            <a:srgbClr val="64748B"/>
                          </a:solidFill>
                          <a:latin typeface="Segoe UI"/>
                        </a:defRPr>
                      </a:pPr>
                      <a:r>
                        <a:t>DEFAULT 'active'</a:t>
                      </a:r>
                    </a:p>
                  </a:txBody>
                  <a:tcPr anchor="ctr">
                    <a:solidFill>
                      <a:srgbClr val="FFFFFF"/>
                    </a:solidFill>
                  </a:tcPr>
                </a:tc>
                <a:tc>
                  <a:txBody>
                    <a:bodyPr/>
                    <a:lstStyle/>
                    <a:p>
                      <a:pPr algn="l">
                        <a:defRPr sz="900">
                          <a:solidFill>
                            <a:srgbClr val="0F172A"/>
                          </a:solidFill>
                          <a:latin typeface="Segoe UI"/>
                        </a:defRPr>
                      </a:pPr>
                      <a:r>
                        <a:t>Lifecycle state controlling whether campaigns can target this segment.</a:t>
                      </a:r>
                    </a:p>
                  </a:txBody>
                  <a:tcPr anchor="ctr">
                    <a:solidFill>
                      <a:srgbClr val="FFFFFF"/>
                    </a:solidFill>
                  </a:tcPr>
                </a:tc>
              </a:tr>
              <a:tr h="256032">
                <a:tc>
                  <a:txBody>
                    <a:bodyPr/>
                    <a:lstStyle/>
                    <a:p>
                      <a:pPr algn="l">
                        <a:defRPr sz="900" b="1">
                          <a:solidFill>
                            <a:srgbClr val="1E3A8A"/>
                          </a:solidFill>
                          <a:latin typeface="Segoe UI"/>
                        </a:defRPr>
                      </a:pPr>
                      <a:r>
                        <a:t>rule_groups</a:t>
                      </a:r>
                    </a:p>
                  </a:txBody>
                  <a:tcPr anchor="ctr">
                    <a:solidFill>
                      <a:srgbClr val="F1F5F9"/>
                    </a:solidFill>
                  </a:tcPr>
                </a:tc>
                <a:tc>
                  <a:txBody>
                    <a:bodyPr/>
                    <a:lstStyle/>
                    <a:p>
                      <a:pPr algn="l">
                        <a:defRPr sz="900">
                          <a:solidFill>
                            <a:srgbClr val="4F46E5"/>
                          </a:solidFill>
                          <a:latin typeface="Segoe UI"/>
                        </a:defRPr>
                      </a:pPr>
                      <a:r>
                        <a:t>JSON</a:t>
                      </a:r>
                    </a:p>
                  </a:txBody>
                  <a:tcPr anchor="ctr">
                    <a:solidFill>
                      <a:srgbClr val="F1F5F9"/>
                    </a:solidFill>
                  </a:tcPr>
                </a:tc>
                <a:tc>
                  <a:txBody>
                    <a:bodyPr/>
                    <a:lstStyle/>
                    <a:p>
                      <a:pPr algn="l">
                        <a:defRPr sz="900">
                          <a:solidFill>
                            <a:srgbClr val="059669"/>
                          </a:solidFill>
                          <a:latin typeface="Segoe UI"/>
                        </a:defRPr>
                      </a:pPr>
                      <a:r>
                        <a:t>NOT NULL</a:t>
                      </a:r>
                    </a:p>
                  </a:txBody>
                  <a:tcPr anchor="ctr">
                    <a:solidFill>
                      <a:srgbClr val="F1F5F9"/>
                    </a:solidFill>
                  </a:tcPr>
                </a:tc>
                <a:tc>
                  <a:txBody>
                    <a:bodyPr/>
                    <a:lstStyle/>
                    <a:p>
                      <a:pPr algn="l">
                        <a:defRPr sz="900">
                          <a:solidFill>
                            <a:srgbClr val="0F172A"/>
                          </a:solidFill>
                          <a:latin typeface="Segoe UI"/>
                        </a:defRPr>
                      </a:pPr>
                      <a:r>
                        <a:t>JSON structured rule engine trees combining AND/OR conditions across telemetry fields.</a:t>
                      </a:r>
                    </a:p>
                  </a:txBody>
                  <a:tcPr anchor="ctr">
                    <a:solidFill>
                      <a:srgbClr val="F1F5F9"/>
                    </a:solidFill>
                  </a:tcPr>
                </a:tc>
              </a:tr>
              <a:tr h="256032">
                <a:tc>
                  <a:txBody>
                    <a:bodyPr/>
                    <a:lstStyle/>
                    <a:p>
                      <a:pPr algn="l">
                        <a:defRPr sz="900" b="1">
                          <a:solidFill>
                            <a:srgbClr val="1E3A8A"/>
                          </a:solidFill>
                          <a:latin typeface="Segoe UI"/>
                        </a:defRPr>
                      </a:pPr>
                      <a:r>
                        <a:t>platform_filters</a:t>
                      </a:r>
                    </a:p>
                  </a:txBody>
                  <a:tcPr anchor="ctr">
                    <a:solidFill>
                      <a:srgbClr val="FFFFFF"/>
                    </a:solidFill>
                  </a:tcPr>
                </a:tc>
                <a:tc>
                  <a:txBody>
                    <a:bodyPr/>
                    <a:lstStyle/>
                    <a:p>
                      <a:pPr algn="l">
                        <a:defRPr sz="900">
                          <a:solidFill>
                            <a:srgbClr val="4F46E5"/>
                          </a:solidFill>
                          <a:latin typeface="Segoe UI"/>
                        </a:defRPr>
                      </a:pPr>
                      <a:r>
                        <a:t>JSON</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JSON array specifying allowed OS platforms (e.g. ['Android'], ['iOS'], or both).</a:t>
                      </a:r>
                    </a:p>
                  </a:txBody>
                  <a:tcPr anchor="ctr">
                    <a:solidFill>
                      <a:srgbClr val="FFFFFF"/>
                    </a:solidFill>
                  </a:tcPr>
                </a:tc>
              </a:tr>
              <a:tr h="256032">
                <a:tc>
                  <a:txBody>
                    <a:bodyPr/>
                    <a:lstStyle/>
                    <a:p>
                      <a:pPr algn="l">
                        <a:defRPr sz="900" b="1">
                          <a:solidFill>
                            <a:srgbClr val="1E3A8A"/>
                          </a:solidFill>
                          <a:latin typeface="Segoe UI"/>
                        </a:defRPr>
                      </a:pPr>
                      <a:r>
                        <a:t>exclusions</a:t>
                      </a:r>
                    </a:p>
                  </a:txBody>
                  <a:tcPr anchor="ctr">
                    <a:solidFill>
                      <a:srgbClr val="F1F5F9"/>
                    </a:solidFill>
                  </a:tcPr>
                </a:tc>
                <a:tc>
                  <a:txBody>
                    <a:bodyPr/>
                    <a:lstStyle/>
                    <a:p>
                      <a:pPr algn="l">
                        <a:defRPr sz="900">
                          <a:solidFill>
                            <a:srgbClr val="4F46E5"/>
                          </a:solidFill>
                          <a:latin typeface="Segoe UI"/>
                        </a:defRPr>
                      </a:pPr>
                      <a:r>
                        <a:t>JSON</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JSON rules defining exclusion criteria (e.g. exclude blacklisted devices, uninstalled apps).</a:t>
                      </a:r>
                    </a:p>
                  </a:txBody>
                  <a:tcPr anchor="ctr">
                    <a:solidFill>
                      <a:srgbClr val="F1F5F9"/>
                    </a:solidFill>
                  </a:tcPr>
                </a:tc>
              </a:tr>
              <a:tr h="256032">
                <a:tc>
                  <a:txBody>
                    <a:bodyPr/>
                    <a:lstStyle/>
                    <a:p>
                      <a:pPr algn="l">
                        <a:defRPr sz="900" b="1">
                          <a:solidFill>
                            <a:srgbClr val="1E3A8A"/>
                          </a:solidFill>
                          <a:latin typeface="Segoe UI"/>
                        </a:defRPr>
                      </a:pPr>
                      <a:r>
                        <a:t>pause_duration_type / paused_until</a:t>
                      </a:r>
                    </a:p>
                  </a:txBody>
                  <a:tcPr anchor="ctr">
                    <a:solidFill>
                      <a:srgbClr val="FFFFFF"/>
                    </a:solidFill>
                  </a:tcPr>
                </a:tc>
                <a:tc>
                  <a:txBody>
                    <a:bodyPr/>
                    <a:lstStyle/>
                    <a:p>
                      <a:pPr algn="l">
                        <a:defRPr sz="900">
                          <a:solidFill>
                            <a:srgbClr val="4F46E5"/>
                          </a:solidFill>
                          <a:latin typeface="Segoe UI"/>
                        </a:defRPr>
                      </a:pPr>
                      <a:r>
                        <a:t>ENUM / DATE</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Configures temporary pause mode: 'manual' indefinitely or 'until_date' with auto-resume.</a:t>
                      </a:r>
                    </a:p>
                  </a:txBody>
                  <a:tcPr anchor="ctr">
                    <a:solidFill>
                      <a:srgbClr val="FFFFFF"/>
                    </a:solidFill>
                  </a:tcPr>
                </a:tc>
              </a:tr>
              <a:tr h="256032">
                <a:tc>
                  <a:txBody>
                    <a:bodyPr/>
                    <a:lstStyle/>
                    <a:p>
                      <a:pPr algn="l">
                        <a:defRPr sz="900" b="1">
                          <a:solidFill>
                            <a:srgbClr val="1E3A8A"/>
                          </a:solidFill>
                          <a:latin typeface="Segoe UI"/>
                        </a:defRPr>
                      </a:pPr>
                      <a:r>
                        <a:t>pause_reason / archive_reason</a:t>
                      </a:r>
                    </a:p>
                  </a:txBody>
                  <a:tcPr anchor="ctr">
                    <a:solidFill>
                      <a:srgbClr val="F1F5F9"/>
                    </a:solidFill>
                  </a:tcPr>
                </a:tc>
                <a:tc>
                  <a:txBody>
                    <a:bodyPr/>
                    <a:lstStyle/>
                    <a:p>
                      <a:pPr algn="l">
                        <a:defRPr sz="900">
                          <a:solidFill>
                            <a:srgbClr val="4F46E5"/>
                          </a:solidFill>
                          <a:latin typeface="Segoe UI"/>
                        </a:defRPr>
                      </a:pPr>
                      <a:r>
                        <a:t>VARCHAR(150)</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Audit explanation documenting why a segment was paused or archived by an admin.</a:t>
                      </a:r>
                    </a:p>
                  </a:txBody>
                  <a:tcPr anchor="ctr">
                    <a:solidFill>
                      <a:srgbClr val="F1F5F9"/>
                    </a:solidFill>
                  </a:tcPr>
                </a:tc>
              </a:tr>
              <a:tr h="256032">
                <a:tc>
                  <a:txBody>
                    <a:bodyPr/>
                    <a:lstStyle/>
                    <a:p>
                      <a:pPr algn="l">
                        <a:defRPr sz="900" b="1">
                          <a:solidFill>
                            <a:srgbClr val="1E3A8A"/>
                          </a:solidFill>
                          <a:latin typeface="Segoe UI"/>
                        </a:defRPr>
                      </a:pPr>
                      <a:r>
                        <a:t>location_summary</a:t>
                      </a:r>
                    </a:p>
                  </a:txBody>
                  <a:tcPr anchor="ctr">
                    <a:solidFill>
                      <a:srgbClr val="FFFFFF"/>
                    </a:solidFill>
                  </a:tcPr>
                </a:tc>
                <a:tc>
                  <a:txBody>
                    <a:bodyPr/>
                    <a:lstStyle/>
                    <a:p>
                      <a:pPr algn="l">
                        <a:defRPr sz="900">
                          <a:solidFill>
                            <a:srgbClr val="4F46E5"/>
                          </a:solidFill>
                          <a:latin typeface="Segoe UI"/>
                        </a:defRPr>
                      </a:pPr>
                      <a:r>
                        <a:t>VARCHAR(150)</a:t>
                      </a:r>
                    </a:p>
                  </a:txBody>
                  <a:tcPr anchor="ctr">
                    <a:solidFill>
                      <a:srgbClr val="FFFFFF"/>
                    </a:solidFill>
                  </a:tcPr>
                </a:tc>
                <a:tc>
                  <a:txBody>
                    <a:bodyPr/>
                    <a:lstStyle/>
                    <a:p>
                      <a:pPr algn="l">
                        <a:defRPr sz="900">
                          <a:solidFill>
                            <a:srgbClr val="64748B"/>
                          </a:solidFill>
                          <a:latin typeface="Segoe UI"/>
                        </a:defRPr>
                      </a:pPr>
                      <a:r>
                        <a:t>DEFAULT 'All Locations'</a:t>
                      </a:r>
                    </a:p>
                  </a:txBody>
                  <a:tcPr anchor="ctr">
                    <a:solidFill>
                      <a:srgbClr val="FFFFFF"/>
                    </a:solidFill>
                  </a:tcPr>
                </a:tc>
                <a:tc>
                  <a:txBody>
                    <a:bodyPr/>
                    <a:lstStyle/>
                    <a:p>
                      <a:pPr algn="l">
                        <a:defRPr sz="900">
                          <a:solidFill>
                            <a:srgbClr val="0F172A"/>
                          </a:solidFill>
                          <a:latin typeface="Segoe UI"/>
                        </a:defRPr>
                      </a:pPr>
                      <a:r>
                        <a:t>Human-readable summary string of geographical boundaries applied in the rules.</a:t>
                      </a:r>
                    </a:p>
                  </a:txBody>
                  <a:tcPr anchor="ctr">
                    <a:solidFill>
                      <a:srgbClr val="FFFFFF"/>
                    </a:solidFill>
                  </a:tcPr>
                </a:tc>
              </a:tr>
              <a:tr h="256032">
                <a:tc>
                  <a:txBody>
                    <a:bodyPr/>
                    <a:lstStyle/>
                    <a:p>
                      <a:pPr algn="l">
                        <a:defRPr sz="900" b="1">
                          <a:solidFill>
                            <a:srgbClr val="1E3A8A"/>
                          </a:solidFill>
                          <a:latin typeface="Segoe UI"/>
                        </a:defRPr>
                      </a:pPr>
                      <a:r>
                        <a:t>audience_size</a:t>
                      </a:r>
                    </a:p>
                  </a:txBody>
                  <a:tcPr anchor="ctr">
                    <a:solidFill>
                      <a:srgbClr val="F1F5F9"/>
                    </a:solidFill>
                  </a:tcPr>
                </a:tc>
                <a:tc>
                  <a:txBody>
                    <a:bodyPr/>
                    <a:lstStyle/>
                    <a:p>
                      <a:pPr algn="l">
                        <a:defRPr sz="900">
                          <a:solidFill>
                            <a:srgbClr val="4F46E5"/>
                          </a:solidFill>
                          <a:latin typeface="Segoe UI"/>
                        </a:defRPr>
                      </a:pPr>
                      <a:r>
                        <a:t>INTEGER UNSIGNED</a:t>
                      </a:r>
                    </a:p>
                  </a:txBody>
                  <a:tcPr anchor="ctr">
                    <a:solidFill>
                      <a:srgbClr val="F1F5F9"/>
                    </a:solidFill>
                  </a:tcPr>
                </a:tc>
                <a:tc>
                  <a:txBody>
                    <a:bodyPr/>
                    <a:lstStyle/>
                    <a:p>
                      <a:pPr algn="l">
                        <a:defRPr sz="900">
                          <a:solidFill>
                            <a:srgbClr val="64748B"/>
                          </a:solidFill>
                          <a:latin typeface="Segoe UI"/>
                        </a:defRPr>
                      </a:pPr>
                      <a:r>
                        <a:t>DEFAULT 0</a:t>
                      </a:r>
                    </a:p>
                  </a:txBody>
                  <a:tcPr anchor="ctr">
                    <a:solidFill>
                      <a:srgbClr val="F1F5F9"/>
                    </a:solidFill>
                  </a:tcPr>
                </a:tc>
                <a:tc>
                  <a:txBody>
                    <a:bodyPr/>
                    <a:lstStyle/>
                    <a:p>
                      <a:pPr algn="l">
                        <a:defRPr sz="900">
                          <a:solidFill>
                            <a:srgbClr val="0F172A"/>
                          </a:solidFill>
                          <a:latin typeface="Segoe UI"/>
                        </a:defRPr>
                      </a:pPr>
                      <a:r>
                        <a:t>Total count of devices that match the segmentation criteria upon last sync.</a:t>
                      </a:r>
                    </a:p>
                  </a:txBody>
                  <a:tcPr anchor="ctr">
                    <a:solidFill>
                      <a:srgbClr val="F1F5F9"/>
                    </a:solidFill>
                  </a:tcPr>
                </a:tc>
              </a:tr>
              <a:tr h="256032">
                <a:tc>
                  <a:txBody>
                    <a:bodyPr/>
                    <a:lstStyle/>
                    <a:p>
                      <a:pPr algn="l">
                        <a:defRPr sz="900" b="1">
                          <a:solidFill>
                            <a:srgbClr val="1E3A8A"/>
                          </a:solidFill>
                          <a:latin typeface="Segoe UI"/>
                        </a:defRPr>
                      </a:pPr>
                      <a:r>
                        <a:t>deliverable_count</a:t>
                      </a:r>
                    </a:p>
                  </a:txBody>
                  <a:tcPr anchor="ctr">
                    <a:solidFill>
                      <a:srgbClr val="FFFFFF"/>
                    </a:solidFill>
                  </a:tcPr>
                </a:tc>
                <a:tc>
                  <a:txBody>
                    <a:bodyPr/>
                    <a:lstStyle/>
                    <a:p>
                      <a:pPr algn="l">
                        <a:defRPr sz="900">
                          <a:solidFill>
                            <a:srgbClr val="4F46E5"/>
                          </a:solidFill>
                          <a:latin typeface="Segoe UI"/>
                        </a:defRPr>
                      </a:pPr>
                      <a:r>
                        <a:t>INTEGER UNSIGNED</a:t>
                      </a:r>
                    </a:p>
                  </a:txBody>
                  <a:tcPr anchor="ctr">
                    <a:solidFill>
                      <a:srgbClr val="FFFFFF"/>
                    </a:solidFill>
                  </a:tcPr>
                </a:tc>
                <a:tc>
                  <a:txBody>
                    <a:bodyPr/>
                    <a:lstStyle/>
                    <a:p>
                      <a:pPr algn="l">
                        <a:defRPr sz="900">
                          <a:solidFill>
                            <a:srgbClr val="64748B"/>
                          </a:solidFill>
                          <a:latin typeface="Segoe UI"/>
                        </a:defRPr>
                      </a:pPr>
                      <a:r>
                        <a:t>DEFAULT 0</a:t>
                      </a:r>
                    </a:p>
                  </a:txBody>
                  <a:tcPr anchor="ctr">
                    <a:solidFill>
                      <a:srgbClr val="FFFFFF"/>
                    </a:solidFill>
                  </a:tcPr>
                </a:tc>
                <a:tc>
                  <a:txBody>
                    <a:bodyPr/>
                    <a:lstStyle/>
                    <a:p>
                      <a:pPr algn="l">
                        <a:defRPr sz="900">
                          <a:solidFill>
                            <a:srgbClr val="0F172A"/>
                          </a:solidFill>
                          <a:latin typeface="Segoe UI"/>
                        </a:defRPr>
                      </a:pPr>
                      <a:r>
                        <a:t>Count of matched devices having valid, active FCM push notification tokens.</a:t>
                      </a:r>
                    </a:p>
                  </a:txBody>
                  <a:tcPr anchor="ctr">
                    <a:solidFill>
                      <a:srgbClr val="FFFFFF"/>
                    </a:solidFill>
                  </a:tcPr>
                </a:tc>
              </a:tr>
              <a:tr h="256032">
                <a:tc>
                  <a:txBody>
                    <a:bodyPr/>
                    <a:lstStyle/>
                    <a:p>
                      <a:pPr algn="l">
                        <a:defRPr sz="900" b="1">
                          <a:solidFill>
                            <a:srgbClr val="1E3A8A"/>
                          </a:solidFill>
                          <a:latin typeface="Segoe UI"/>
                        </a:defRPr>
                      </a:pPr>
                      <a:r>
                        <a:t>excluded_count</a:t>
                      </a:r>
                    </a:p>
                  </a:txBody>
                  <a:tcPr anchor="ctr">
                    <a:solidFill>
                      <a:srgbClr val="F1F5F9"/>
                    </a:solidFill>
                  </a:tcPr>
                </a:tc>
                <a:tc>
                  <a:txBody>
                    <a:bodyPr/>
                    <a:lstStyle/>
                    <a:p>
                      <a:pPr algn="l">
                        <a:defRPr sz="900">
                          <a:solidFill>
                            <a:srgbClr val="4F46E5"/>
                          </a:solidFill>
                          <a:latin typeface="Segoe UI"/>
                        </a:defRPr>
                      </a:pPr>
                      <a:r>
                        <a:t>INTEGER UNSIGNED</a:t>
                      </a:r>
                    </a:p>
                  </a:txBody>
                  <a:tcPr anchor="ctr">
                    <a:solidFill>
                      <a:srgbClr val="F1F5F9"/>
                    </a:solidFill>
                  </a:tcPr>
                </a:tc>
                <a:tc>
                  <a:txBody>
                    <a:bodyPr/>
                    <a:lstStyle/>
                    <a:p>
                      <a:pPr algn="l">
                        <a:defRPr sz="900">
                          <a:solidFill>
                            <a:srgbClr val="64748B"/>
                          </a:solidFill>
                          <a:latin typeface="Segoe UI"/>
                        </a:defRPr>
                      </a:pPr>
                      <a:r>
                        <a:t>DEFAULT 0</a:t>
                      </a:r>
                    </a:p>
                  </a:txBody>
                  <a:tcPr anchor="ctr">
                    <a:solidFill>
                      <a:srgbClr val="F1F5F9"/>
                    </a:solidFill>
                  </a:tcPr>
                </a:tc>
                <a:tc>
                  <a:txBody>
                    <a:bodyPr/>
                    <a:lstStyle/>
                    <a:p>
                      <a:pPr algn="l">
                        <a:defRPr sz="900">
                          <a:solidFill>
                            <a:srgbClr val="0F172A"/>
                          </a:solidFill>
                          <a:latin typeface="Segoe UI"/>
                        </a:defRPr>
                      </a:pPr>
                      <a:r>
                        <a:t>Count of matched devices disqualified due to opt-out, missing tokens, or exclusions.</a:t>
                      </a:r>
                    </a:p>
                  </a:txBody>
                  <a:tcPr anchor="ctr">
                    <a:solidFill>
                      <a:srgbClr val="F1F5F9"/>
                    </a:solidFill>
                  </a:tcPr>
                </a:tc>
              </a:tr>
              <a:tr h="256032">
                <a:tc>
                  <a:txBody>
                    <a:bodyPr/>
                    <a:lstStyle/>
                    <a:p>
                      <a:pPr algn="l">
                        <a:defRPr sz="900" b="1">
                          <a:solidFill>
                            <a:srgbClr val="1E3A8A"/>
                          </a:solidFill>
                          <a:latin typeface="Segoe UI"/>
                        </a:defRPr>
                      </a:pPr>
                      <a:r>
                        <a:t>platform_distribution</a:t>
                      </a:r>
                    </a:p>
                  </a:txBody>
                  <a:tcPr anchor="ctr">
                    <a:solidFill>
                      <a:srgbClr val="FFFFFF"/>
                    </a:solidFill>
                  </a:tcPr>
                </a:tc>
                <a:tc>
                  <a:txBody>
                    <a:bodyPr/>
                    <a:lstStyle/>
                    <a:p>
                      <a:pPr algn="l">
                        <a:defRPr sz="900">
                          <a:solidFill>
                            <a:srgbClr val="4F46E5"/>
                          </a:solidFill>
                          <a:latin typeface="Segoe UI"/>
                        </a:defRPr>
                      </a:pPr>
                      <a:r>
                        <a:t>JSON</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JSON breakdown of matched audience by OS platform for campaign previews.</a:t>
                      </a:r>
                    </a:p>
                  </a:txBody>
                  <a:tcPr anchor="ctr">
                    <a:solidFill>
                      <a:srgbClr val="FFFFFF"/>
                    </a:solidFill>
                  </a:tcPr>
                </a:tc>
              </a:tr>
              <a:tr h="256032">
                <a:tc>
                  <a:txBody>
                    <a:bodyPr/>
                    <a:lstStyle/>
                    <a:p>
                      <a:pPr algn="l">
                        <a:defRPr sz="900" b="1">
                          <a:solidFill>
                            <a:srgbClr val="1E3A8A"/>
                          </a:solidFill>
                          <a:latin typeface="Segoe UI"/>
                        </a:defRPr>
                      </a:pPr>
                      <a:r>
                        <a:t>last_synced_at / auto_refresh_enabled</a:t>
                      </a:r>
                    </a:p>
                  </a:txBody>
                  <a:tcPr anchor="ctr">
                    <a:solidFill>
                      <a:srgbClr val="F1F5F9"/>
                    </a:solidFill>
                  </a:tcPr>
                </a:tc>
                <a:tc>
                  <a:txBody>
                    <a:bodyPr/>
                    <a:lstStyle/>
                    <a:p>
                      <a:pPr algn="l">
                        <a:defRPr sz="900">
                          <a:solidFill>
                            <a:srgbClr val="4F46E5"/>
                          </a:solidFill>
                          <a:latin typeface="Segoe UI"/>
                        </a:defRPr>
                      </a:pPr>
                      <a:r>
                        <a:t>TIMESTAMP / BOOLEAN</a:t>
                      </a:r>
                    </a:p>
                  </a:txBody>
                  <a:tcPr anchor="ctr">
                    <a:solidFill>
                      <a:srgbClr val="F1F5F9"/>
                    </a:solidFill>
                  </a:tcPr>
                </a:tc>
                <a:tc>
                  <a:txBody>
                    <a:bodyPr/>
                    <a:lstStyle/>
                    <a:p>
                      <a:pPr algn="l">
                        <a:defRPr sz="900">
                          <a:solidFill>
                            <a:srgbClr val="64748B"/>
                          </a:solidFill>
                          <a:latin typeface="Segoe UI"/>
                        </a:defRPr>
                      </a:pPr>
                      <a:r>
                        <a:t>NULL / DEFAULT TRUE</a:t>
                      </a:r>
                    </a:p>
                  </a:txBody>
                  <a:tcPr anchor="ctr">
                    <a:solidFill>
                      <a:srgbClr val="F1F5F9"/>
                    </a:solidFill>
                  </a:tcPr>
                </a:tc>
                <a:tc>
                  <a:txBody>
                    <a:bodyPr/>
                    <a:lstStyle/>
                    <a:p>
                      <a:pPr algn="l">
                        <a:defRPr sz="900">
                          <a:solidFill>
                            <a:srgbClr val="0F172A"/>
                          </a:solidFill>
                          <a:latin typeface="Segoe UI"/>
                        </a:defRPr>
                      </a:pPr>
                      <a:r>
                        <a:t>Tracks periodic background sync schedule to keep dynamic segments up to date.</a:t>
                      </a:r>
                    </a:p>
                  </a:txBody>
                  <a:tcPr anchor="ctr">
                    <a:solidFill>
                      <a:srgbClr val="F1F5F9"/>
                    </a:solidFill>
                  </a:tcPr>
                </a:tc>
              </a:tr>
              <a:tr h="256032">
                <a:tc>
                  <a:txBody>
                    <a:bodyPr/>
                    <a:lstStyle/>
                    <a:p>
                      <a:pPr algn="l">
                        <a:defRPr sz="900" b="1">
                          <a:solidFill>
                            <a:srgbClr val="1E3A8A"/>
                          </a:solidFill>
                          <a:latin typeface="Segoe UI"/>
                        </a:defRPr>
                      </a:pPr>
                      <a:r>
                        <a:t>created_by</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64748B"/>
                          </a:solidFill>
                          <a:latin typeface="Segoe UI"/>
                        </a:defRPr>
                      </a:pPr>
                      <a:r>
                        <a:t>FK -&gt; users.id (NULL on delete)</a:t>
                      </a:r>
                    </a:p>
                  </a:txBody>
                  <a:tcPr anchor="ctr">
                    <a:solidFill>
                      <a:srgbClr val="FFFFFF"/>
                    </a:solidFill>
                  </a:tcPr>
                </a:tc>
                <a:tc>
                  <a:txBody>
                    <a:bodyPr/>
                    <a:lstStyle/>
                    <a:p>
                      <a:pPr algn="l">
                        <a:defRPr sz="900">
                          <a:solidFill>
                            <a:srgbClr val="0F172A"/>
                          </a:solidFill>
                          <a:latin typeface="Segoe UI"/>
                        </a:defRPr>
                      </a:pPr>
                      <a:r>
                        <a:t>Relational foreign key tracking the administrative user who created the segment.</a:t>
                      </a:r>
                    </a:p>
                  </a:txBody>
                  <a:tcPr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PIVOT INDEXING &amp; SEGMENT AUDIT TRAIL</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Tables: segment_devices &amp; segment_activity_logs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segment_devices provides high-performance indexed many-to-many resolution between segments and devices for push broadcast. segment_activity_logs maintains an immutable audit trail for compliance, tracking rule edits and status transitions.</a:t>
            </a:r>
          </a:p>
        </p:txBody>
      </p:sp>
      <p:sp>
        <p:nvSpPr>
          <p:cNvPr id="8" name="Rectangle 7"/>
          <p:cNvSpPr/>
          <p:nvPr/>
        </p:nvSpPr>
        <p:spPr>
          <a:xfrm>
            <a:off x="548640" y="1737360"/>
            <a:ext cx="5394960"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5029200" cy="320040"/>
          </a:xfrm>
          <a:prstGeom prst="rect">
            <a:avLst/>
          </a:prstGeom>
          <a:noFill/>
        </p:spPr>
        <p:txBody>
          <a:bodyPr wrap="none">
            <a:spAutoFit/>
          </a:bodyPr>
          <a:lstStyle/>
          <a:p>
            <a:pPr>
              <a:defRPr sz="1100" b="1">
                <a:solidFill>
                  <a:srgbClr val="1E3A8A"/>
                </a:solidFill>
                <a:latin typeface="Segoe UI"/>
              </a:defRPr>
            </a:pPr>
            <a:r>
              <a:t>TABLE: segment_devices (Many-to-Many Pivot)</a:t>
            </a:r>
          </a:p>
        </p:txBody>
      </p:sp>
      <p:sp>
        <p:nvSpPr>
          <p:cNvPr id="10" name="TextBox 9"/>
          <p:cNvSpPr txBox="1"/>
          <p:nvPr/>
        </p:nvSpPr>
        <p:spPr>
          <a:xfrm>
            <a:off x="731520" y="2148840"/>
            <a:ext cx="5029200" cy="548640"/>
          </a:xfrm>
          <a:prstGeom prst="rect">
            <a:avLst/>
          </a:prstGeom>
          <a:noFill/>
        </p:spPr>
        <p:txBody>
          <a:bodyPr wrap="square">
            <a:spAutoFit/>
          </a:bodyPr>
          <a:lstStyle/>
          <a:p>
            <a:pPr>
              <a:defRPr sz="900">
                <a:solidFill>
                  <a:srgbClr val="64748B"/>
                </a:solidFill>
                <a:latin typeface="Segoe UI"/>
              </a:defRPr>
            </a:pPr>
            <a:r>
              <a:t>Why: Avoids real-time JSON rule evaluation during mass push broadcasts by maintaining a pre-indexed junction table linking devices to segments.</a:t>
            </a:r>
          </a:p>
        </p:txBody>
      </p:sp>
      <p:graphicFrame>
        <p:nvGraphicFramePr>
          <p:cNvPr id="11" name="Table 10"/>
          <p:cNvGraphicFramePr>
            <a:graphicFrameLocks noGrp="1"/>
          </p:cNvGraphicFramePr>
          <p:nvPr/>
        </p:nvGraphicFramePr>
        <p:xfrm>
          <a:off x="731520" y="2788920"/>
          <a:ext cx="5029200" cy="1856232"/>
        </p:xfrm>
        <a:graphic>
          <a:graphicData uri="http://schemas.openxmlformats.org/drawingml/2006/table">
            <a:tbl>
              <a:tblPr firstRow="1" bandRow="1">
                <a:tableStyleId>{5C22544A-7EE6-4342-B048-85BDC9FD1C3A}</a:tableStyleId>
              </a:tblPr>
              <a:tblGrid>
                <a:gridCol w="1005840"/>
                <a:gridCol w="1005840"/>
                <a:gridCol w="1097280"/>
                <a:gridCol w="1920240"/>
              </a:tblGrid>
              <a:tr h="320040">
                <a:tc>
                  <a:txBody>
                    <a:bodyPr/>
                    <a:lstStyle/>
                    <a:p>
                      <a:pPr algn="l">
                        <a:defRPr sz="1000" b="1">
                          <a:solidFill>
                            <a:srgbClr val="F1F5F9"/>
                          </a:solidFill>
                          <a:latin typeface="Segoe UI"/>
                        </a:defRPr>
                      </a:pPr>
                      <a:r>
                        <a:t>Field</a:t>
                      </a:r>
                    </a:p>
                  </a:txBody>
                  <a:tcPr anchor="ctr">
                    <a:solidFill>
                      <a:srgbClr val="1E293B"/>
                    </a:solidFill>
                  </a:tcPr>
                </a:tc>
                <a:tc>
                  <a:txBody>
                    <a:bodyPr/>
                    <a:lstStyle/>
                    <a:p>
                      <a:pPr algn="l">
                        <a:defRPr sz="1000" b="1">
                          <a:solidFill>
                            <a:srgbClr val="F1F5F9"/>
                          </a:solidFill>
                          <a:latin typeface="Segoe UI"/>
                        </a:defRPr>
                      </a:pPr>
                      <a:r>
                        <a:t>Type</a:t>
                      </a:r>
                    </a:p>
                  </a:txBody>
                  <a:tcPr anchor="ctr">
                    <a:solidFill>
                      <a:srgbClr val="1E293B"/>
                    </a:solidFill>
                  </a:tcPr>
                </a:tc>
                <a:tc>
                  <a:txBody>
                    <a:bodyPr/>
                    <a:lstStyle/>
                    <a:p>
                      <a:pPr algn="l">
                        <a:defRPr sz="1000" b="1">
                          <a:solidFill>
                            <a:srgbClr val="F1F5F9"/>
                          </a:solidFill>
                          <a:latin typeface="Segoe UI"/>
                        </a:defRPr>
                      </a:pPr>
                      <a:r>
                        <a:t>Constraint</a:t>
                      </a:r>
                    </a:p>
                  </a:txBody>
                  <a:tcPr anchor="ctr">
                    <a:solidFill>
                      <a:srgbClr val="1E293B"/>
                    </a:solidFill>
                  </a:tcPr>
                </a:tc>
                <a:tc>
                  <a:txBody>
                    <a:bodyPr/>
                    <a:lstStyle/>
                    <a:p>
                      <a:pPr algn="l">
                        <a:defRPr sz="1000" b="1">
                          <a:solidFill>
                            <a:srgbClr val="F1F5F9"/>
                          </a:solidFill>
                          <a:latin typeface="Segoe UI"/>
                        </a:defRPr>
                      </a:pPr>
                      <a:r>
                        <a:t>Description &amp; Purpose</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Surrogate primary key for pivot row.</a:t>
                      </a:r>
                    </a:p>
                  </a:txBody>
                  <a:tcPr anchor="ctr">
                    <a:solidFill>
                      <a:srgbClr val="FFFFFF"/>
                    </a:solidFill>
                  </a:tcPr>
                </a:tc>
              </a:tr>
              <a:tr h="256032">
                <a:tc>
                  <a:txBody>
                    <a:bodyPr/>
                    <a:lstStyle/>
                    <a:p>
                      <a:pPr algn="l">
                        <a:defRPr sz="900" b="1">
                          <a:solidFill>
                            <a:srgbClr val="1E3A8A"/>
                          </a:solidFill>
                          <a:latin typeface="Segoe UI"/>
                        </a:defRPr>
                      </a:pPr>
                      <a:r>
                        <a:t>segment_id</a:t>
                      </a:r>
                    </a:p>
                  </a:txBody>
                  <a:tcPr anchor="ctr">
                    <a:solidFill>
                      <a:srgbClr val="F1F5F9"/>
                    </a:solidFill>
                  </a:tcPr>
                </a:tc>
                <a:tc>
                  <a:txBody>
                    <a:bodyPr/>
                    <a:lstStyle/>
                    <a:p>
                      <a:pPr algn="l">
                        <a:defRPr sz="900">
                          <a:solidFill>
                            <a:srgbClr val="4F46E5"/>
                          </a:solidFill>
                          <a:latin typeface="Segoe UI"/>
                        </a:defRPr>
                      </a:pPr>
                      <a:r>
                        <a:t>BIGINT UNSIGNED</a:t>
                      </a:r>
                    </a:p>
                  </a:txBody>
                  <a:tcPr anchor="ctr">
                    <a:solidFill>
                      <a:srgbClr val="F1F5F9"/>
                    </a:solidFill>
                  </a:tcPr>
                </a:tc>
                <a:tc>
                  <a:txBody>
                    <a:bodyPr/>
                    <a:lstStyle/>
                    <a:p>
                      <a:pPr algn="l">
                        <a:defRPr sz="900">
                          <a:solidFill>
                            <a:srgbClr val="64748B"/>
                          </a:solidFill>
                          <a:latin typeface="Segoe UI"/>
                        </a:defRPr>
                      </a:pPr>
                      <a:r>
                        <a:t>FK -&gt; audience_segments.id</a:t>
                      </a:r>
                    </a:p>
                  </a:txBody>
                  <a:tcPr anchor="ctr">
                    <a:solidFill>
                      <a:srgbClr val="F1F5F9"/>
                    </a:solidFill>
                  </a:tcPr>
                </a:tc>
                <a:tc>
                  <a:txBody>
                    <a:bodyPr/>
                    <a:lstStyle/>
                    <a:p>
                      <a:pPr algn="l">
                        <a:defRPr sz="900">
                          <a:solidFill>
                            <a:srgbClr val="0F172A"/>
                          </a:solidFill>
                          <a:latin typeface="Segoe UI"/>
                        </a:defRPr>
                      </a:pPr>
                      <a:r>
                        <a:t>Cascades on delete; links to the audience segment.</a:t>
                      </a:r>
                    </a:p>
                  </a:txBody>
                  <a:tcPr anchor="ctr">
                    <a:solidFill>
                      <a:srgbClr val="F1F5F9"/>
                    </a:solidFill>
                  </a:tcPr>
                </a:tc>
              </a:tr>
              <a:tr h="256032">
                <a:tc>
                  <a:txBody>
                    <a:bodyPr/>
                    <a:lstStyle/>
                    <a:p>
                      <a:pPr algn="l">
                        <a:defRPr sz="900" b="1">
                          <a:solidFill>
                            <a:srgbClr val="1E3A8A"/>
                          </a:solidFill>
                          <a:latin typeface="Segoe UI"/>
                        </a:defRPr>
                      </a:pPr>
                      <a:r>
                        <a:t>device_id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64748B"/>
                          </a:solidFill>
                          <a:latin typeface="Segoe UI"/>
                        </a:defRPr>
                      </a:pPr>
                      <a:r>
                        <a:t>FK -&gt; devices.id</a:t>
                      </a:r>
                    </a:p>
                  </a:txBody>
                  <a:tcPr anchor="ctr">
                    <a:solidFill>
                      <a:srgbClr val="FFFFFF"/>
                    </a:solidFill>
                  </a:tcPr>
                </a:tc>
                <a:tc>
                  <a:txBody>
                    <a:bodyPr/>
                    <a:lstStyle/>
                    <a:p>
                      <a:pPr algn="l">
                        <a:defRPr sz="900">
                          <a:solidFill>
                            <a:srgbClr val="0F172A"/>
                          </a:solidFill>
                          <a:latin typeface="Segoe UI"/>
                        </a:defRPr>
                      </a:pPr>
                      <a:r>
                        <a:t>Cascades on delete; links to the targeted device.</a:t>
                      </a:r>
                    </a:p>
                  </a:txBody>
                  <a:tcPr anchor="ctr">
                    <a:solidFill>
                      <a:srgbClr val="FFFFFF"/>
                    </a:solidFill>
                  </a:tcPr>
                </a:tc>
              </a:tr>
              <a:tr h="256032">
                <a:tc>
                  <a:txBody>
                    <a:bodyPr/>
                    <a:lstStyle/>
                    <a:p>
                      <a:pPr algn="l">
                        <a:defRPr sz="900" b="1">
                          <a:solidFill>
                            <a:srgbClr val="1E3A8A"/>
                          </a:solidFill>
                          <a:latin typeface="Segoe UI"/>
                        </a:defRPr>
                      </a:pPr>
                      <a:r>
                        <a:t>is_deliverable</a:t>
                      </a:r>
                    </a:p>
                  </a:txBody>
                  <a:tcPr anchor="ctr">
                    <a:solidFill>
                      <a:srgbClr val="F1F5F9"/>
                    </a:solidFill>
                  </a:tcPr>
                </a:tc>
                <a:tc>
                  <a:txBody>
                    <a:bodyPr/>
                    <a:lstStyle/>
                    <a:p>
                      <a:pPr algn="l">
                        <a:defRPr sz="900">
                          <a:solidFill>
                            <a:srgbClr val="4F46E5"/>
                          </a:solidFill>
                          <a:latin typeface="Segoe UI"/>
                        </a:defRPr>
                      </a:pPr>
                      <a:r>
                        <a:t>BOOLEAN</a:t>
                      </a:r>
                    </a:p>
                  </a:txBody>
                  <a:tcPr anchor="ctr">
                    <a:solidFill>
                      <a:srgbClr val="F1F5F9"/>
                    </a:solidFill>
                  </a:tcPr>
                </a:tc>
                <a:tc>
                  <a:txBody>
                    <a:bodyPr/>
                    <a:lstStyle/>
                    <a:p>
                      <a:pPr algn="l">
                        <a:defRPr sz="900">
                          <a:solidFill>
                            <a:srgbClr val="64748B"/>
                          </a:solidFill>
                          <a:latin typeface="Segoe UI"/>
                        </a:defRPr>
                      </a:pPr>
                      <a:r>
                        <a:t>DEFAULT TRUE</a:t>
                      </a:r>
                    </a:p>
                  </a:txBody>
                  <a:tcPr anchor="ctr">
                    <a:solidFill>
                      <a:srgbClr val="F1F5F9"/>
                    </a:solidFill>
                  </a:tcPr>
                </a:tc>
                <a:tc>
                  <a:txBody>
                    <a:bodyPr/>
                    <a:lstStyle/>
                    <a:p>
                      <a:pPr algn="l">
                        <a:defRPr sz="900">
                          <a:solidFill>
                            <a:srgbClr val="0F172A"/>
                          </a:solidFill>
                          <a:latin typeface="Segoe UI"/>
                        </a:defRPr>
                      </a:pPr>
                      <a:r>
                        <a:t>Indicates if device has valid push token &amp; permission.</a:t>
                      </a:r>
                    </a:p>
                  </a:txBody>
                  <a:tcPr anchor="ctr">
                    <a:solidFill>
                      <a:srgbClr val="F1F5F9"/>
                    </a:solidFill>
                  </a:tcPr>
                </a:tc>
              </a:tr>
              <a:tr h="256032">
                <a:tc>
                  <a:txBody>
                    <a:bodyPr/>
                    <a:lstStyle/>
                    <a:p>
                      <a:pPr algn="l">
                        <a:defRPr sz="900" b="1">
                          <a:solidFill>
                            <a:srgbClr val="1E3A8A"/>
                          </a:solidFill>
                          <a:latin typeface="Segoe UI"/>
                        </a:defRPr>
                      </a:pPr>
                      <a:r>
                        <a:t>added_at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CURRENT_TIMESTAMP</a:t>
                      </a:r>
                    </a:p>
                  </a:txBody>
                  <a:tcPr anchor="ctr">
                    <a:solidFill>
                      <a:srgbClr val="FFFFFF"/>
                    </a:solidFill>
                  </a:tcPr>
                </a:tc>
                <a:tc>
                  <a:txBody>
                    <a:bodyPr/>
                    <a:lstStyle/>
                    <a:p>
                      <a:pPr algn="l">
                        <a:defRPr sz="900">
                          <a:solidFill>
                            <a:srgbClr val="0F172A"/>
                          </a:solidFill>
                          <a:latin typeface="Segoe UI"/>
                        </a:defRPr>
                      </a:pPr>
                      <a:r>
                        <a:t>Timestamp when device was indexed into segment.</a:t>
                      </a:r>
                    </a:p>
                  </a:txBody>
                  <a:tcPr anchor="ctr">
                    <a:solidFill>
                      <a:srgbClr val="FFFFFF"/>
                    </a:solidFill>
                  </a:tcPr>
                </a:tc>
              </a:tr>
              <a:tr h="256032">
                <a:tc>
                  <a:txBody>
                    <a:bodyPr/>
                    <a:lstStyle/>
                    <a:p>
                      <a:pPr algn="l">
                        <a:defRPr sz="900" b="1">
                          <a:solidFill>
                            <a:srgbClr val="1E3A8A"/>
                          </a:solidFill>
                          <a:latin typeface="Segoe UI"/>
                        </a:defRPr>
                      </a:pPr>
                      <a:r>
                        <a:t>UNIQUE INDEX</a:t>
                      </a:r>
                    </a:p>
                  </a:txBody>
                  <a:tcPr anchor="ctr">
                    <a:solidFill>
                      <a:srgbClr val="F1F5F9"/>
                    </a:solidFill>
                  </a:tcPr>
                </a:tc>
                <a:tc>
                  <a:txBody>
                    <a:bodyPr/>
                    <a:lstStyle/>
                    <a:p>
                      <a:pPr algn="l">
                        <a:defRPr sz="900">
                          <a:solidFill>
                            <a:srgbClr val="4F46E5"/>
                          </a:solidFill>
                          <a:latin typeface="Segoe UI"/>
                        </a:defRPr>
                      </a:pPr>
                      <a:r>
                        <a:t>UNIQUE(segment_id, device_id)</a:t>
                      </a:r>
                    </a:p>
                  </a:txBody>
                  <a:tcPr anchor="ctr">
                    <a:solidFill>
                      <a:srgbClr val="F1F5F9"/>
                    </a:solidFill>
                  </a:tcPr>
                </a:tc>
                <a:tc>
                  <a:txBody>
                    <a:bodyPr/>
                    <a:lstStyle/>
                    <a:p>
                      <a:pPr algn="l">
                        <a:defRPr sz="900">
                          <a:solidFill>
                            <a:srgbClr val="64748B"/>
                          </a:solidFill>
                          <a:latin typeface="Segoe UI"/>
                        </a:defRPr>
                      </a:pPr>
                      <a:r>
                        <a:t>Composite Index</a:t>
                      </a:r>
                    </a:p>
                  </a:txBody>
                  <a:tcPr anchor="ctr">
                    <a:solidFill>
                      <a:srgbClr val="F1F5F9"/>
                    </a:solidFill>
                  </a:tcPr>
                </a:tc>
                <a:tc>
                  <a:txBody>
                    <a:bodyPr/>
                    <a:lstStyle/>
                    <a:p>
                      <a:pPr algn="l">
                        <a:defRPr sz="900">
                          <a:solidFill>
                            <a:srgbClr val="0F172A"/>
                          </a:solidFill>
                          <a:latin typeface="Segoe UI"/>
                        </a:defRPr>
                      </a:pPr>
                      <a:r>
                        <a:t>Prevents duplicate device associations per segment.</a:t>
                      </a:r>
                    </a:p>
                  </a:txBody>
                  <a:tcPr anchor="ctr">
                    <a:solidFill>
                      <a:srgbClr val="F1F5F9"/>
                    </a:solidFill>
                  </a:tcPr>
                </a:tc>
              </a:tr>
            </a:tbl>
          </a:graphicData>
        </a:graphic>
      </p:graphicFrame>
      <p:sp>
        <p:nvSpPr>
          <p:cNvPr id="12" name="Rectangle 11"/>
          <p:cNvSpPr/>
          <p:nvPr/>
        </p:nvSpPr>
        <p:spPr>
          <a:xfrm>
            <a:off x="6217920" y="1737360"/>
            <a:ext cx="5394960"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28800"/>
            <a:ext cx="5029200" cy="320040"/>
          </a:xfrm>
          <a:prstGeom prst="rect">
            <a:avLst/>
          </a:prstGeom>
          <a:noFill/>
        </p:spPr>
        <p:txBody>
          <a:bodyPr wrap="none">
            <a:spAutoFit/>
          </a:bodyPr>
          <a:lstStyle/>
          <a:p>
            <a:pPr>
              <a:defRPr sz="1100" b="1">
                <a:solidFill>
                  <a:srgbClr val="4F46E5"/>
                </a:solidFill>
                <a:latin typeface="Segoe UI"/>
              </a:defRPr>
            </a:pPr>
            <a:r>
              <a:t>TABLE: segment_activity_logs (Audit Trail)</a:t>
            </a:r>
          </a:p>
        </p:txBody>
      </p:sp>
      <p:sp>
        <p:nvSpPr>
          <p:cNvPr id="14" name="TextBox 13"/>
          <p:cNvSpPr txBox="1"/>
          <p:nvPr/>
        </p:nvSpPr>
        <p:spPr>
          <a:xfrm>
            <a:off x="6400800" y="2148840"/>
            <a:ext cx="5029200" cy="548640"/>
          </a:xfrm>
          <a:prstGeom prst="rect">
            <a:avLst/>
          </a:prstGeom>
          <a:noFill/>
        </p:spPr>
        <p:txBody>
          <a:bodyPr wrap="square">
            <a:spAutoFit/>
          </a:bodyPr>
          <a:lstStyle/>
          <a:p>
            <a:pPr>
              <a:defRPr sz="900">
                <a:solidFill>
                  <a:srgbClr val="64748B"/>
                </a:solidFill>
                <a:latin typeface="Segoe UI"/>
              </a:defRPr>
            </a:pPr>
            <a:r>
              <a:t>Why: Tracks administrative modifications, automated rule refreshes, and status transitions for compliance, governance, and troubleshooting.</a:t>
            </a:r>
          </a:p>
        </p:txBody>
      </p:sp>
      <p:graphicFrame>
        <p:nvGraphicFramePr>
          <p:cNvPr id="15" name="Table 14"/>
          <p:cNvGraphicFramePr>
            <a:graphicFrameLocks noGrp="1"/>
          </p:cNvGraphicFramePr>
          <p:nvPr/>
        </p:nvGraphicFramePr>
        <p:xfrm>
          <a:off x="6400800" y="2788920"/>
          <a:ext cx="5029200" cy="1600200"/>
        </p:xfrm>
        <a:graphic>
          <a:graphicData uri="http://schemas.openxmlformats.org/drawingml/2006/table">
            <a:tbl>
              <a:tblPr firstRow="1" bandRow="1">
                <a:tableStyleId>{5C22544A-7EE6-4342-B048-85BDC9FD1C3A}</a:tableStyleId>
              </a:tblPr>
              <a:tblGrid>
                <a:gridCol w="1005840"/>
                <a:gridCol w="1005840"/>
                <a:gridCol w="1097280"/>
                <a:gridCol w="1920240"/>
              </a:tblGrid>
              <a:tr h="320040">
                <a:tc>
                  <a:txBody>
                    <a:bodyPr/>
                    <a:lstStyle/>
                    <a:p>
                      <a:pPr algn="l">
                        <a:defRPr sz="1000" b="1">
                          <a:solidFill>
                            <a:srgbClr val="F1F5F9"/>
                          </a:solidFill>
                          <a:latin typeface="Segoe UI"/>
                        </a:defRPr>
                      </a:pPr>
                      <a:r>
                        <a:t>Field</a:t>
                      </a:r>
                    </a:p>
                  </a:txBody>
                  <a:tcPr anchor="ctr">
                    <a:solidFill>
                      <a:srgbClr val="1E293B"/>
                    </a:solidFill>
                  </a:tcPr>
                </a:tc>
                <a:tc>
                  <a:txBody>
                    <a:bodyPr/>
                    <a:lstStyle/>
                    <a:p>
                      <a:pPr algn="l">
                        <a:defRPr sz="1000" b="1">
                          <a:solidFill>
                            <a:srgbClr val="F1F5F9"/>
                          </a:solidFill>
                          <a:latin typeface="Segoe UI"/>
                        </a:defRPr>
                      </a:pPr>
                      <a:r>
                        <a:t>Type</a:t>
                      </a:r>
                    </a:p>
                  </a:txBody>
                  <a:tcPr anchor="ctr">
                    <a:solidFill>
                      <a:srgbClr val="1E293B"/>
                    </a:solidFill>
                  </a:tcPr>
                </a:tc>
                <a:tc>
                  <a:txBody>
                    <a:bodyPr/>
                    <a:lstStyle/>
                    <a:p>
                      <a:pPr algn="l">
                        <a:defRPr sz="1000" b="1">
                          <a:solidFill>
                            <a:srgbClr val="F1F5F9"/>
                          </a:solidFill>
                          <a:latin typeface="Segoe UI"/>
                        </a:defRPr>
                      </a:pPr>
                      <a:r>
                        <a:t>Constraint</a:t>
                      </a:r>
                    </a:p>
                  </a:txBody>
                  <a:tcPr anchor="ctr">
                    <a:solidFill>
                      <a:srgbClr val="1E293B"/>
                    </a:solidFill>
                  </a:tcPr>
                </a:tc>
                <a:tc>
                  <a:txBody>
                    <a:bodyPr/>
                    <a:lstStyle/>
                    <a:p>
                      <a:pPr algn="l">
                        <a:defRPr sz="1000" b="1">
                          <a:solidFill>
                            <a:srgbClr val="F1F5F9"/>
                          </a:solidFill>
                          <a:latin typeface="Segoe UI"/>
                        </a:defRPr>
                      </a:pPr>
                      <a:r>
                        <a:t>Description &amp; Purpose</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Surrogate primary key for log entry.</a:t>
                      </a:r>
                    </a:p>
                  </a:txBody>
                  <a:tcPr anchor="ctr">
                    <a:solidFill>
                      <a:srgbClr val="FFFFFF"/>
                    </a:solidFill>
                  </a:tcPr>
                </a:tc>
              </a:tr>
              <a:tr h="256032">
                <a:tc>
                  <a:txBody>
                    <a:bodyPr/>
                    <a:lstStyle/>
                    <a:p>
                      <a:pPr algn="l">
                        <a:defRPr sz="900" b="1">
                          <a:solidFill>
                            <a:srgbClr val="1E3A8A"/>
                          </a:solidFill>
                          <a:latin typeface="Segoe UI"/>
                        </a:defRPr>
                      </a:pPr>
                      <a:r>
                        <a:t>segment_id</a:t>
                      </a:r>
                    </a:p>
                  </a:txBody>
                  <a:tcPr anchor="ctr">
                    <a:solidFill>
                      <a:srgbClr val="F1F5F9"/>
                    </a:solidFill>
                  </a:tcPr>
                </a:tc>
                <a:tc>
                  <a:txBody>
                    <a:bodyPr/>
                    <a:lstStyle/>
                    <a:p>
                      <a:pPr algn="l">
                        <a:defRPr sz="900">
                          <a:solidFill>
                            <a:srgbClr val="4F46E5"/>
                          </a:solidFill>
                          <a:latin typeface="Segoe UI"/>
                        </a:defRPr>
                      </a:pPr>
                      <a:r>
                        <a:t>BIGINT UNSIGNED</a:t>
                      </a:r>
                    </a:p>
                  </a:txBody>
                  <a:tcPr anchor="ctr">
                    <a:solidFill>
                      <a:srgbClr val="F1F5F9"/>
                    </a:solidFill>
                  </a:tcPr>
                </a:tc>
                <a:tc>
                  <a:txBody>
                    <a:bodyPr/>
                    <a:lstStyle/>
                    <a:p>
                      <a:pPr algn="l">
                        <a:defRPr sz="900">
                          <a:solidFill>
                            <a:srgbClr val="64748B"/>
                          </a:solidFill>
                          <a:latin typeface="Segoe UI"/>
                        </a:defRPr>
                      </a:pPr>
                      <a:r>
                        <a:t>FK -&gt; audience_segments.id</a:t>
                      </a:r>
                    </a:p>
                  </a:txBody>
                  <a:tcPr anchor="ctr">
                    <a:solidFill>
                      <a:srgbClr val="F1F5F9"/>
                    </a:solidFill>
                  </a:tcPr>
                </a:tc>
                <a:tc>
                  <a:txBody>
                    <a:bodyPr/>
                    <a:lstStyle/>
                    <a:p>
                      <a:pPr algn="l">
                        <a:defRPr sz="900">
                          <a:solidFill>
                            <a:srgbClr val="0F172A"/>
                          </a:solidFill>
                          <a:latin typeface="Segoe UI"/>
                        </a:defRPr>
                      </a:pPr>
                      <a:r>
                        <a:t>Cascades on delete; references parent segment.</a:t>
                      </a:r>
                    </a:p>
                  </a:txBody>
                  <a:tcPr anchor="ctr">
                    <a:solidFill>
                      <a:srgbClr val="F1F5F9"/>
                    </a:solidFill>
                  </a:tcPr>
                </a:tc>
              </a:tr>
              <a:tr h="256032">
                <a:tc>
                  <a:txBody>
                    <a:bodyPr/>
                    <a:lstStyle/>
                    <a:p>
                      <a:pPr algn="l">
                        <a:defRPr sz="900" b="1">
                          <a:solidFill>
                            <a:srgbClr val="1E3A8A"/>
                          </a:solidFill>
                          <a:latin typeface="Segoe UI"/>
                        </a:defRPr>
                      </a:pPr>
                      <a:r>
                        <a:t>action</a:t>
                      </a:r>
                    </a:p>
                  </a:txBody>
                  <a:tcPr anchor="ctr">
                    <a:solidFill>
                      <a:srgbClr val="FFFFFF"/>
                    </a:solidFill>
                  </a:tcPr>
                </a:tc>
                <a:tc>
                  <a:txBody>
                    <a:bodyPr/>
                    <a:lstStyle/>
                    <a:p>
                      <a:pPr algn="l">
                        <a:defRPr sz="900">
                          <a:solidFill>
                            <a:srgbClr val="4F46E5"/>
                          </a:solidFill>
                          <a:latin typeface="Segoe UI"/>
                        </a:defRPr>
                      </a:pPr>
                      <a:r>
                        <a:t>VARCHAR(50)</a:t>
                      </a:r>
                    </a:p>
                  </a:txBody>
                  <a:tcPr anchor="ctr">
                    <a:solidFill>
                      <a:srgbClr val="FFFFFF"/>
                    </a:solidFill>
                  </a:tcPr>
                </a:tc>
                <a:tc>
                  <a:txBody>
                    <a:bodyPr/>
                    <a:lstStyle/>
                    <a:p>
                      <a:pPr algn="l">
                        <a:defRPr sz="900">
                          <a:solidFill>
                            <a:srgbClr val="059669"/>
                          </a:solidFill>
                          <a:latin typeface="Segoe UI"/>
                        </a:defRPr>
                      </a:pPr>
                      <a:r>
                        <a:t>NOT NULL</a:t>
                      </a:r>
                    </a:p>
                  </a:txBody>
                  <a:tcPr anchor="ctr">
                    <a:solidFill>
                      <a:srgbClr val="FFFFFF"/>
                    </a:solidFill>
                  </a:tcPr>
                </a:tc>
                <a:tc>
                  <a:txBody>
                    <a:bodyPr/>
                    <a:lstStyle/>
                    <a:p>
                      <a:pPr algn="l">
                        <a:defRPr sz="900">
                          <a:solidFill>
                            <a:srgbClr val="0F172A"/>
                          </a:solidFill>
                          <a:latin typeface="Segoe UI"/>
                        </a:defRPr>
                      </a:pPr>
                      <a:r>
                        <a:t>Action type: 'created', 'rules_updated', 'audience_refreshed', 'paused', 'resumed', 'archived', 'restored'.</a:t>
                      </a:r>
                    </a:p>
                  </a:txBody>
                  <a:tcPr anchor="ctr">
                    <a:solidFill>
                      <a:srgbClr val="FFFFFF"/>
                    </a:solidFill>
                  </a:tcPr>
                </a:tc>
              </a:tr>
              <a:tr h="256032">
                <a:tc>
                  <a:txBody>
                    <a:bodyPr/>
                    <a:lstStyle/>
                    <a:p>
                      <a:pPr algn="l">
                        <a:defRPr sz="900" b="1">
                          <a:solidFill>
                            <a:srgbClr val="1E3A8A"/>
                          </a:solidFill>
                          <a:latin typeface="Segoe UI"/>
                        </a:defRPr>
                      </a:pPr>
                      <a:r>
                        <a:t>description</a:t>
                      </a:r>
                    </a:p>
                  </a:txBody>
                  <a:tcPr anchor="ctr">
                    <a:solidFill>
                      <a:srgbClr val="F1F5F9"/>
                    </a:solidFill>
                  </a:tcPr>
                </a:tc>
                <a:tc>
                  <a:txBody>
                    <a:bodyPr/>
                    <a:lstStyle/>
                    <a:p>
                      <a:pPr algn="l">
                        <a:defRPr sz="900">
                          <a:solidFill>
                            <a:srgbClr val="4F46E5"/>
                          </a:solidFill>
                          <a:latin typeface="Segoe UI"/>
                        </a:defRPr>
                      </a:pPr>
                      <a:r>
                        <a:t>VARCHAR(255)</a:t>
                      </a:r>
                    </a:p>
                  </a:txBody>
                  <a:tcPr anchor="ctr">
                    <a:solidFill>
                      <a:srgbClr val="F1F5F9"/>
                    </a:solidFill>
                  </a:tcPr>
                </a:tc>
                <a:tc>
                  <a:txBody>
                    <a:bodyPr/>
                    <a:lstStyle/>
                    <a:p>
                      <a:pPr algn="l">
                        <a:defRPr sz="900">
                          <a:solidFill>
                            <a:srgbClr val="059669"/>
                          </a:solidFill>
                          <a:latin typeface="Segoe UI"/>
                        </a:defRPr>
                      </a:pPr>
                      <a:r>
                        <a:t>NOT NULL</a:t>
                      </a:r>
                    </a:p>
                  </a:txBody>
                  <a:tcPr anchor="ctr">
                    <a:solidFill>
                      <a:srgbClr val="F1F5F9"/>
                    </a:solidFill>
                  </a:tcPr>
                </a:tc>
                <a:tc>
                  <a:txBody>
                    <a:bodyPr/>
                    <a:lstStyle/>
                    <a:p>
                      <a:pPr algn="l">
                        <a:defRPr sz="900">
                          <a:solidFill>
                            <a:srgbClr val="0F172A"/>
                          </a:solidFill>
                          <a:latin typeface="Segoe UI"/>
                        </a:defRPr>
                      </a:pPr>
                      <a:r>
                        <a:t>Human-readable summary of the exact change made (e.g. 'Added rule: State equals TN').</a:t>
                      </a:r>
                    </a:p>
                  </a:txBody>
                  <a:tcPr anchor="ctr">
                    <a:solidFill>
                      <a:srgbClr val="F1F5F9"/>
                    </a:solidFill>
                  </a:tcPr>
                </a:tc>
              </a:tr>
              <a:tr h="256032">
                <a:tc>
                  <a:txBody>
                    <a:bodyPr/>
                    <a:lstStyle/>
                    <a:p>
                      <a:pPr algn="l">
                        <a:defRPr sz="900" b="1">
                          <a:solidFill>
                            <a:srgbClr val="1E3A8A"/>
                          </a:solidFill>
                          <a:latin typeface="Segoe UI"/>
                        </a:defRPr>
                      </a:pPr>
                      <a:r>
                        <a:t>created_at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CURRENT_TIMESTAMP</a:t>
                      </a:r>
                    </a:p>
                  </a:txBody>
                  <a:tcPr anchor="ctr">
                    <a:solidFill>
                      <a:srgbClr val="FFFFFF"/>
                    </a:solidFill>
                  </a:tcPr>
                </a:tc>
                <a:tc>
                  <a:txBody>
                    <a:bodyPr/>
                    <a:lstStyle/>
                    <a:p>
                      <a:pPr algn="l">
                        <a:defRPr sz="900">
                          <a:solidFill>
                            <a:srgbClr val="0F172A"/>
                          </a:solidFill>
                          <a:latin typeface="Segoe UI"/>
                        </a:defRPr>
                      </a:pPr>
                      <a:r>
                        <a:t>Immutable timestamp when the log entry was recorded.</a:t>
                      </a:r>
                    </a:p>
                  </a:txBody>
                  <a:tcPr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PUSH NOTIFICATION CAMPAIGN ORCHESTRATION</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Table: notification_campaigns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Orchestrates rich push notifications across Firebase Cloud Messaging. Manages campaign content, deep-link routing, rich images, target audience bindings (individual, segment, all), scheduled dispatch queues, quiet hours, and delivery telemetry.</a:t>
            </a:r>
          </a:p>
        </p:txBody>
      </p:sp>
      <p:graphicFrame>
        <p:nvGraphicFramePr>
          <p:cNvPr id="8" name="Table 7"/>
          <p:cNvGraphicFramePr>
            <a:graphicFrameLocks noGrp="1"/>
          </p:cNvGraphicFramePr>
          <p:nvPr/>
        </p:nvGraphicFramePr>
        <p:xfrm>
          <a:off x="548640" y="1737360"/>
          <a:ext cx="11094415" cy="4928616"/>
        </p:xfrm>
        <a:graphic>
          <a:graphicData uri="http://schemas.openxmlformats.org/drawingml/2006/table">
            <a:tbl>
              <a:tblPr firstRow="1" bandRow="1">
                <a:tableStyleId>{5C22544A-7EE6-4342-B048-85BDC9FD1C3A}</a:tableStyleId>
              </a:tblPr>
              <a:tblGrid>
                <a:gridCol w="2011680"/>
                <a:gridCol w="1463040"/>
                <a:gridCol w="1645920"/>
                <a:gridCol w="5973775"/>
              </a:tblGrid>
              <a:tr h="320040">
                <a:tc>
                  <a:txBody>
                    <a:bodyPr/>
                    <a:lstStyle/>
                    <a:p>
                      <a:pPr algn="l">
                        <a:defRPr sz="1000" b="1">
                          <a:solidFill>
                            <a:srgbClr val="F1F5F9"/>
                          </a:solidFill>
                          <a:latin typeface="Segoe UI"/>
                        </a:defRPr>
                      </a:pPr>
                      <a:r>
                        <a:t>Field Name</a:t>
                      </a:r>
                    </a:p>
                  </a:txBody>
                  <a:tcPr anchor="ctr">
                    <a:solidFill>
                      <a:srgbClr val="1E293B"/>
                    </a:solidFill>
                  </a:tcPr>
                </a:tc>
                <a:tc>
                  <a:txBody>
                    <a:bodyPr/>
                    <a:lstStyle/>
                    <a:p>
                      <a:pPr algn="l">
                        <a:defRPr sz="1000" b="1">
                          <a:solidFill>
                            <a:srgbClr val="F1F5F9"/>
                          </a:solidFill>
                          <a:latin typeface="Segoe UI"/>
                        </a:defRPr>
                      </a:pPr>
                      <a:r>
                        <a:t>Data Type</a:t>
                      </a:r>
                    </a:p>
                  </a:txBody>
                  <a:tcPr anchor="ctr">
                    <a:solidFill>
                      <a:srgbClr val="1E293B"/>
                    </a:solidFill>
                  </a:tcPr>
                </a:tc>
                <a:tc>
                  <a:txBody>
                    <a:bodyPr/>
                    <a:lstStyle/>
                    <a:p>
                      <a:pPr algn="l">
                        <a:defRPr sz="1000" b="1">
                          <a:solidFill>
                            <a:srgbClr val="F1F5F9"/>
                          </a:solidFill>
                          <a:latin typeface="Segoe UI"/>
                        </a:defRPr>
                      </a:pPr>
                      <a:r>
                        <a:t>Constraints / Default</a:t>
                      </a:r>
                    </a:p>
                  </a:txBody>
                  <a:tcPr anchor="ctr">
                    <a:solidFill>
                      <a:srgbClr val="1E293B"/>
                    </a:solidFill>
                  </a:tcPr>
                </a:tc>
                <a:tc>
                  <a:txBody>
                    <a:bodyPr/>
                    <a:lstStyle/>
                    <a:p>
                      <a:pPr algn="l">
                        <a:defRPr sz="1000" b="1">
                          <a:solidFill>
                            <a:srgbClr val="F1F5F9"/>
                          </a:solidFill>
                          <a:latin typeface="Segoe UI"/>
                        </a:defRPr>
                      </a:pPr>
                      <a:r>
                        <a:t>Field Description &amp; Business Rationale (Why &amp; What it does)</a:t>
                      </a:r>
                    </a:p>
                  </a:txBody>
                  <a:tcPr anchor="ctr">
                    <a:solidFill>
                      <a:srgbClr val="1E293B"/>
                    </a:solidFill>
                  </a:tcPr>
                </a:tc>
              </a:tr>
              <a:tr h="256032">
                <a:tc>
                  <a:txBody>
                    <a:bodyPr/>
                    <a:lstStyle/>
                    <a:p>
                      <a:pPr algn="l">
                        <a:defRPr sz="900" b="1">
                          <a:solidFill>
                            <a:srgbClr val="1E3A8A"/>
                          </a:solidFill>
                          <a:latin typeface="Segoe UI"/>
                        </a:defRPr>
                      </a:pPr>
                      <a:r>
                        <a:t>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059669"/>
                          </a:solidFill>
                          <a:latin typeface="Segoe UI"/>
                        </a:defRPr>
                      </a:pPr>
                      <a:r>
                        <a:t>PK, Auto Inc</a:t>
                      </a:r>
                    </a:p>
                  </a:txBody>
                  <a:tcPr anchor="ctr">
                    <a:solidFill>
                      <a:srgbClr val="FFFFFF"/>
                    </a:solidFill>
                  </a:tcPr>
                </a:tc>
                <a:tc>
                  <a:txBody>
                    <a:bodyPr/>
                    <a:lstStyle/>
                    <a:p>
                      <a:pPr algn="l">
                        <a:defRPr sz="900">
                          <a:solidFill>
                            <a:srgbClr val="0F172A"/>
                          </a:solidFill>
                          <a:latin typeface="Segoe UI"/>
                        </a:defRPr>
                      </a:pPr>
                      <a:r>
                        <a:t>Primary key identifying the campaign notification record.</a:t>
                      </a:r>
                    </a:p>
                  </a:txBody>
                  <a:tcPr anchor="ctr">
                    <a:solidFill>
                      <a:srgbClr val="FFFFFF"/>
                    </a:solidFill>
                  </a:tcPr>
                </a:tc>
              </a:tr>
              <a:tr h="256032">
                <a:tc>
                  <a:txBody>
                    <a:bodyPr/>
                    <a:lstStyle/>
                    <a:p>
                      <a:pPr algn="l">
                        <a:defRPr sz="900" b="1">
                          <a:solidFill>
                            <a:srgbClr val="1E3A8A"/>
                          </a:solidFill>
                          <a:latin typeface="Segoe UI"/>
                        </a:defRPr>
                      </a:pPr>
                      <a:r>
                        <a:t>campaign_id</a:t>
                      </a:r>
                    </a:p>
                  </a:txBody>
                  <a:tcPr anchor="ctr">
                    <a:solidFill>
                      <a:srgbClr val="F1F5F9"/>
                    </a:solidFill>
                  </a:tcPr>
                </a:tc>
                <a:tc>
                  <a:txBody>
                    <a:bodyPr/>
                    <a:lstStyle/>
                    <a:p>
                      <a:pPr algn="l">
                        <a:defRPr sz="900">
                          <a:solidFill>
                            <a:srgbClr val="4F46E5"/>
                          </a:solidFill>
                          <a:latin typeface="Segoe UI"/>
                        </a:defRPr>
                      </a:pPr>
                      <a:r>
                        <a:t>VARCHAR(50)</a:t>
                      </a:r>
                    </a:p>
                  </a:txBody>
                  <a:tcPr anchor="ctr">
                    <a:solidFill>
                      <a:srgbClr val="F1F5F9"/>
                    </a:solidFill>
                  </a:tcPr>
                </a:tc>
                <a:tc>
                  <a:txBody>
                    <a:bodyPr/>
                    <a:lstStyle/>
                    <a:p>
                      <a:pPr algn="l">
                        <a:defRPr sz="900">
                          <a:solidFill>
                            <a:srgbClr val="059669"/>
                          </a:solidFill>
                          <a:latin typeface="Segoe UI"/>
                        </a:defRPr>
                      </a:pPr>
                      <a:r>
                        <a:t>UNIQUE, NOT NULL</a:t>
                      </a:r>
                    </a:p>
                  </a:txBody>
                  <a:tcPr anchor="ctr">
                    <a:solidFill>
                      <a:srgbClr val="F1F5F9"/>
                    </a:solidFill>
                  </a:tcPr>
                </a:tc>
                <a:tc>
                  <a:txBody>
                    <a:bodyPr/>
                    <a:lstStyle/>
                    <a:p>
                      <a:pPr algn="l">
                        <a:defRPr sz="900">
                          <a:solidFill>
                            <a:srgbClr val="0F172A"/>
                          </a:solidFill>
                          <a:latin typeface="Segoe UI"/>
                        </a:defRPr>
                      </a:pPr>
                      <a:r>
                        <a:t>Unique business campaign code (e.g. 'CMP-2026-08-001') for admin reference.</a:t>
                      </a:r>
                    </a:p>
                  </a:txBody>
                  <a:tcPr anchor="ctr">
                    <a:solidFill>
                      <a:srgbClr val="F1F5F9"/>
                    </a:solidFill>
                  </a:tcPr>
                </a:tc>
              </a:tr>
              <a:tr h="256032">
                <a:tc>
                  <a:txBody>
                    <a:bodyPr/>
                    <a:lstStyle/>
                    <a:p>
                      <a:pPr algn="l">
                        <a:defRPr sz="900" b="1">
                          <a:solidFill>
                            <a:srgbClr val="1E3A8A"/>
                          </a:solidFill>
                          <a:latin typeface="Segoe UI"/>
                        </a:defRPr>
                      </a:pPr>
                      <a:r>
                        <a:t>name / title</a:t>
                      </a:r>
                    </a:p>
                  </a:txBody>
                  <a:tcPr anchor="ctr">
                    <a:solidFill>
                      <a:srgbClr val="FFFFFF"/>
                    </a:solidFill>
                  </a:tcPr>
                </a:tc>
                <a:tc>
                  <a:txBody>
                    <a:bodyPr/>
                    <a:lstStyle/>
                    <a:p>
                      <a:pPr algn="l">
                        <a:defRPr sz="900">
                          <a:solidFill>
                            <a:srgbClr val="4F46E5"/>
                          </a:solidFill>
                          <a:latin typeface="Segoe UI"/>
                        </a:defRPr>
                      </a:pPr>
                      <a:r>
                        <a:t>VARCHAR(150)</a:t>
                      </a:r>
                    </a:p>
                  </a:txBody>
                  <a:tcPr anchor="ctr">
                    <a:solidFill>
                      <a:srgbClr val="FFFFFF"/>
                    </a:solidFill>
                  </a:tcPr>
                </a:tc>
                <a:tc>
                  <a:txBody>
                    <a:bodyPr/>
                    <a:lstStyle/>
                    <a:p>
                      <a:pPr algn="l">
                        <a:defRPr sz="900">
                          <a:solidFill>
                            <a:srgbClr val="059669"/>
                          </a:solidFill>
                          <a:latin typeface="Segoe UI"/>
                        </a:defRPr>
                      </a:pPr>
                      <a:r>
                        <a:t>NOT NULL</a:t>
                      </a:r>
                    </a:p>
                  </a:txBody>
                  <a:tcPr anchor="ctr">
                    <a:solidFill>
                      <a:srgbClr val="FFFFFF"/>
                    </a:solidFill>
                  </a:tcPr>
                </a:tc>
                <a:tc>
                  <a:txBody>
                    <a:bodyPr/>
                    <a:lstStyle/>
                    <a:p>
                      <a:pPr algn="l">
                        <a:defRPr sz="900">
                          <a:solidFill>
                            <a:srgbClr val="0F172A"/>
                          </a:solidFill>
                          <a:latin typeface="Segoe UI"/>
                        </a:defRPr>
                      </a:pPr>
                      <a:r>
                        <a:t>Internal campaign administration title and user-facing notification alert headline.</a:t>
                      </a:r>
                    </a:p>
                  </a:txBody>
                  <a:tcPr anchor="ctr">
                    <a:solidFill>
                      <a:srgbClr val="FFFFFF"/>
                    </a:solidFill>
                  </a:tcPr>
                </a:tc>
              </a:tr>
              <a:tr h="256032">
                <a:tc>
                  <a:txBody>
                    <a:bodyPr/>
                    <a:lstStyle/>
                    <a:p>
                      <a:pPr algn="l">
                        <a:defRPr sz="900" b="1">
                          <a:solidFill>
                            <a:srgbClr val="1E3A8A"/>
                          </a:solidFill>
                          <a:latin typeface="Segoe UI"/>
                        </a:defRPr>
                      </a:pPr>
                      <a:r>
                        <a:t>message</a:t>
                      </a:r>
                    </a:p>
                  </a:txBody>
                  <a:tcPr anchor="ctr">
                    <a:solidFill>
                      <a:srgbClr val="F1F5F9"/>
                    </a:solidFill>
                  </a:tcPr>
                </a:tc>
                <a:tc>
                  <a:txBody>
                    <a:bodyPr/>
                    <a:lstStyle/>
                    <a:p>
                      <a:pPr algn="l">
                        <a:defRPr sz="900">
                          <a:solidFill>
                            <a:srgbClr val="4F46E5"/>
                          </a:solidFill>
                          <a:latin typeface="Segoe UI"/>
                        </a:defRPr>
                      </a:pPr>
                      <a:r>
                        <a:t>TEXT</a:t>
                      </a:r>
                    </a:p>
                  </a:txBody>
                  <a:tcPr anchor="ctr">
                    <a:solidFill>
                      <a:srgbClr val="F1F5F9"/>
                    </a:solidFill>
                  </a:tcPr>
                </a:tc>
                <a:tc>
                  <a:txBody>
                    <a:bodyPr/>
                    <a:lstStyle/>
                    <a:p>
                      <a:pPr algn="l">
                        <a:defRPr sz="900">
                          <a:solidFill>
                            <a:srgbClr val="059669"/>
                          </a:solidFill>
                          <a:latin typeface="Segoe UI"/>
                        </a:defRPr>
                      </a:pPr>
                      <a:r>
                        <a:t>NOT NULL</a:t>
                      </a:r>
                    </a:p>
                  </a:txBody>
                  <a:tcPr anchor="ctr">
                    <a:solidFill>
                      <a:srgbClr val="F1F5F9"/>
                    </a:solidFill>
                  </a:tcPr>
                </a:tc>
                <a:tc>
                  <a:txBody>
                    <a:bodyPr/>
                    <a:lstStyle/>
                    <a:p>
                      <a:pPr algn="l">
                        <a:defRPr sz="900">
                          <a:solidFill>
                            <a:srgbClr val="0F172A"/>
                          </a:solidFill>
                          <a:latin typeface="Segoe UI"/>
                        </a:defRPr>
                      </a:pPr>
                      <a:r>
                        <a:t>Body copy of the push notification displayed in device notification shade.</a:t>
                      </a:r>
                    </a:p>
                  </a:txBody>
                  <a:tcPr anchor="ctr">
                    <a:solidFill>
                      <a:srgbClr val="F1F5F9"/>
                    </a:solidFill>
                  </a:tcPr>
                </a:tc>
              </a:tr>
              <a:tr h="256032">
                <a:tc>
                  <a:txBody>
                    <a:bodyPr/>
                    <a:lstStyle/>
                    <a:p>
                      <a:pPr algn="l">
                        <a:defRPr sz="900" b="1">
                          <a:solidFill>
                            <a:srgbClr val="1E3A8A"/>
                          </a:solidFill>
                          <a:latin typeface="Segoe UI"/>
                        </a:defRPr>
                      </a:pPr>
                      <a:r>
                        <a:t>action / action_url</a:t>
                      </a:r>
                    </a:p>
                  </a:txBody>
                  <a:tcPr anchor="ctr">
                    <a:solidFill>
                      <a:srgbClr val="FFFFFF"/>
                    </a:solidFill>
                  </a:tcPr>
                </a:tc>
                <a:tc>
                  <a:txBody>
                    <a:bodyPr/>
                    <a:lstStyle/>
                    <a:p>
                      <a:pPr algn="l">
                        <a:defRPr sz="900">
                          <a:solidFill>
                            <a:srgbClr val="4F46E5"/>
                          </a:solidFill>
                          <a:latin typeface="Segoe UI"/>
                        </a:defRPr>
                      </a:pPr>
                      <a:r>
                        <a:t>VARCHAR(50) / (255)</a:t>
                      </a:r>
                    </a:p>
                  </a:txBody>
                  <a:tcPr anchor="ctr">
                    <a:solidFill>
                      <a:srgbClr val="FFFFFF"/>
                    </a:solidFill>
                  </a:tcPr>
                </a:tc>
                <a:tc>
                  <a:txBody>
                    <a:bodyPr/>
                    <a:lstStyle/>
                    <a:p>
                      <a:pPr algn="l">
                        <a:defRPr sz="900">
                          <a:solidFill>
                            <a:srgbClr val="64748B"/>
                          </a:solidFill>
                          <a:latin typeface="Segoe UI"/>
                        </a:defRPr>
                      </a:pPr>
                      <a:r>
                        <a:t>DEFAULT 'Open App' / NULL</a:t>
                      </a:r>
                    </a:p>
                  </a:txBody>
                  <a:tcPr anchor="ctr">
                    <a:solidFill>
                      <a:srgbClr val="FFFFFF"/>
                    </a:solidFill>
                  </a:tcPr>
                </a:tc>
                <a:tc>
                  <a:txBody>
                    <a:bodyPr/>
                    <a:lstStyle/>
                    <a:p>
                      <a:pPr algn="l">
                        <a:defRPr sz="900">
                          <a:solidFill>
                            <a:srgbClr val="0F172A"/>
                          </a:solidFill>
                          <a:latin typeface="Segoe UI"/>
                        </a:defRPr>
                      </a:pPr>
                      <a:r>
                        <a:t>Call-to-action intent: 'Open App', 'Open URL', 'Deep Link' and target destination URI.</a:t>
                      </a:r>
                    </a:p>
                  </a:txBody>
                  <a:tcPr anchor="ctr">
                    <a:solidFill>
                      <a:srgbClr val="FFFFFF"/>
                    </a:solidFill>
                  </a:tcPr>
                </a:tc>
              </a:tr>
              <a:tr h="256032">
                <a:tc>
                  <a:txBody>
                    <a:bodyPr/>
                    <a:lstStyle/>
                    <a:p>
                      <a:pPr algn="l">
                        <a:defRPr sz="900" b="1">
                          <a:solidFill>
                            <a:srgbClr val="1E3A8A"/>
                          </a:solidFill>
                          <a:latin typeface="Segoe UI"/>
                        </a:defRPr>
                      </a:pPr>
                      <a:r>
                        <a:t>image_url</a:t>
                      </a:r>
                    </a:p>
                  </a:txBody>
                  <a:tcPr anchor="ctr">
                    <a:solidFill>
                      <a:srgbClr val="F1F5F9"/>
                    </a:solidFill>
                  </a:tcPr>
                </a:tc>
                <a:tc>
                  <a:txBody>
                    <a:bodyPr/>
                    <a:lstStyle/>
                    <a:p>
                      <a:pPr algn="l">
                        <a:defRPr sz="900">
                          <a:solidFill>
                            <a:srgbClr val="4F46E5"/>
                          </a:solidFill>
                          <a:latin typeface="Segoe UI"/>
                        </a:defRPr>
                      </a:pPr>
                      <a:r>
                        <a:t>VARCHAR(500)</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URL of rich visual media banner displayed in expandable push notifications.</a:t>
                      </a:r>
                    </a:p>
                  </a:txBody>
                  <a:tcPr anchor="ctr">
                    <a:solidFill>
                      <a:srgbClr val="F1F5F9"/>
                    </a:solidFill>
                  </a:tcPr>
                </a:tc>
              </a:tr>
              <a:tr h="256032">
                <a:tc>
                  <a:txBody>
                    <a:bodyPr/>
                    <a:lstStyle/>
                    <a:p>
                      <a:pPr algn="l">
                        <a:defRPr sz="900" b="1">
                          <a:solidFill>
                            <a:srgbClr val="1E3A8A"/>
                          </a:solidFill>
                          <a:latin typeface="Segoe UI"/>
                        </a:defRPr>
                      </a:pPr>
                      <a:r>
                        <a:t>custom_payload</a:t>
                      </a:r>
                    </a:p>
                  </a:txBody>
                  <a:tcPr anchor="ctr">
                    <a:solidFill>
                      <a:srgbClr val="FFFFFF"/>
                    </a:solidFill>
                  </a:tcPr>
                </a:tc>
                <a:tc>
                  <a:txBody>
                    <a:bodyPr/>
                    <a:lstStyle/>
                    <a:p>
                      <a:pPr algn="l">
                        <a:defRPr sz="900">
                          <a:solidFill>
                            <a:srgbClr val="4F46E5"/>
                          </a:solidFill>
                          <a:latin typeface="Segoe UI"/>
                        </a:defRPr>
                      </a:pPr>
                      <a:r>
                        <a:t>TEXT</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Custom JSON key-value data payload passed directly to mobile app background handlers.</a:t>
                      </a:r>
                    </a:p>
                  </a:txBody>
                  <a:tcPr anchor="ctr">
                    <a:solidFill>
                      <a:srgbClr val="FFFFFF"/>
                    </a:solidFill>
                  </a:tcPr>
                </a:tc>
              </a:tr>
              <a:tr h="256032">
                <a:tc>
                  <a:txBody>
                    <a:bodyPr/>
                    <a:lstStyle/>
                    <a:p>
                      <a:pPr algn="l">
                        <a:defRPr sz="900" b="1">
                          <a:solidFill>
                            <a:srgbClr val="1E3A8A"/>
                          </a:solidFill>
                          <a:latin typeface="Segoe UI"/>
                        </a:defRPr>
                      </a:pPr>
                      <a:r>
                        <a:t>audience_type</a:t>
                      </a:r>
                    </a:p>
                  </a:txBody>
                  <a:tcPr anchor="ctr">
                    <a:solidFill>
                      <a:srgbClr val="F1F5F9"/>
                    </a:solidFill>
                  </a:tcPr>
                </a:tc>
                <a:tc>
                  <a:txBody>
                    <a:bodyPr/>
                    <a:lstStyle/>
                    <a:p>
                      <a:pPr algn="l">
                        <a:defRPr sz="900">
                          <a:solidFill>
                            <a:srgbClr val="4F46E5"/>
                          </a:solidFill>
                          <a:latin typeface="Segoe UI"/>
                        </a:defRPr>
                      </a:pPr>
                      <a:r>
                        <a:t>ENUM('individual','segment','all')</a:t>
                      </a:r>
                    </a:p>
                  </a:txBody>
                  <a:tcPr anchor="ctr">
                    <a:solidFill>
                      <a:srgbClr val="F1F5F9"/>
                    </a:solidFill>
                  </a:tcPr>
                </a:tc>
                <a:tc>
                  <a:txBody>
                    <a:bodyPr/>
                    <a:lstStyle/>
                    <a:p>
                      <a:pPr algn="l">
                        <a:defRPr sz="900">
                          <a:solidFill>
                            <a:srgbClr val="64748B"/>
                          </a:solidFill>
                          <a:latin typeface="Segoe UI"/>
                        </a:defRPr>
                      </a:pPr>
                      <a:r>
                        <a:t>DEFAULT 'segment'</a:t>
                      </a:r>
                    </a:p>
                  </a:txBody>
                  <a:tcPr anchor="ctr">
                    <a:solidFill>
                      <a:srgbClr val="F1F5F9"/>
                    </a:solidFill>
                  </a:tcPr>
                </a:tc>
                <a:tc>
                  <a:txBody>
                    <a:bodyPr/>
                    <a:lstStyle/>
                    <a:p>
                      <a:pPr algn="l">
                        <a:defRPr sz="900">
                          <a:solidFill>
                            <a:srgbClr val="0F172A"/>
                          </a:solidFill>
                          <a:latin typeface="Segoe UI"/>
                        </a:defRPr>
                      </a:pPr>
                      <a:r>
                        <a:t>Targeting scope: 1-to-1 individual device, dynamic segment cohort, or global broadcast.</a:t>
                      </a:r>
                    </a:p>
                  </a:txBody>
                  <a:tcPr anchor="ctr">
                    <a:solidFill>
                      <a:srgbClr val="F1F5F9"/>
                    </a:solidFill>
                  </a:tcPr>
                </a:tc>
              </a:tr>
              <a:tr h="256032">
                <a:tc>
                  <a:txBody>
                    <a:bodyPr/>
                    <a:lstStyle/>
                    <a:p>
                      <a:pPr algn="l">
                        <a:defRPr sz="900" b="1">
                          <a:solidFill>
                            <a:srgbClr val="1E3A8A"/>
                          </a:solidFill>
                          <a:latin typeface="Segoe UI"/>
                        </a:defRPr>
                      </a:pPr>
                      <a:r>
                        <a:t>segment_id</a:t>
                      </a:r>
                    </a:p>
                  </a:txBody>
                  <a:tcPr anchor="ctr">
                    <a:solidFill>
                      <a:srgbClr val="FFFFFF"/>
                    </a:solidFill>
                  </a:tcPr>
                </a:tc>
                <a:tc>
                  <a:txBody>
                    <a:bodyPr/>
                    <a:lstStyle/>
                    <a:p>
                      <a:pPr algn="l">
                        <a:defRPr sz="900">
                          <a:solidFill>
                            <a:srgbClr val="4F46E5"/>
                          </a:solidFill>
                          <a:latin typeface="Segoe UI"/>
                        </a:defRPr>
                      </a:pPr>
                      <a:r>
                        <a:t>BIGINT UNSIGNED</a:t>
                      </a:r>
                    </a:p>
                  </a:txBody>
                  <a:tcPr anchor="ctr">
                    <a:solidFill>
                      <a:srgbClr val="FFFFFF"/>
                    </a:solidFill>
                  </a:tcPr>
                </a:tc>
                <a:tc>
                  <a:txBody>
                    <a:bodyPr/>
                    <a:lstStyle/>
                    <a:p>
                      <a:pPr algn="l">
                        <a:defRPr sz="900">
                          <a:solidFill>
                            <a:srgbClr val="64748B"/>
                          </a:solidFill>
                          <a:latin typeface="Segoe UI"/>
                        </a:defRPr>
                      </a:pPr>
                      <a:r>
                        <a:t>FK -&gt; audience_segments.id</a:t>
                      </a:r>
                    </a:p>
                  </a:txBody>
                  <a:tcPr anchor="ctr">
                    <a:solidFill>
                      <a:srgbClr val="FFFFFF"/>
                    </a:solidFill>
                  </a:tcPr>
                </a:tc>
                <a:tc>
                  <a:txBody>
                    <a:bodyPr/>
                    <a:lstStyle/>
                    <a:p>
                      <a:pPr algn="l">
                        <a:defRPr sz="900">
                          <a:solidFill>
                            <a:srgbClr val="0F172A"/>
                          </a:solidFill>
                          <a:latin typeface="Segoe UI"/>
                        </a:defRPr>
                      </a:pPr>
                      <a:r>
                        <a:t>Relational foreign key binding campaign to audience segment (NULL on delete).</a:t>
                      </a:r>
                    </a:p>
                  </a:txBody>
                  <a:tcPr anchor="ctr">
                    <a:solidFill>
                      <a:srgbClr val="FFFFFF"/>
                    </a:solidFill>
                  </a:tcPr>
                </a:tc>
              </a:tr>
              <a:tr h="256032">
                <a:tc>
                  <a:txBody>
                    <a:bodyPr/>
                    <a:lstStyle/>
                    <a:p>
                      <a:pPr algn="l">
                        <a:defRPr sz="900" b="1">
                          <a:solidFill>
                            <a:srgbClr val="1E3A8A"/>
                          </a:solidFill>
                          <a:latin typeface="Segoe UI"/>
                        </a:defRPr>
                      </a:pPr>
                      <a:r>
                        <a:t>target_device_ids</a:t>
                      </a:r>
                    </a:p>
                  </a:txBody>
                  <a:tcPr anchor="ctr">
                    <a:solidFill>
                      <a:srgbClr val="F1F5F9"/>
                    </a:solidFill>
                  </a:tcPr>
                </a:tc>
                <a:tc>
                  <a:txBody>
                    <a:bodyPr/>
                    <a:lstStyle/>
                    <a:p>
                      <a:pPr algn="l">
                        <a:defRPr sz="900">
                          <a:solidFill>
                            <a:srgbClr val="4F46E5"/>
                          </a:solidFill>
                          <a:latin typeface="Segoe UI"/>
                        </a:defRPr>
                      </a:pPr>
                      <a:r>
                        <a:t>JSON</a:t>
                      </a:r>
                    </a:p>
                  </a:txBody>
                  <a:tcPr anchor="ctr">
                    <a:solidFill>
                      <a:srgbClr val="F1F5F9"/>
                    </a:solidFill>
                  </a:tcPr>
                </a:tc>
                <a:tc>
                  <a:txBody>
                    <a:bodyPr/>
                    <a:lstStyle/>
                    <a:p>
                      <a:pPr algn="l">
                        <a:defRPr sz="900">
                          <a:solidFill>
                            <a:srgbClr val="64748B"/>
                          </a:solidFill>
                          <a:latin typeface="Segoe UI"/>
                        </a:defRPr>
                      </a:pPr>
                      <a:r>
                        <a:t>NULL</a:t>
                      </a:r>
                    </a:p>
                  </a:txBody>
                  <a:tcPr anchor="ctr">
                    <a:solidFill>
                      <a:srgbClr val="F1F5F9"/>
                    </a:solidFill>
                  </a:tcPr>
                </a:tc>
                <a:tc>
                  <a:txBody>
                    <a:bodyPr/>
                    <a:lstStyle/>
                    <a:p>
                      <a:pPr algn="l">
                        <a:defRPr sz="900">
                          <a:solidFill>
                            <a:srgbClr val="0F172A"/>
                          </a:solidFill>
                          <a:latin typeface="Segoe UI"/>
                        </a:defRPr>
                      </a:pPr>
                      <a:r>
                        <a:t>JSON array of specific device IDs when targeting in individual/manual mode.</a:t>
                      </a:r>
                    </a:p>
                  </a:txBody>
                  <a:tcPr anchor="ctr">
                    <a:solidFill>
                      <a:srgbClr val="F1F5F9"/>
                    </a:solidFill>
                  </a:tcPr>
                </a:tc>
              </a:tr>
              <a:tr h="256032">
                <a:tc>
                  <a:txBody>
                    <a:bodyPr/>
                    <a:lstStyle/>
                    <a:p>
                      <a:pPr algn="l">
                        <a:defRPr sz="900" b="1">
                          <a:solidFill>
                            <a:srgbClr val="1E3A8A"/>
                          </a:solidFill>
                          <a:latin typeface="Segoe UI"/>
                        </a:defRPr>
                      </a:pPr>
                      <a:r>
                        <a:t>android_count / ios_count / total_audience</a:t>
                      </a:r>
                    </a:p>
                  </a:txBody>
                  <a:tcPr anchor="ctr">
                    <a:solidFill>
                      <a:srgbClr val="FFFFFF"/>
                    </a:solidFill>
                  </a:tcPr>
                </a:tc>
                <a:tc>
                  <a:txBody>
                    <a:bodyPr/>
                    <a:lstStyle/>
                    <a:p>
                      <a:pPr algn="l">
                        <a:defRPr sz="900">
                          <a:solidFill>
                            <a:srgbClr val="4F46E5"/>
                          </a:solidFill>
                          <a:latin typeface="Segoe UI"/>
                        </a:defRPr>
                      </a:pPr>
                      <a:r>
                        <a:t>INTEGER UNSIGNED</a:t>
                      </a:r>
                    </a:p>
                  </a:txBody>
                  <a:tcPr anchor="ctr">
                    <a:solidFill>
                      <a:srgbClr val="FFFFFF"/>
                    </a:solidFill>
                  </a:tcPr>
                </a:tc>
                <a:tc>
                  <a:txBody>
                    <a:bodyPr/>
                    <a:lstStyle/>
                    <a:p>
                      <a:pPr algn="l">
                        <a:defRPr sz="900">
                          <a:solidFill>
                            <a:srgbClr val="64748B"/>
                          </a:solidFill>
                          <a:latin typeface="Segoe UI"/>
                        </a:defRPr>
                      </a:pPr>
                      <a:r>
                        <a:t>DEFAULT 0</a:t>
                      </a:r>
                    </a:p>
                  </a:txBody>
                  <a:tcPr anchor="ctr">
                    <a:solidFill>
                      <a:srgbClr val="FFFFFF"/>
                    </a:solidFill>
                  </a:tcPr>
                </a:tc>
                <a:tc>
                  <a:txBody>
                    <a:bodyPr/>
                    <a:lstStyle/>
                    <a:p>
                      <a:pPr algn="l">
                        <a:defRPr sz="900">
                          <a:solidFill>
                            <a:srgbClr val="0F172A"/>
                          </a:solidFill>
                          <a:latin typeface="Segoe UI"/>
                        </a:defRPr>
                      </a:pPr>
                      <a:r>
                        <a:t>Pre-calculated device count breakdown targeted at time of campaign scheduling.</a:t>
                      </a:r>
                    </a:p>
                  </a:txBody>
                  <a:tcPr anchor="ctr">
                    <a:solidFill>
                      <a:srgbClr val="FFFFFF"/>
                    </a:solidFill>
                  </a:tcPr>
                </a:tc>
              </a:tr>
              <a:tr h="256032">
                <a:tc>
                  <a:txBody>
                    <a:bodyPr/>
                    <a:lstStyle/>
                    <a:p>
                      <a:pPr algn="l">
                        <a:defRPr sz="900" b="1">
                          <a:solidFill>
                            <a:srgbClr val="1E3A8A"/>
                          </a:solidFill>
                          <a:latin typeface="Segoe UI"/>
                        </a:defRPr>
                      </a:pPr>
                      <a:r>
                        <a:t>delivered_count / open_count</a:t>
                      </a:r>
                    </a:p>
                  </a:txBody>
                  <a:tcPr anchor="ctr">
                    <a:solidFill>
                      <a:srgbClr val="F1F5F9"/>
                    </a:solidFill>
                  </a:tcPr>
                </a:tc>
                <a:tc>
                  <a:txBody>
                    <a:bodyPr/>
                    <a:lstStyle/>
                    <a:p>
                      <a:pPr algn="l">
                        <a:defRPr sz="900">
                          <a:solidFill>
                            <a:srgbClr val="4F46E5"/>
                          </a:solidFill>
                          <a:latin typeface="Segoe UI"/>
                        </a:defRPr>
                      </a:pPr>
                      <a:r>
                        <a:t>INTEGER UNSIGNED</a:t>
                      </a:r>
                    </a:p>
                  </a:txBody>
                  <a:tcPr anchor="ctr">
                    <a:solidFill>
                      <a:srgbClr val="F1F5F9"/>
                    </a:solidFill>
                  </a:tcPr>
                </a:tc>
                <a:tc>
                  <a:txBody>
                    <a:bodyPr/>
                    <a:lstStyle/>
                    <a:p>
                      <a:pPr algn="l">
                        <a:defRPr sz="900">
                          <a:solidFill>
                            <a:srgbClr val="64748B"/>
                          </a:solidFill>
                          <a:latin typeface="Segoe UI"/>
                        </a:defRPr>
                      </a:pPr>
                      <a:r>
                        <a:t>DEFAULT 0</a:t>
                      </a:r>
                    </a:p>
                  </a:txBody>
                  <a:tcPr anchor="ctr">
                    <a:solidFill>
                      <a:srgbClr val="F1F5F9"/>
                    </a:solidFill>
                  </a:tcPr>
                </a:tc>
                <a:tc>
                  <a:txBody>
                    <a:bodyPr/>
                    <a:lstStyle/>
                    <a:p>
                      <a:pPr algn="l">
                        <a:defRPr sz="900">
                          <a:solidFill>
                            <a:srgbClr val="0F172A"/>
                          </a:solidFill>
                          <a:latin typeface="Segoe UI"/>
                        </a:defRPr>
                      </a:pPr>
                      <a:r>
                        <a:t>Telemetry counters updated via Firebase delivery reports and mobile open events.</a:t>
                      </a:r>
                    </a:p>
                  </a:txBody>
                  <a:tcPr anchor="ctr">
                    <a:solidFill>
                      <a:srgbClr val="F1F5F9"/>
                    </a:solidFill>
                  </a:tcPr>
                </a:tc>
              </a:tr>
              <a:tr h="256032">
                <a:tc>
                  <a:txBody>
                    <a:bodyPr/>
                    <a:lstStyle/>
                    <a:p>
                      <a:pPr algn="l">
                        <a:defRPr sz="900" b="1">
                          <a:solidFill>
                            <a:srgbClr val="1E3A8A"/>
                          </a:solidFill>
                          <a:latin typeface="Segoe UI"/>
                        </a:defRPr>
                      </a:pPr>
                      <a:r>
                        <a:t>open_rate</a:t>
                      </a:r>
                    </a:p>
                  </a:txBody>
                  <a:tcPr anchor="ctr">
                    <a:solidFill>
                      <a:srgbClr val="FFFFFF"/>
                    </a:solidFill>
                  </a:tcPr>
                </a:tc>
                <a:tc>
                  <a:txBody>
                    <a:bodyPr/>
                    <a:lstStyle/>
                    <a:p>
                      <a:pPr algn="l">
                        <a:defRPr sz="900">
                          <a:solidFill>
                            <a:srgbClr val="4F46E5"/>
                          </a:solidFill>
                          <a:latin typeface="Segoe UI"/>
                        </a:defRPr>
                      </a:pPr>
                      <a:r>
                        <a:t>DECIMAL(5,2)</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Computed engagement metric: (open_count / delivered_count) * 100.</a:t>
                      </a:r>
                    </a:p>
                  </a:txBody>
                  <a:tcPr anchor="ctr">
                    <a:solidFill>
                      <a:srgbClr val="FFFFFF"/>
                    </a:solidFill>
                  </a:tcPr>
                </a:tc>
              </a:tr>
              <a:tr h="256032">
                <a:tc>
                  <a:txBody>
                    <a:bodyPr/>
                    <a:lstStyle/>
                    <a:p>
                      <a:pPr algn="l">
                        <a:defRPr sz="900" b="1">
                          <a:solidFill>
                            <a:srgbClr val="1E3A8A"/>
                          </a:solidFill>
                          <a:latin typeface="Segoe UI"/>
                        </a:defRPr>
                      </a:pPr>
                      <a:r>
                        <a:t>status</a:t>
                      </a:r>
                    </a:p>
                  </a:txBody>
                  <a:tcPr anchor="ctr">
                    <a:solidFill>
                      <a:srgbClr val="F1F5F9"/>
                    </a:solidFill>
                  </a:tcPr>
                </a:tc>
                <a:tc>
                  <a:txBody>
                    <a:bodyPr/>
                    <a:lstStyle/>
                    <a:p>
                      <a:pPr algn="l">
                        <a:defRPr sz="900">
                          <a:solidFill>
                            <a:srgbClr val="4F46E5"/>
                          </a:solidFill>
                          <a:latin typeface="Segoe UI"/>
                        </a:defRPr>
                      </a:pPr>
                      <a:r>
                        <a:t>ENUM('draft','scheduled','sent','failed','archived')</a:t>
                      </a:r>
                    </a:p>
                  </a:txBody>
                  <a:tcPr anchor="ctr">
                    <a:solidFill>
                      <a:srgbClr val="F1F5F9"/>
                    </a:solidFill>
                  </a:tcPr>
                </a:tc>
                <a:tc>
                  <a:txBody>
                    <a:bodyPr/>
                    <a:lstStyle/>
                    <a:p>
                      <a:pPr algn="l">
                        <a:defRPr sz="900">
                          <a:solidFill>
                            <a:srgbClr val="64748B"/>
                          </a:solidFill>
                          <a:latin typeface="Segoe UI"/>
                        </a:defRPr>
                      </a:pPr>
                      <a:r>
                        <a:t>DEFAULT 'draft'</a:t>
                      </a:r>
                    </a:p>
                  </a:txBody>
                  <a:tcPr anchor="ctr">
                    <a:solidFill>
                      <a:srgbClr val="F1F5F9"/>
                    </a:solidFill>
                  </a:tcPr>
                </a:tc>
                <a:tc>
                  <a:txBody>
                    <a:bodyPr/>
                    <a:lstStyle/>
                    <a:p>
                      <a:pPr algn="l">
                        <a:defRPr sz="900">
                          <a:solidFill>
                            <a:srgbClr val="0F172A"/>
                          </a:solidFill>
                          <a:latin typeface="Segoe UI"/>
                        </a:defRPr>
                      </a:pPr>
                      <a:r>
                        <a:t>Operational workflow state machine governing dispatcher queue processing.</a:t>
                      </a:r>
                    </a:p>
                  </a:txBody>
                  <a:tcPr anchor="ctr">
                    <a:solidFill>
                      <a:srgbClr val="F1F5F9"/>
                    </a:solidFill>
                  </a:tcPr>
                </a:tc>
              </a:tr>
              <a:tr h="256032">
                <a:tc>
                  <a:txBody>
                    <a:bodyPr/>
                    <a:lstStyle/>
                    <a:p>
                      <a:pPr algn="l">
                        <a:defRPr sz="900" b="1">
                          <a:solidFill>
                            <a:srgbClr val="1E3A8A"/>
                          </a:solidFill>
                          <a:latin typeface="Segoe UI"/>
                        </a:defRPr>
                      </a:pPr>
                      <a:r>
                        <a:t>scheduled_at / sent_at</a:t>
                      </a:r>
                    </a:p>
                  </a:txBody>
                  <a:tcPr anchor="ctr">
                    <a:solidFill>
                      <a:srgbClr val="FFFFFF"/>
                    </a:solidFill>
                  </a:tcPr>
                </a:tc>
                <a:tc>
                  <a:txBody>
                    <a:bodyPr/>
                    <a:lstStyle/>
                    <a:p>
                      <a:pPr algn="l">
                        <a:defRPr sz="900">
                          <a:solidFill>
                            <a:srgbClr val="4F46E5"/>
                          </a:solidFill>
                          <a:latin typeface="Segoe UI"/>
                        </a:defRPr>
                      </a:pPr>
                      <a:r>
                        <a:t>TIMESTAMP</a:t>
                      </a:r>
                    </a:p>
                  </a:txBody>
                  <a:tcPr anchor="ctr">
                    <a:solidFill>
                      <a:srgbClr val="FFFFFF"/>
                    </a:solidFill>
                  </a:tcPr>
                </a:tc>
                <a:tc>
                  <a:txBody>
                    <a:bodyPr/>
                    <a:lstStyle/>
                    <a:p>
                      <a:pPr algn="l">
                        <a:defRPr sz="900">
                          <a:solidFill>
                            <a:srgbClr val="64748B"/>
                          </a:solidFill>
                          <a:latin typeface="Segoe UI"/>
                        </a:defRPr>
                      </a:pPr>
                      <a:r>
                        <a:t>NULL</a:t>
                      </a:r>
                    </a:p>
                  </a:txBody>
                  <a:tcPr anchor="ctr">
                    <a:solidFill>
                      <a:srgbClr val="FFFFFF"/>
                    </a:solidFill>
                  </a:tcPr>
                </a:tc>
                <a:tc>
                  <a:txBody>
                    <a:bodyPr/>
                    <a:lstStyle/>
                    <a:p>
                      <a:pPr algn="l">
                        <a:defRPr sz="900">
                          <a:solidFill>
                            <a:srgbClr val="0F172A"/>
                          </a:solidFill>
                          <a:latin typeface="Segoe UI"/>
                        </a:defRPr>
                      </a:pPr>
                      <a:r>
                        <a:t>Scheduled dispatch timestamp and exact completion timestamp of FCM broadcast.</a:t>
                      </a:r>
                    </a:p>
                  </a:txBody>
                  <a:tcPr anchor="ctr">
                    <a:solidFill>
                      <a:srgbClr val="FFFFFF"/>
                    </a:solidFill>
                  </a:tcPr>
                </a:tc>
              </a:tr>
              <a:tr h="256032">
                <a:tc>
                  <a:txBody>
                    <a:bodyPr/>
                    <a:lstStyle/>
                    <a:p>
                      <a:pPr algn="l">
                        <a:defRPr sz="900" b="1">
                          <a:solidFill>
                            <a:srgbClr val="1E3A8A"/>
                          </a:solidFill>
                          <a:latin typeface="Segoe UI"/>
                        </a:defRPr>
                      </a:pPr>
                      <a:r>
                        <a:t>time_zone / quiet_hours_enabled</a:t>
                      </a:r>
                    </a:p>
                  </a:txBody>
                  <a:tcPr anchor="ctr">
                    <a:solidFill>
                      <a:srgbClr val="F1F5F9"/>
                    </a:solidFill>
                  </a:tcPr>
                </a:tc>
                <a:tc>
                  <a:txBody>
                    <a:bodyPr/>
                    <a:lstStyle/>
                    <a:p>
                      <a:pPr algn="l">
                        <a:defRPr sz="900">
                          <a:solidFill>
                            <a:srgbClr val="4F46E5"/>
                          </a:solidFill>
                          <a:latin typeface="Segoe UI"/>
                        </a:defRPr>
                      </a:pPr>
                      <a:r>
                        <a:t>VARCHAR(50) / BOOLEAN</a:t>
                      </a:r>
                    </a:p>
                  </a:txBody>
                  <a:tcPr anchor="ctr">
                    <a:solidFill>
                      <a:srgbClr val="F1F5F9"/>
                    </a:solidFill>
                  </a:tcPr>
                </a:tc>
                <a:tc>
                  <a:txBody>
                    <a:bodyPr/>
                    <a:lstStyle/>
                    <a:p>
                      <a:pPr algn="l">
                        <a:defRPr sz="900">
                          <a:solidFill>
                            <a:srgbClr val="64748B"/>
                          </a:solidFill>
                          <a:latin typeface="Segoe UI"/>
                        </a:defRPr>
                      </a:pPr>
                      <a:r>
                        <a:t>DEFAULT Kolkata / TRUE</a:t>
                      </a:r>
                    </a:p>
                  </a:txBody>
                  <a:tcPr anchor="ctr">
                    <a:solidFill>
                      <a:srgbClr val="F1F5F9"/>
                    </a:solidFill>
                  </a:tcPr>
                </a:tc>
                <a:tc>
                  <a:txBody>
                    <a:bodyPr/>
                    <a:lstStyle/>
                    <a:p>
                      <a:pPr algn="l">
                        <a:defRPr sz="900">
                          <a:solidFill>
                            <a:srgbClr val="0F172A"/>
                          </a:solidFill>
                          <a:latin typeface="Segoe UI"/>
                        </a:defRPr>
                      </a:pPr>
                      <a:r>
                        <a:t>Prevents dispatching notifications during recipient nighttime hours (e.g. 10PM - 7AM).</a:t>
                      </a:r>
                    </a:p>
                  </a:txBody>
                  <a:tcPr anchor="ctr">
                    <a:solidFill>
                      <a:srgbClr val="F1F5F9"/>
                    </a:solidFill>
                  </a:tcPr>
                </a:tc>
              </a:tr>
              <a:tr h="256032">
                <a:tc>
                  <a:txBody>
                    <a:bodyPr/>
                    <a:lstStyle/>
                    <a:p>
                      <a:pPr algn="l">
                        <a:defRPr sz="900" b="1">
                          <a:solidFill>
                            <a:srgbClr val="1E3A8A"/>
                          </a:solidFill>
                          <a:latin typeface="Segoe UI"/>
                        </a:defRPr>
                      </a:pPr>
                      <a:r>
                        <a:t>expiry_hours / timeline_steps</a:t>
                      </a:r>
                    </a:p>
                  </a:txBody>
                  <a:tcPr anchor="ctr">
                    <a:solidFill>
                      <a:srgbClr val="FFFFFF"/>
                    </a:solidFill>
                  </a:tcPr>
                </a:tc>
                <a:tc>
                  <a:txBody>
                    <a:bodyPr/>
                    <a:lstStyle/>
                    <a:p>
                      <a:pPr algn="l">
                        <a:defRPr sz="900">
                          <a:solidFill>
                            <a:srgbClr val="4F46E5"/>
                          </a:solidFill>
                          <a:latin typeface="Segoe UI"/>
                        </a:defRPr>
                      </a:pPr>
                      <a:r>
                        <a:t>SMALLINT / JSON</a:t>
                      </a:r>
                    </a:p>
                  </a:txBody>
                  <a:tcPr anchor="ctr">
                    <a:solidFill>
                      <a:srgbClr val="FFFFFF"/>
                    </a:solidFill>
                  </a:tcPr>
                </a:tc>
                <a:tc>
                  <a:txBody>
                    <a:bodyPr/>
                    <a:lstStyle/>
                    <a:p>
                      <a:pPr algn="l">
                        <a:defRPr sz="900">
                          <a:solidFill>
                            <a:srgbClr val="64748B"/>
                          </a:solidFill>
                          <a:latin typeface="Segoe UI"/>
                        </a:defRPr>
                      </a:pPr>
                      <a:r>
                        <a:t>DEFAULT 24 / NULL</a:t>
                      </a:r>
                    </a:p>
                  </a:txBody>
                  <a:tcPr anchor="ctr">
                    <a:solidFill>
                      <a:srgbClr val="FFFFFF"/>
                    </a:solidFill>
                  </a:tcPr>
                </a:tc>
                <a:tc>
                  <a:txBody>
                    <a:bodyPr/>
                    <a:lstStyle/>
                    <a:p>
                      <a:pPr algn="l">
                        <a:defRPr sz="900">
                          <a:solidFill>
                            <a:srgbClr val="0F172A"/>
                          </a:solidFill>
                          <a:latin typeface="Segoe UI"/>
                        </a:defRPr>
                      </a:pPr>
                      <a:r>
                        <a:t>FCM message TTL expiration and JSON audit log of campaign pipeline milestones.</a:t>
                      </a:r>
                    </a:p>
                  </a:txBody>
                  <a:tcPr anchor="ctr">
                    <a:solidFill>
                      <a:srgbClr val="FFFFFF"/>
                    </a:solidFill>
                  </a:tcPr>
                </a:tc>
              </a:tr>
              <a:tr h="256032">
                <a:tc>
                  <a:txBody>
                    <a:bodyPr/>
                    <a:lstStyle/>
                    <a:p>
                      <a:pPr algn="l">
                        <a:defRPr sz="900" b="1">
                          <a:solidFill>
                            <a:srgbClr val="1E3A8A"/>
                          </a:solidFill>
                          <a:latin typeface="Segoe UI"/>
                        </a:defRPr>
                      </a:pPr>
                      <a:r>
                        <a:t>created_by</a:t>
                      </a:r>
                    </a:p>
                  </a:txBody>
                  <a:tcPr anchor="ctr">
                    <a:solidFill>
                      <a:srgbClr val="F1F5F9"/>
                    </a:solidFill>
                  </a:tcPr>
                </a:tc>
                <a:tc>
                  <a:txBody>
                    <a:bodyPr/>
                    <a:lstStyle/>
                    <a:p>
                      <a:pPr algn="l">
                        <a:defRPr sz="900">
                          <a:solidFill>
                            <a:srgbClr val="4F46E5"/>
                          </a:solidFill>
                          <a:latin typeface="Segoe UI"/>
                        </a:defRPr>
                      </a:pPr>
                      <a:r>
                        <a:t>BIGINT UNSIGNED</a:t>
                      </a:r>
                    </a:p>
                  </a:txBody>
                  <a:tcPr anchor="ctr">
                    <a:solidFill>
                      <a:srgbClr val="F1F5F9"/>
                    </a:solidFill>
                  </a:tcPr>
                </a:tc>
                <a:tc>
                  <a:txBody>
                    <a:bodyPr/>
                    <a:lstStyle/>
                    <a:p>
                      <a:pPr algn="l">
                        <a:defRPr sz="900">
                          <a:solidFill>
                            <a:srgbClr val="64748B"/>
                          </a:solidFill>
                          <a:latin typeface="Segoe UI"/>
                        </a:defRPr>
                      </a:pPr>
                      <a:r>
                        <a:t>FK -&gt; users.id (NULL on delete)</a:t>
                      </a:r>
                    </a:p>
                  </a:txBody>
                  <a:tcPr anchor="ctr">
                    <a:solidFill>
                      <a:srgbClr val="F1F5F9"/>
                    </a:solidFill>
                  </a:tcPr>
                </a:tc>
                <a:tc>
                  <a:txBody>
                    <a:bodyPr/>
                    <a:lstStyle/>
                    <a:p>
                      <a:pPr algn="l">
                        <a:defRPr sz="900">
                          <a:solidFill>
                            <a:srgbClr val="0F172A"/>
                          </a:solidFill>
                          <a:latin typeface="Segoe UI"/>
                        </a:defRPr>
                      </a:pPr>
                      <a:r>
                        <a:t>Tracks administrative user who authored and launched the push campaign.</a:t>
                      </a:r>
                    </a:p>
                  </a:txBody>
                  <a:tcPr anchor="ctr">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65760"/>
            <a:ext cx="11094415" cy="1234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365760"/>
            <a:ext cx="109728" cy="1234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11480"/>
            <a:ext cx="6400800" cy="228600"/>
          </a:xfrm>
          <a:prstGeom prst="rect">
            <a:avLst/>
          </a:prstGeom>
          <a:noFill/>
        </p:spPr>
        <p:txBody>
          <a:bodyPr wrap="square" lIns="0" tIns="0" rIns="0" bIns="0">
            <a:spAutoFit/>
          </a:bodyPr>
          <a:lstStyle/>
          <a:p>
            <a:pPr>
              <a:defRPr sz="950" b="1">
                <a:solidFill>
                  <a:srgbClr val="2563EB"/>
                </a:solidFill>
                <a:latin typeface="Segoe UI"/>
              </a:defRPr>
            </a:pPr>
            <a:r>
              <a:t>DATABASE ARCHITECTURE &amp; FOREIGN KEYS</a:t>
            </a:r>
          </a:p>
        </p:txBody>
      </p:sp>
      <p:sp>
        <p:nvSpPr>
          <p:cNvPr id="6" name="TextBox 5"/>
          <p:cNvSpPr txBox="1"/>
          <p:nvPr/>
        </p:nvSpPr>
        <p:spPr>
          <a:xfrm>
            <a:off x="822960" y="621792"/>
            <a:ext cx="5486400" cy="365760"/>
          </a:xfrm>
          <a:prstGeom prst="rect">
            <a:avLst/>
          </a:prstGeom>
          <a:noFill/>
        </p:spPr>
        <p:txBody>
          <a:bodyPr wrap="square" lIns="0" tIns="0" rIns="0" bIns="0">
            <a:spAutoFit/>
          </a:bodyPr>
          <a:lstStyle/>
          <a:p>
            <a:pPr>
              <a:defRPr sz="1800" b="1">
                <a:solidFill>
                  <a:srgbClr val="0F172A"/>
                </a:solidFill>
                <a:latin typeface="Segoe UI"/>
              </a:defRPr>
            </a:pPr>
            <a:r>
              <a:t>Entity Relationships &amp; Integrity Rules</a:t>
            </a:r>
          </a:p>
        </p:txBody>
      </p:sp>
      <p:sp>
        <p:nvSpPr>
          <p:cNvPr id="7" name="TextBox 6"/>
          <p:cNvSpPr txBox="1"/>
          <p:nvPr/>
        </p:nvSpPr>
        <p:spPr>
          <a:xfrm>
            <a:off x="5120640" y="411480"/>
            <a:ext cx="6400800" cy="1097280"/>
          </a:xfrm>
          <a:prstGeom prst="rect">
            <a:avLst/>
          </a:prstGeom>
          <a:noFill/>
        </p:spPr>
        <p:txBody>
          <a:bodyPr wrap="square" lIns="0" tIns="0" rIns="0" bIns="0">
            <a:spAutoFit/>
          </a:bodyPr>
          <a:lstStyle/>
          <a:p>
            <a:pPr>
              <a:defRPr sz="900" b="1">
                <a:solidFill>
                  <a:srgbClr val="4F46E5"/>
                </a:solidFill>
                <a:latin typeface="Segoe UI"/>
              </a:defRPr>
            </a:pPr>
            <a:r>
              <a:t>PURPOSE (WHY &amp; WHAT THIS DOES):</a:t>
            </a:r>
          </a:p>
          <a:p>
            <a:pPr>
              <a:spcBef>
                <a:spcPts val="200"/>
              </a:spcBef>
              <a:defRPr sz="1000">
                <a:solidFill>
                  <a:srgbClr val="64748B"/>
                </a:solidFill>
                <a:latin typeface="Segoe UI"/>
              </a:defRPr>
            </a:pPr>
            <a:r>
              <a:t>GeoCam implements strict relational foreign key constraints, cascading deletes for dependent telemetry/indexes, and JSON document structures for flexible rule evaluation and analytics matrices.</a:t>
            </a:r>
          </a:p>
        </p:txBody>
      </p:sp>
      <p:sp>
        <p:nvSpPr>
          <p:cNvPr id="8" name="Rounded Rectangle 7"/>
          <p:cNvSpPr/>
          <p:nvPr/>
        </p:nvSpPr>
        <p:spPr>
          <a:xfrm>
            <a:off x="548640" y="1737360"/>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5394960" cy="7315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74520"/>
            <a:ext cx="5029200" cy="1920240"/>
          </a:xfrm>
          <a:prstGeom prst="rect">
            <a:avLst/>
          </a:prstGeom>
          <a:noFill/>
        </p:spPr>
        <p:txBody>
          <a:bodyPr wrap="square" lIns="0" tIns="0" rIns="0" bIns="0">
            <a:spAutoFit/>
          </a:bodyPr>
          <a:lstStyle/>
          <a:p>
            <a:pPr>
              <a:spcAft>
                <a:spcPts val="400"/>
              </a:spcAft>
              <a:defRPr sz="1100" b="1">
                <a:solidFill>
                  <a:srgbClr val="1E3A8A"/>
                </a:solidFill>
                <a:latin typeface="Segoe UI"/>
              </a:defRPr>
            </a:pPr>
            <a:r>
              <a:t>1. Identity &amp; Attribution Flow</a:t>
            </a:r>
          </a:p>
          <a:p>
            <a:pPr>
              <a:spcBef>
                <a:spcPts val="200"/>
              </a:spcBef>
              <a:defRPr sz="900" b="1">
                <a:solidFill>
                  <a:srgbClr val="0F172A"/>
                </a:solidFill>
                <a:latin typeface="Segoe UI"/>
              </a:defRPr>
            </a:pPr>
            <a:r>
              <a:t>• users -&gt; audience_segments: </a:t>
            </a:r>
            <a:r>
              <a:rPr b="0">
                <a:solidFill>
                  <a:srgbClr val="64748B"/>
                </a:solidFill>
              </a:rPr>
              <a:t>Foreign Key: created_by (ON DELETE SET NULL). Preserves segments even if creator is removed.</a:t>
            </a:r>
          </a:p>
          <a:p>
            <a:pPr>
              <a:spcBef>
                <a:spcPts val="200"/>
              </a:spcBef>
              <a:defRPr sz="900" b="1">
                <a:solidFill>
                  <a:srgbClr val="0F172A"/>
                </a:solidFill>
                <a:latin typeface="Segoe UI"/>
              </a:defRPr>
            </a:pPr>
            <a:r>
              <a:t>• users -&gt; notification_campaigns: </a:t>
            </a:r>
            <a:r>
              <a:rPr b="0">
                <a:solidFill>
                  <a:srgbClr val="64748B"/>
                </a:solidFill>
              </a:rPr>
              <a:t>Foreign Key: created_by (ON DELETE SET NULL). Audits author without breaking campaign history.</a:t>
            </a:r>
          </a:p>
          <a:p>
            <a:pPr>
              <a:spcBef>
                <a:spcPts val="200"/>
              </a:spcBef>
              <a:defRPr sz="900" b="1">
                <a:solidFill>
                  <a:srgbClr val="0F172A"/>
                </a:solidFill>
                <a:latin typeface="Segoe UI"/>
              </a:defRPr>
            </a:pPr>
            <a:r>
              <a:t>• Security &amp; RBAC: </a:t>
            </a:r>
            <a:r>
              <a:rPr b="0">
                <a:solidFill>
                  <a:srgbClr val="64748B"/>
                </a:solidFill>
              </a:rPr>
              <a:t>Enforces 2FA, session tracking, and instant isblocked status checks upon authentication.</a:t>
            </a:r>
          </a:p>
        </p:txBody>
      </p:sp>
      <p:sp>
        <p:nvSpPr>
          <p:cNvPr id="11" name="Rounded Rectangle 10"/>
          <p:cNvSpPr/>
          <p:nvPr/>
        </p:nvSpPr>
        <p:spPr>
          <a:xfrm>
            <a:off x="6217920" y="1737360"/>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737360"/>
            <a:ext cx="5394960" cy="7315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20"/>
            <a:ext cx="5029200" cy="1920240"/>
          </a:xfrm>
          <a:prstGeom prst="rect">
            <a:avLst/>
          </a:prstGeom>
          <a:noFill/>
        </p:spPr>
        <p:txBody>
          <a:bodyPr wrap="square" lIns="0" tIns="0" rIns="0" bIns="0">
            <a:spAutoFit/>
          </a:bodyPr>
          <a:lstStyle/>
          <a:p>
            <a:pPr>
              <a:spcAft>
                <a:spcPts val="400"/>
              </a:spcAft>
              <a:defRPr sz="1100" b="1">
                <a:solidFill>
                  <a:srgbClr val="4F46E5"/>
                </a:solidFill>
                <a:latin typeface="Segoe UI"/>
              </a:defRPr>
            </a:pPr>
            <a:r>
              <a:t>2. Segmentation &amp; Junction Index</a:t>
            </a:r>
          </a:p>
          <a:p>
            <a:pPr>
              <a:spcBef>
                <a:spcPts val="200"/>
              </a:spcBef>
              <a:defRPr sz="900" b="1">
                <a:solidFill>
                  <a:srgbClr val="0F172A"/>
                </a:solidFill>
                <a:latin typeface="Segoe UI"/>
              </a:defRPr>
            </a:pPr>
            <a:r>
              <a:t>• audience_segments -&gt; segment_devices: </a:t>
            </a:r>
            <a:r>
              <a:rPr b="0">
                <a:solidFill>
                  <a:srgbClr val="64748B"/>
                </a:solidFill>
              </a:rPr>
              <a:t>Foreign Key: segment_id (ON DELETE CASCADE). Deleting segment cleans junction table.</a:t>
            </a:r>
          </a:p>
          <a:p>
            <a:pPr>
              <a:spcBef>
                <a:spcPts val="200"/>
              </a:spcBef>
              <a:defRPr sz="900" b="1">
                <a:solidFill>
                  <a:srgbClr val="0F172A"/>
                </a:solidFill>
                <a:latin typeface="Segoe UI"/>
              </a:defRPr>
            </a:pPr>
            <a:r>
              <a:t>• devices -&gt; segment_devices: </a:t>
            </a:r>
            <a:r>
              <a:rPr b="0">
                <a:solidFill>
                  <a:srgbClr val="64748B"/>
                </a:solidFill>
              </a:rPr>
              <a:t>Foreign Key: device_id (ON DELETE CASCADE). Deleting device removes segment memberships.</a:t>
            </a:r>
          </a:p>
          <a:p>
            <a:pPr>
              <a:spcBef>
                <a:spcPts val="200"/>
              </a:spcBef>
              <a:defRPr sz="900" b="1">
                <a:solidFill>
                  <a:srgbClr val="0F172A"/>
                </a:solidFill>
                <a:latin typeface="Segoe UI"/>
              </a:defRPr>
            </a:pPr>
            <a:r>
              <a:t>• segment_activity_logs: </a:t>
            </a:r>
            <a:r>
              <a:rPr b="0">
                <a:solidFill>
                  <a:srgbClr val="64748B"/>
                </a:solidFill>
              </a:rPr>
              <a:t>Foreign Key: segment_id (ON DELETE CASCADE). Retains audit trail during segment lifecycle.</a:t>
            </a:r>
          </a:p>
        </p:txBody>
      </p:sp>
      <p:sp>
        <p:nvSpPr>
          <p:cNvPr id="14" name="Rounded Rectangle 13"/>
          <p:cNvSpPr/>
          <p:nvPr/>
        </p:nvSpPr>
        <p:spPr>
          <a:xfrm>
            <a:off x="548640" y="4114800"/>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4114800"/>
            <a:ext cx="539496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51960"/>
            <a:ext cx="5029200" cy="1920240"/>
          </a:xfrm>
          <a:prstGeom prst="rect">
            <a:avLst/>
          </a:prstGeom>
          <a:noFill/>
        </p:spPr>
        <p:txBody>
          <a:bodyPr wrap="square" lIns="0" tIns="0" rIns="0" bIns="0">
            <a:spAutoFit/>
          </a:bodyPr>
          <a:lstStyle/>
          <a:p>
            <a:pPr>
              <a:spcAft>
                <a:spcPts val="400"/>
              </a:spcAft>
              <a:defRPr sz="1100" b="1">
                <a:solidFill>
                  <a:srgbClr val="059669"/>
                </a:solidFill>
                <a:latin typeface="Segoe UI"/>
              </a:defRPr>
            </a:pPr>
            <a:r>
              <a:t>3. Notification &amp; Delivery Pipeline</a:t>
            </a:r>
          </a:p>
          <a:p>
            <a:pPr>
              <a:spcBef>
                <a:spcPts val="200"/>
              </a:spcBef>
              <a:defRPr sz="900" b="1">
                <a:solidFill>
                  <a:srgbClr val="0F172A"/>
                </a:solidFill>
                <a:latin typeface="Segoe UI"/>
              </a:defRPr>
            </a:pPr>
            <a:r>
              <a:t>• audience_segments -&gt; notification_campaigns: </a:t>
            </a:r>
            <a:r>
              <a:rPr b="0">
                <a:solidFill>
                  <a:srgbClr val="64748B"/>
                </a:solidFill>
              </a:rPr>
              <a:t>Foreign Key: segment_id (ON DELETE SET NULL). Retains campaign history if segment deleted.</a:t>
            </a:r>
          </a:p>
          <a:p>
            <a:pPr>
              <a:spcBef>
                <a:spcPts val="200"/>
              </a:spcBef>
              <a:defRPr sz="900" b="1">
                <a:solidFill>
                  <a:srgbClr val="0F172A"/>
                </a:solidFill>
                <a:latin typeface="Segoe UI"/>
              </a:defRPr>
            </a:pPr>
            <a:r>
              <a:t>• firebase_settings (Singleton Active): </a:t>
            </a:r>
            <a:r>
              <a:rPr b="0">
                <a:solidFill>
                  <a:srgbClr val="64748B"/>
                </a:solidFill>
              </a:rPr>
              <a:t>App-level enforcement ensures exactly ONE active Firebase profile handles FCM dispatch.</a:t>
            </a:r>
          </a:p>
          <a:p>
            <a:pPr>
              <a:spcBef>
                <a:spcPts val="200"/>
              </a:spcBef>
              <a:defRPr sz="900" b="1">
                <a:solidFill>
                  <a:srgbClr val="0F172A"/>
                </a:solidFill>
                <a:latin typeface="Segoe UI"/>
              </a:defRPr>
            </a:pPr>
            <a:r>
              <a:t>• Delivery Telemetry: </a:t>
            </a:r>
            <a:r>
              <a:rPr b="0">
                <a:solidFill>
                  <a:srgbClr val="64748B"/>
                </a:solidFill>
              </a:rPr>
              <a:t>Campaign delivery &amp; open counts updated asynchronously via webhook and client events.</a:t>
            </a:r>
          </a:p>
        </p:txBody>
      </p:sp>
      <p:sp>
        <p:nvSpPr>
          <p:cNvPr id="17" name="Rounded Rectangle 16"/>
          <p:cNvSpPr/>
          <p:nvPr/>
        </p:nvSpPr>
        <p:spPr>
          <a:xfrm>
            <a:off x="6217920" y="4114800"/>
            <a:ext cx="539496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0" y="4114800"/>
            <a:ext cx="539496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251960"/>
            <a:ext cx="5029200" cy="1920240"/>
          </a:xfrm>
          <a:prstGeom prst="rect">
            <a:avLst/>
          </a:prstGeom>
          <a:noFill/>
        </p:spPr>
        <p:txBody>
          <a:bodyPr wrap="square" lIns="0" tIns="0" rIns="0" bIns="0">
            <a:spAutoFit/>
          </a:bodyPr>
          <a:lstStyle/>
          <a:p>
            <a:pPr>
              <a:spcAft>
                <a:spcPts val="400"/>
              </a:spcAft>
              <a:defRPr sz="1100" b="1">
                <a:solidFill>
                  <a:srgbClr val="D97706"/>
                </a:solidFill>
                <a:latin typeface="Segoe UI"/>
              </a:defRPr>
            </a:pPr>
            <a:r>
              <a:t>4. Analytics &amp; Geocoding Aggregates</a:t>
            </a:r>
          </a:p>
          <a:p>
            <a:pPr>
              <a:spcBef>
                <a:spcPts val="200"/>
              </a:spcBef>
              <a:defRPr sz="900" b="1">
                <a:solidFill>
                  <a:srgbClr val="0F172A"/>
                </a:solidFill>
                <a:latin typeface="Segoe UI"/>
              </a:defRPr>
            </a:pPr>
            <a:r>
              <a:t>• devices -&gt; locations Aggregation: </a:t>
            </a:r>
            <a:r>
              <a:rPr b="0">
                <a:solidFill>
                  <a:srgbClr val="64748B"/>
                </a:solidFill>
              </a:rPr>
              <a:t>Live device GPS coordinates feed hourly matrices and sub-area density counts.</a:t>
            </a:r>
          </a:p>
          <a:p>
            <a:pPr>
              <a:spcBef>
                <a:spcPts val="200"/>
              </a:spcBef>
              <a:defRPr sz="900" b="1">
                <a:solidFill>
                  <a:srgbClr val="0F172A"/>
                </a:solidFill>
                <a:latin typeface="Segoe UI"/>
              </a:defRPr>
            </a:pPr>
            <a:r>
              <a:t>• JSON Storage Pattern: </a:t>
            </a:r>
            <a:r>
              <a:rPr b="0">
                <a:solidFill>
                  <a:srgbClr val="64748B"/>
                </a:solidFill>
              </a:rPr>
              <a:t>Rule engines, 7x24 heatmaps, and OS permissions stored as structured JSON for rapid querying.</a:t>
            </a:r>
          </a:p>
          <a:p>
            <a:pPr>
              <a:spcBef>
                <a:spcPts val="200"/>
              </a:spcBef>
              <a:defRPr sz="900" b="1">
                <a:solidFill>
                  <a:srgbClr val="0F172A"/>
                </a:solidFill>
                <a:latin typeface="Segoe UI"/>
              </a:defRPr>
            </a:pPr>
            <a:r>
              <a:t>• Composite Indexes: </a:t>
            </a:r>
            <a:r>
              <a:rPr b="0">
                <a:solidFill>
                  <a:srgbClr val="64748B"/>
                </a:solidFill>
              </a:rPr>
              <a:t>Optimized indexes on (city, state, country), (segment_id, device_id), and last_active_at.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