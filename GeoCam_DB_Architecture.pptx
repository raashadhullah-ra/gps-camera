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GEOCAM APPLICATION</a:t>
            </a:r>
          </a:p>
          <a:p>
            <a:pPr>
              <a:spcBef>
                <a:spcPts val="800"/>
              </a:spcBef>
              <a:defRPr sz="3000" b="1">
                <a:solidFill>
                  <a:srgbClr val="F8FAFC"/>
                </a:solidFill>
              </a:defRPr>
            </a:pPr>
            <a:r>
              <a:t>Database Architecture &amp; Schema Specification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Comprehensive Data Dictionary, Entity Relationships &amp; Business Logic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4114800"/>
            <a:ext cx="21488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CORE FOCUS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Geo-Telemetery, Devices &amp; Campaign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4114800"/>
            <a:ext cx="21488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ARCHITECTURE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Modular Relational &amp; JSON Document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114800"/>
            <a:ext cx="21488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ACCESS CONTROL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Granular Spatie-Compatible RBAC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4114800"/>
            <a:ext cx="214884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TARGET PLATFORM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Laravel 11+ / MySQL /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Domain Modules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50" b="1">
                <a:solidFill>
                  <a:srgbClr val="3B82F6"/>
                </a:solidFill>
              </a:defRPr>
            </a:pPr>
            <a:r>
              <a:t>1. Identity &amp; RBAC</a:t>
            </a:r>
          </a:p>
          <a:p>
            <a:pPr>
              <a:spcBef>
                <a:spcPts val="300"/>
              </a:spcBef>
              <a:defRPr sz="900" b="1">
                <a:solidFill>
                  <a:srgbClr val="93C5FD"/>
                </a:solidFill>
              </a:defRPr>
            </a:pPr>
            <a:r>
              <a:t>Tables: users, roles, permissions, role_permissions, user_roles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Enterprise-grade authentication with 2FA, regional scoping, department boundaries, and granular permission nodes (e.g. devices.view, notifications.create).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71600"/>
            <a:ext cx="34747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50" b="1">
                <a:solidFill>
                  <a:srgbClr val="10B981"/>
                </a:solidFill>
              </a:defRPr>
            </a:pPr>
            <a:r>
              <a:t>2. Device Fleet &amp; Telemetry</a:t>
            </a:r>
          </a:p>
          <a:p>
            <a:pPr>
              <a:spcBef>
                <a:spcPts val="300"/>
              </a:spcBef>
              <a:defRPr sz="900" b="1">
                <a:solidFill>
                  <a:srgbClr val="93C5FD"/>
                </a:solidFill>
              </a:defRPr>
            </a:pPr>
            <a:r>
              <a:t>Tables: devices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Hardware specs, CPU arch, OS/SDK versions, GPS coordinates, granular permission states (Camera/Location), FCM tokens, and deactivation lifecycles.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747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50" b="1">
                <a:solidFill>
                  <a:srgbClr val="6366F1"/>
                </a:solidFill>
              </a:defRPr>
            </a:pPr>
            <a:r>
              <a:t>3. Geo Intelligence &amp; Analytics</a:t>
            </a:r>
          </a:p>
          <a:p>
            <a:pPr>
              <a:spcBef>
                <a:spcPts val="300"/>
              </a:spcBef>
              <a:defRPr sz="900" b="1">
                <a:solidFill>
                  <a:srgbClr val="93C5FD"/>
                </a:solidFill>
              </a:defRPr>
            </a:pPr>
            <a:r>
              <a:t>Tables: locations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Aggregated regional metrics, heatmaps, peak activity hours, daily patterns, version distributions, and sub-area telemetry.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50" b="1">
                <a:solidFill>
                  <a:srgbClr val="F59E0B"/>
                </a:solidFill>
              </a:defRPr>
            </a:pPr>
            <a:r>
              <a:t>4. Audience Segmentation</a:t>
            </a:r>
          </a:p>
          <a:p>
            <a:pPr>
              <a:spcBef>
                <a:spcPts val="300"/>
              </a:spcBef>
              <a:defRPr sz="900" b="1">
                <a:solidFill>
                  <a:srgbClr val="93C5FD"/>
                </a:solidFill>
              </a:defRPr>
            </a:pPr>
            <a:r>
              <a:t>Tables: audience_segments, segment_devices, segment_activity_logs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Dynamic &amp; static visual rule engine, multi-condition matching, membership caching, deliverable counts, and audit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840480"/>
            <a:ext cx="3474720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250" b="1">
                <a:solidFill>
                  <a:srgbClr val="EC4899"/>
                </a:solidFill>
              </a:defRPr>
            </a:pPr>
            <a:r>
              <a:t>5. Push &amp; Campaigns</a:t>
            </a:r>
          </a:p>
          <a:p>
            <a:pPr>
              <a:spcBef>
                <a:spcPts val="300"/>
              </a:spcBef>
              <a:defRPr sz="900" b="1">
                <a:solidFill>
                  <a:srgbClr val="93C5FD"/>
                </a:solidFill>
              </a:defRPr>
            </a:pPr>
            <a:r>
              <a:t>Tables: firebase_settings, notification_campaigns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Multi-project dynamic Firebase cloud messaging credentials, targeted push scheduling, quiet hours, and real-time open/delivery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IDENTITY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Table: `users` — Administrator &amp; Staff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Stores staff credentials, geographic deployment regions, 2FA status, organizational codes, and security audit timestamps.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5425135"/>
              </a:tblGrid>
              <a:tr h="3331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id / uuid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UUID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PK / Unique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Unique database identifier and public non-sequential UUID for secure API references.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name / username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Required / Unique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Full personal name and unique login username.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displayname / avatar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Custom profile display name and profile picture URL/path.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email / email_verified_at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 / TIMESTAMP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Unique / 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Primary email for authentication, alerts, and verification timestamp.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Hashed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Securely hashed user password using Bcrypt/Argon2.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dob / doj / dor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Date of Birth, Date of Joining, and Date of Resignation / Contract Renewal.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city / district / state / country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Administrative location hierarchy assigned to staff for regional operations.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address / mobilenumber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TEXT / VARCHAR(255)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Physical street address and direct mobile contact number.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language / timezone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en, UTC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User UI localization preference and time display offset.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admin_id / department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Unique / 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Internal organizational employee code and assigned department.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role / status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 / TINYINT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1 (Active)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Legacy role name and account lifecycle: 0=Pending, 1=Active, 2=Suspended.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two_factor_enabled / isblocked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true / false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Enforces 2FA security enforcement and administrative emergency block switch.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lastloginat / passwordchangedat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Security audit timestamps for activity tracking and password rotation policies.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AUTHORIZATION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Tables: `roles` &amp; `permissions` — Granular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Defines functional roles with regional data scoping and modular permission nodes for enterprise multi-tenancy.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645920"/>
                <a:gridCol w="4876495"/>
              </a:tblGrid>
              <a:tr h="42394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[roles] id / name / code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VARCHAR / VARCHAR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PK / Unique / Unique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Primary identifier, human name (e.g. Regional Manager), and code (REGIONAL_OPS_MGR).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[roles] role_type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ENUM('system','custom')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'custom'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Protects core system roles from accidental deletion while allowing custom business roles.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[roles] scope_type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ENUM('full_org','restricted')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'full_org'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Defines whether the role has global company access or is filtered by assigned region/dept.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[roles] assigned_regions / departments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Array of specific states/cities or departments this role is authorized to view/manage.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[roles] data_visibility / restrict_exports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 / BOOLEAN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'all', false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Enforces data row filtering and prevents sensitive telemetry CSV/PDF exports.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[roles] is_active / created_by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BOOLEAN / FK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true, 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Role enablement toggle and user ID of the admin who created the role.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[permissions] id / name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VARCHAR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PK / Unique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Permission unique slug following Spatie standard (e.g. 'devices.view', 'campaigns.create').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[permissions] module / action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VARCHAR(50) / VARCHAR(50)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Indexed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Categorization breakdown (e.g. module: 'devices', action: 'export') for visual permission matrix.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[permissions] display_name / description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 / VARCHAR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User-friendly permission title and explanation displayed in admin UI.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[permissions] is_locked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false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Prevents critical administrative permissions from being stripped from super administrators.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AUTHORIZATION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Tables: `role_permissions` &amp; `user_roles` — Pivot Associations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Many-to-many junction tables linking users with multiple roles, and roles with granular permission nodes.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2011680"/>
                <a:gridCol w="4510735"/>
              </a:tblGrid>
              <a:tr h="4663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[role_permissions] 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Unique identifier for the role-permission linkage record.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[role_permissions] role_id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Foreign Key -&gt; roles.id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Cascades on role deletion. Connects the target role.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[role_permissions] permission_id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Foreign Key -&gt; permissions.id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Cascades on permission deletion. Grants the specific permission node.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[role_permissions] UNIQUE(role, perm)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COMPOSITE UNIQUE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Unique Index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Prevents duplicate permission assignments to the same role.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[user_roles] 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Unique identifier for the user-role assignment record.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[user_roles] user_id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Foreign Key -&gt; users.id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Cascades on user deletion. Links to the target admin/user.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[user_roles] role_id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Foreign Key -&gt; roles.id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Cascades on role deletion. Links to the assigned role.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[user_roles] UNIQUE(user, role)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COMPOSITE UNIQUE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Unique Index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Ensures a user cannot be assigned the exact same role multiple times.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[user_roles] created_at / updated_at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Audit timestamps tracking when access privileges were granted or modified.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DEVICE FLEET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Table: `devices` (Part 1) — Hardware Specs &amp; Geo-Telemetry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Tracks mobile hardware specifications, operating system versions, GPS coordinates, and network origin.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828800"/>
                <a:gridCol w="4693615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id / installation_id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VARCHAR(64)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PK / Unique, Indexed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Internal ID and unique client installation hash (e.g. INS-8F29A1) generated upon install.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firebase_installation_id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VARCHAR(64)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Firebase FID (Firebase Installation ID) used for low-level SDK tracking &amp; diagnostics.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hardware_id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VARCHAR(128)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Indexed, 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Persistent device identifier (Android ID / iOS IDFV) to detect app reinstalls.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device_manufacturer / brand / model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VARCHAR(50/100)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Hardware OEM details (e.g. Samsung, Apple, Xiaomi) and model (Galaxy S24, iPhone 16).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device_code / cpu_architecture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VARCHAR(50/30)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arm64-v8a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Internal build code (SM-S921B) and CPU instruction set (arm64-v8a, x86_64).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platform / os_version / sdk_version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ENUM / VARCHAR / INT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Android, SDK 35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Mobile operating system (Android/iOS), OS string (Android 15), and integer SDK level.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app_version / app_build_number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VARCHAR(20) / 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1.4.2, 42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Installed GeoCam mobile app semantic version and internal build number.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screen_resolution / ip_address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VARCHAR(30) / VARCHAR(45)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Device display dimensions (e.g. 1080x2340) and client IPv4/IPv6 address.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country / state / city / country_code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VARCHAR(100) / VARCHAR(5)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Reverse-geocoded location metadata representing device physical residence.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latitude / longitude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DECIMAL(10,8) / (11,8)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High-precision GPS coordinates captured during device telemetry sync.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timezone / language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VARCHAR(50/30)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Asia/Kolkata, en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Device local timezone for push scheduling and user interface language.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DEVICE FLEET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Table: `devices` (Part 2) — Permissions, Push Engine &amp;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Manages FCM push tokens, granular device permissions, notification engagement telemetry, and lifecycle state.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737360"/>
                <a:gridCol w="1737360"/>
                <a:gridCol w="4785055"/>
              </a:tblGrid>
              <a:tr h="42394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fcm_token / fcm_token_updated_at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TEXT / TIMESTAMP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Firebase Cloud Messaging token for push notifications and timestamp of last token refresh.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permissions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Granular JSON status of client permissions: {'camera':'granted','location':'precise','notifications':'granted'}.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permissions_status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'Camera + Loc'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Human-readable summary string used for quick list display in admin portal.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notification_status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VARCHAR(30)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'Enabled'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Notification delivery eligibility state ('Enabled', 'Disabled', 'Invalid Token').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last_notification_delivered_at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Timestamp when the last push notification payload was successfully delivered to device.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last_notification_opened_at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Timestamp when the end-user clicked/opened a received push notification.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total_photos_taken / sessions_count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BIGINT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0 / 1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Cumulative count of photos captured via GeoCam app and total application launch sessions.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is_active / inactive_reason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BOOLEAN / VARCHAR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true / 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Active device flag and deactivation reason (e.g. 'User Uninstalled App', 'Inactive').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is_blacklisted / admin_notes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BOOLEAN / TEXT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false / 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Fraud/abuse blacklist toggle to block telemetry and internal admin notes.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first_installed_at / last_active_at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 / TIMESTAMP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useCurrent, Indexed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Initial app installation datetime and latest heartbeat/telemetry ping timestamp.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GEO-ANALYTICS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Table: `locations` — Geographical Analytics &amp; Heatmap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Stores aggregated city/state telemetry, hourly activity matrices, permission breakdowns, and peak usage patterns.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645920"/>
                <a:gridCol w="4876495"/>
              </a:tblGrid>
              <a:tr h="35872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id / city / state / country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VARCHAR(100)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PK / Indexed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Primary key and geographical hierarchy for region-level intelligence and reporting.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country_code / timezone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VARCHAR(5/50)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IN, IST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ISO 3166-1 alpha-2 country code and regional timezone.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latitude / longitude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DECIMAL(10,8) / (11,8)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Geographical center coordinates used to plot city pin on admin heatmaps.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location_level / location_source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City / GPS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Hierarchical classification ('City', 'District') and primary data origin ('GPS + Network').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'Active'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Operational activity index ('High Activity', 'Active', 'Inactive') based on real-time traffic.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anonymous_users_count / devices_count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0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Aggregated total anonymous guest users and registered active hardware devices in this city.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photos_captured_count / new_installs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0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Total watermark photos generated and new app installations registered in this region.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notification_enabled_percentage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DECIMAL(5,2)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75.00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Percentage of devices in this region with push notifications enabled.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location_sources / permission_breakdown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JSON breakdown of positioning mode (% GPS vs Network) and permission grants.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platform_distribution / top_app_versions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OS split (% Android vs % iOS) and installed app version breakdown across the city.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activity_areas / activity_by_hour_matrix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Sub-area hotspots with coordinates and 7x24 hour weekly traffic heat matrix.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587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peak_hour / peak_day / top_area_name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Defaults defined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Highlight statistics for fast dashboard cards (e.g. '7 PM', 'Sunday', 'Palayamkottai').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AUDIENCE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Table: `audience_segments` — Dynamic Targeting &amp; Rule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Powers dynamic and static target audiences with complex JSON condition trees and cached audience metrics.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645920"/>
                <a:gridCol w="4967935"/>
              </a:tblGrid>
              <a:tr h="33310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id / segment_id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VARCHAR(50)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PK / Unique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Internal auto-increment ID and business identifier (e.g. SEG-TN-ACTIVE-01).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name / description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VARCHAR(100/255)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Required / 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Human-readable segment title and description of the targeting intent.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ENUM('dynamic','static')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'dynamic'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'dynamic' re-evaluates rules continuously; 'static' snapshot retains frozen device list.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ENUM('active','draft','paused','archived')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'active'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Segment lifecycle status controlling eligibility for campaign targeting.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rule_groups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JSON AST containing nested conditions (e.g. platform = Android AND photos &gt; 5 AND city = Tirunelveli).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platform_filters / exclusions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Dedicated OS filter rules and exclusion criteria (e.g. blacklisted IDs or quiet-hours devices).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pause_duration_type / paused_until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ENUM / DATE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Pause configuration ('manual' or 'until_date') and expiration date for auto-resume.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pause_reason / archive_reason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VARCHAR(150)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Audit notes explaining why the segment was paused or archived by the administrator.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location_summary / audience_size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 / UINT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All / 0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Summary label of included cities and total matched devices count.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deliverable_count / excluded_count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UINT / UINT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0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Count of reachable devices with valid FCM tokens vs excluded/disabled tokens.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platform_distribution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Pre-computed breakdown of devices by platform (e.g. {'android': 850, 'ios': 150}).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last_synced_at / auto_refresh_enabled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 / BOOL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true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Timestamp of last query execution and background cron auto-recalculation switch.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331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created_by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FK -&gt; users.id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Tracks the administrator who configured the audience segment.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AUDIENCE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Tables: `segment_devices` &amp; `segment_activity_logs`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Maintains compiled audience membership mappings and an immutable audit trail of segment rule modifications.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828800"/>
                <a:gridCol w="4693615"/>
              </a:tblGrid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[segment_devices] 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Unique identifier for the segment-device membership record.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[segment_devices] segment_id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FK -&gt; audience_segments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Cascades on delete. Connects to the audience segment rule definition.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[segment_devices] device_id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FK -&gt; devices.id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Cascades on delete. Connects to the specific mobile device hardware record.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[segment_devices] is_deliverable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true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Flags whether this specific device has an active push token and notification permissions enabled.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[segment_devices] added_at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useCurrent()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Timestamp when the device qualified and entered this audience segment.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[segment_devices] UNIQUE(segment, dev)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COMPOSITE UNIQUE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Unique Index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Guarantees no duplicate memberships for a device inside the same segment.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[segment_activity_logs] 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Unique identifier for the segment audit trail entry.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[segment_activity_logs] segment_id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FK -&gt; audience_segments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Cascades on delete. References the target segment being modified.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[segment_activity_logs] action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Action event code ('created', 'rules_updated', 'audience_refreshed', 'paused', 'archived').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[segment_activity_logs] description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Human-readable audit log message detailing the rule change or recalculated audience count.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[segment_activity_logs] created_at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useCurrent()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Exact timestamp when the configuration action or recalculation was executed.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PUSH ENGINE &amp; CAMPAIGNS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Table: `notification_campaigns` — Push Dispatcher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Manages rich notification authoring, deep linking, audience routing, delivery telemetry, and dispatch scheduling.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645920"/>
                <a:gridCol w="4876495"/>
              </a:tblGrid>
              <a:tr h="3108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id / campaign_id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VARCHAR(50)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PK / Unique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Primary key and formatted business identifier (e.g. CMP-2026-08-001).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name / title / message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 / TEXT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Internal campaign label, notification tray header title, and full push body copy.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action / action_url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VARCHAR(50/255)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'Open App'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Deep-link intent trigger ('Open App', 'Open URL', 'Open Camera') and destination URL.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image_url / custom_payload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VARCHAR(500) / TEXT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Rich notification image banner URL and custom JSON payload for client app handlers.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audience_type / audience_label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ENUM / VARCHAR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'segment'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Targeting mode: 'individual', 'segment', 'location', or 'all' with UI summary label.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segment_id / target_device_ids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 / JSON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Foreign key to audience_segments or explicit array of device IDs for manual blasts.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android_count / ios_count / total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UINT / UINT / UINT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0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Computed platform audience counts and total targeted devices recipient count.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delivered_count / open_count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UINT / UINT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0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Real-time delivery receipts and user interaction (tap/open) conversion counters.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open_rate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DECIMAL(5,2)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Calculated campaign engagement rate percentage: (open_count / delivered_count) * 100.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ENUM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'draft'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Campaign state: 'draft', 'scheduled', 'sent', 'failed', or 'archived'.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scheduled_at / sent_at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Future dispatch datetime for cron dispatcher and actual completion timestamp.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time_zone / quiet_hours_enabled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 / BOOL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Asia/Kolkata, true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Target timezone and quiet hours protection switch (prevents night disturbances).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expiry_hours / timeline_steps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USMALLINT / JSON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24 / 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FCM message time-to-live (TTL) in hours and JSON workflow stepper audit log.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created_by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(FK)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FK -&gt; users.id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Administrator ID who authored and published the notification campaign.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PUSH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Table: `firebase_settings` — Dynamic Cloud Messaging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Stores encrypted Firebase Service Account keys, project IDs, and connection health diagnostics.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828800"/>
                <a:gridCol w="1645920"/>
                <a:gridCol w="4876495"/>
              </a:tblGrid>
              <a:tr h="42394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Description &amp; Purpose</a:t>
                      </a:r>
                    </a:p>
                  </a:txBody>
                  <a:tcPr anchor="ctr" marL="109728" marR="109728" marT="54864" marB="54864">
                    <a:solidFill>
                      <a:srgbClr val="2563E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id / label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BIGINT / VARCHAR(255)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PK / 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Internal ID and human-friendly credential profile name (e.g. 'Production Firebase - India').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project_id / api_key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Google Cloud / Firebase Project ID and Web API Key.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auth_domain / storage_bucket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Firebase Auth domain handler and Cloud Storage bucket URI for asset hosting.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messaging_sender_id / app_id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FCM numeric project sender identifier and mobile App Client ID.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measurement_id / vapid_key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Google Analytics 4 measurement ID and Web Push VAPID public key.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service_account_json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LONGTEXT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Encrypted (Model Cast)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Full Google Service Account private key JSON stored encrypted at rest for OAuth2 FCM HTTP v1.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is_active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false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Active configuration flag (enforced in application layer to ensure only ONE active profile).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connection_status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Default: 'untested'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Diagnostic connection health status: 'connected', 'failed', or 'untested'.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last_error_message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Concise human-readable diagnostic error message when Google API authentication fails.</a:t>
                      </a:r>
                    </a:p>
                  </a:txBody>
                  <a:tcPr anchor="ctr" marL="109728" marR="109728" marT="54864" marB="54864">
                    <a:solidFill>
                      <a:srgbClr val="1E293B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93C5FD"/>
                          </a:solidFill>
                        </a:defRPr>
                      </a:pPr>
                      <a:r>
                        <a:t>last_tested_at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E047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Timestamp of the last successful handshake test performed with Firebase servers.</a:t>
                      </a:r>
                    </a:p>
                  </a:txBody>
                  <a:tcPr anchor="ctr" marL="109728" marR="109728" marT="54864" marB="54864">
                    <a:solidFill>
                      <a:srgbClr val="2733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RELATIONAL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Relational Architecture &amp; Architectural Best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1. Foreign Key Cascades &amp; Null Policies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- user_roles &amp; role_permissions: Cascade on delete to maintain clean junction tables.</a:t>
            </a:r>
            <a:br/>
            <a:r>
              <a:t>- segment_devices: Cascades on segment or device deletion to prevent orphaned target lists.</a:t>
            </a:r>
            <a:br/>
            <a:r>
              <a:t>- audience_segments &amp; notification_campaigns: NullOnDelete on created_by to preserve business records even if an admin user is removed.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2. Hybrid Relational + JSON Document Storage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- Relational Core: High-performance indexed lookups on hardware_id, installation_id, emails, roles, and cities.</a:t>
            </a:r>
            <a:br/>
            <a:r>
              <a:t>- JSON Flexibility: Rich nested schemas for permissions, visual rule trees (rule_groups), 7x24 hourly activity matrices, and multi-region access assignments without schema churn.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200" b="1">
                <a:solidFill>
                  <a:srgbClr val="6366F1"/>
                </a:solidFill>
              </a:defRPr>
            </a:pPr>
            <a:r>
              <a:t>3. High-Performance Indexing &amp; Query Optimization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- B-Tree Indexes on frequently filtered telemetry fields: platform, app_version, is_active, last_active_at, and city/state.</a:t>
            </a:r>
            <a:br/>
            <a:r>
              <a:t>- Composite Unique Indexes: [segment_id, device_id], [user_id, role_id], and [role_id, permission_id] to prevent race-condition duplicates.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4. Security, Privacy &amp; Token Lifecycle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- AES-256 Encrypted Service Account JSON at rest using Laravel Eloquent encrypted casts.</a:t>
            </a:r>
            <a:br/>
            <a:r>
              <a:t>- Hashed passwords and secure session handling.</a:t>
            </a:r>
            <a:br/>
            <a:r>
              <a:t>- Real-time FCM token rotation tracking (fcm_token_updated_at) and quiet-hours delivery throttling.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